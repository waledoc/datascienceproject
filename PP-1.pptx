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842" autoAdjust="0"/>
  </p:normalViewPr>
  <p:slideViewPr>
    <p:cSldViewPr snapToGrid="0">
      <p:cViewPr>
        <p:scale>
          <a:sx n="96" d="100"/>
          <a:sy n="96" d="100"/>
        </p:scale>
        <p:origin x="7440" y="13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715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586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078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056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280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062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298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035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929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476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413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788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g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7" Type="http://schemas.openxmlformats.org/officeDocument/2006/relationships/image" Target="../media/image1.gif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gif"/><Relationship Id="rId5" Type="http://schemas.openxmlformats.org/officeDocument/2006/relationships/image" Target="../media/image5.gif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gif"/><Relationship Id="rId7" Type="http://schemas.openxmlformats.org/officeDocument/2006/relationships/image" Target="../media/image7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gif"/><Relationship Id="rId5" Type="http://schemas.openxmlformats.org/officeDocument/2006/relationships/image" Target="../media/image5.gif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7" Type="http://schemas.openxmlformats.org/officeDocument/2006/relationships/image" Target="../media/image10.png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7" Type="http://schemas.openxmlformats.org/officeDocument/2006/relationships/image" Target="../media/image10.png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gif"/><Relationship Id="rId4" Type="http://schemas.openxmlformats.org/officeDocument/2006/relationships/hyperlink" Target="../dashbard.html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gif"/><Relationship Id="rId4" Type="http://schemas.openxmlformats.org/officeDocument/2006/relationships/hyperlink" Target="../dashbard.html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gif"/><Relationship Id="rId5" Type="http://schemas.openxmlformats.org/officeDocument/2006/relationships/image" Target="../media/image13.png"/><Relationship Id="rId4" Type="http://schemas.openxmlformats.org/officeDocument/2006/relationships/hyperlink" Target="../dashbard.html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gif"/><Relationship Id="rId4" Type="http://schemas.openxmlformats.org/officeDocument/2006/relationships/hyperlink" Target="../dashbard.html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hyperlink" Target="../dashbard.html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gif"/><Relationship Id="rId5" Type="http://schemas.openxmlformats.org/officeDocument/2006/relationships/image" Target="../media/image14.png"/><Relationship Id="rId4" Type="http://schemas.openxmlformats.org/officeDocument/2006/relationships/hyperlink" Target="../dashbard.html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gif"/><Relationship Id="rId5" Type="http://schemas.openxmlformats.org/officeDocument/2006/relationships/image" Target="../media/image14.png"/><Relationship Id="rId4" Type="http://schemas.openxmlformats.org/officeDocument/2006/relationships/hyperlink" Target="../dashbard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87B4472A-332B-71E5-8009-33841E7C3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F079654-35A5-C37E-4C2B-66E40E8E2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0074" y="1635260"/>
            <a:ext cx="3348297" cy="2241755"/>
          </a:xfrm>
        </p:spPr>
        <p:txBody>
          <a:bodyPr>
            <a:normAutofit/>
          </a:bodyPr>
          <a:lstStyle/>
          <a:p>
            <a:pPr algn="l"/>
            <a:r>
              <a:rPr lang="de-DE" dirty="0"/>
              <a:t>Data Science</a:t>
            </a:r>
            <a:br>
              <a:rPr lang="de-DE" dirty="0"/>
            </a:br>
            <a:r>
              <a:rPr lang="de-DE" dirty="0"/>
              <a:t>Project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EBE0324-8451-C64B-8D63-4AB9CC3816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0074" y="4003563"/>
            <a:ext cx="3348297" cy="1184584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</a:pPr>
            <a:r>
              <a:rPr lang="de-DE" dirty="0"/>
              <a:t>Marcel Kawski</a:t>
            </a:r>
          </a:p>
          <a:p>
            <a:pPr algn="l">
              <a:spcBef>
                <a:spcPts val="0"/>
              </a:spcBef>
            </a:pPr>
            <a:r>
              <a:rPr lang="de-DE" dirty="0"/>
              <a:t>Waleed Mahmood</a:t>
            </a:r>
          </a:p>
          <a:p>
            <a:pPr algn="l">
              <a:spcBef>
                <a:spcPts val="0"/>
              </a:spcBef>
            </a:pPr>
            <a:r>
              <a:rPr lang="de-DE" dirty="0"/>
              <a:t>Leon </a:t>
            </a:r>
            <a:r>
              <a:rPr lang="de-DE" dirty="0" err="1"/>
              <a:t>Krückmeyer</a:t>
            </a:r>
            <a:endParaRPr lang="de-DE" dirty="0"/>
          </a:p>
        </p:txBody>
      </p:sp>
      <p:pic>
        <p:nvPicPr>
          <p:cNvPr id="1026" name="Picture 2" descr="Big Data is Beautiful by Scott Jones for Underbelly on Dribbble">
            <a:extLst>
              <a:ext uri="{FF2B5EF4-FFF2-40B4-BE49-F238E27FC236}">
                <a16:creationId xmlns:a16="http://schemas.microsoft.com/office/drawing/2014/main" id="{D1A6891F-6E8C-43E6-984F-570D944D20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44099" y="653918"/>
            <a:ext cx="7390808" cy="5543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el 1">
            <a:extLst>
              <a:ext uri="{FF2B5EF4-FFF2-40B4-BE49-F238E27FC236}">
                <a16:creationId xmlns:a16="http://schemas.microsoft.com/office/drawing/2014/main" id="{D28A9A1B-5F5C-BBCC-A6A9-8BE04712910F}"/>
              </a:ext>
            </a:extLst>
          </p:cNvPr>
          <p:cNvSpPr txBox="1">
            <a:spLocks/>
          </p:cNvSpPr>
          <p:nvPr/>
        </p:nvSpPr>
        <p:spPr>
          <a:xfrm>
            <a:off x="2839274" y="-2737245"/>
            <a:ext cx="6513452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0" dirty="0"/>
              <a:t>Main Research-Question: </a:t>
            </a:r>
          </a:p>
          <a:p>
            <a:pPr algn="l"/>
            <a:endParaRPr lang="en-US" b="0" dirty="0"/>
          </a:p>
          <a:p>
            <a:pPr algn="l"/>
            <a:r>
              <a:rPr lang="en-US" b="0" dirty="0"/>
              <a:t>To what extent do weather conditions and public holidays influence electricity consumption and generation in Germany?</a:t>
            </a:r>
            <a:endParaRPr lang="de-DE" dirty="0"/>
          </a:p>
        </p:txBody>
      </p:sp>
      <p:pic>
        <p:nvPicPr>
          <p:cNvPr id="1028" name="Picture 4" descr="Passive Voice | Baamboozle - Baamboozle | The Most Fun Classroom Games!">
            <a:extLst>
              <a:ext uri="{FF2B5EF4-FFF2-40B4-BE49-F238E27FC236}">
                <a16:creationId xmlns:a16="http://schemas.microsoft.com/office/drawing/2014/main" id="{82A181F8-356F-2061-57AA-1C4ADD7275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94792" y="330088"/>
            <a:ext cx="2332373" cy="2332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nitial L words | Baamboozle - Baamboozle | The Most Fun Classroom Games!">
            <a:extLst>
              <a:ext uri="{FF2B5EF4-FFF2-40B4-BE49-F238E27FC236}">
                <a16:creationId xmlns:a16="http://schemas.microsoft.com/office/drawing/2014/main" id="{2992EA03-CB0C-12F0-2861-A9065B6069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20635" y="3304902"/>
            <a:ext cx="3376749" cy="3376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Koffer - Kostenlose reise-Icons">
            <a:extLst>
              <a:ext uri="{FF2B5EF4-FFF2-40B4-BE49-F238E27FC236}">
                <a16:creationId xmlns:a16="http://schemas.microsoft.com/office/drawing/2014/main" id="{314028FE-019F-1A7A-270F-3BF7C27A48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1252" y="5846901"/>
            <a:ext cx="3307080" cy="3307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7784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68BC77-407C-AD8A-D389-0F692C858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5C923AAC-EBCD-4280-A48C-419C69D8DE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219FDB1-ADFA-C4B9-10C0-1B3FD9B5C5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495490"/>
            <a:ext cx="5361786" cy="1795940"/>
          </a:xfrm>
        </p:spPr>
        <p:txBody>
          <a:bodyPr>
            <a:normAutofit/>
          </a:bodyPr>
          <a:lstStyle/>
          <a:p>
            <a:pPr algn="l"/>
            <a:r>
              <a:rPr lang="de-DE" dirty="0"/>
              <a:t>Data Science</a:t>
            </a:r>
            <a:br>
              <a:rPr lang="de-DE" dirty="0"/>
            </a:br>
            <a:r>
              <a:rPr lang="de-DE" dirty="0"/>
              <a:t>Project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ED9D8E6-E6B3-D515-B114-C269127129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576941" y="4655583"/>
            <a:ext cx="3348297" cy="1184584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</a:pPr>
            <a:r>
              <a:rPr lang="de-DE" dirty="0"/>
              <a:t>Marcel Kawski</a:t>
            </a:r>
          </a:p>
          <a:p>
            <a:pPr algn="l">
              <a:spcBef>
                <a:spcPts val="0"/>
              </a:spcBef>
            </a:pPr>
            <a:r>
              <a:rPr lang="de-DE" dirty="0"/>
              <a:t>Waleed Mahmood</a:t>
            </a:r>
          </a:p>
          <a:p>
            <a:pPr algn="l">
              <a:spcBef>
                <a:spcPts val="0"/>
              </a:spcBef>
            </a:pPr>
            <a:r>
              <a:rPr lang="de-DE" dirty="0"/>
              <a:t>Leon </a:t>
            </a:r>
            <a:r>
              <a:rPr lang="de-DE" dirty="0" err="1"/>
              <a:t>Krückmeyer</a:t>
            </a:r>
            <a:endParaRPr lang="de-DE" dirty="0"/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BF785AF3-7D9E-8B4F-2A10-D776096EC6F8}"/>
              </a:ext>
            </a:extLst>
          </p:cNvPr>
          <p:cNvSpPr txBox="1">
            <a:spLocks/>
          </p:cNvSpPr>
          <p:nvPr/>
        </p:nvSpPr>
        <p:spPr>
          <a:xfrm>
            <a:off x="3070944" y="2283873"/>
            <a:ext cx="6513452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0" dirty="0"/>
              <a:t>Main Research-Question: </a:t>
            </a:r>
          </a:p>
          <a:p>
            <a:pPr algn="l"/>
            <a:endParaRPr lang="en-US" b="0" dirty="0"/>
          </a:p>
          <a:p>
            <a:pPr algn="l">
              <a:spcBef>
                <a:spcPts val="200"/>
              </a:spcBef>
            </a:pPr>
            <a:r>
              <a:rPr lang="en-US" b="0" dirty="0"/>
              <a:t>To what extent do weather conditions and public holidays influence electricity consumption and generation in Germany?</a:t>
            </a:r>
            <a:endParaRPr lang="de-DE" dirty="0"/>
          </a:p>
        </p:txBody>
      </p:sp>
      <p:pic>
        <p:nvPicPr>
          <p:cNvPr id="1028" name="Picture 4" descr="Passive Voice | Baamboozle - Baamboozle | The Most Fun Classroom Games!">
            <a:extLst>
              <a:ext uri="{FF2B5EF4-FFF2-40B4-BE49-F238E27FC236}">
                <a16:creationId xmlns:a16="http://schemas.microsoft.com/office/drawing/2014/main" id="{71EC05EF-A874-F0C6-9A2D-059535C1F6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7843" y="278939"/>
            <a:ext cx="2332373" cy="2332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nitial L words | Baamboozle - Baamboozle | The Most Fun Classroom Games!">
            <a:extLst>
              <a:ext uri="{FF2B5EF4-FFF2-40B4-BE49-F238E27FC236}">
                <a16:creationId xmlns:a16="http://schemas.microsoft.com/office/drawing/2014/main" id="{29EC982A-C46F-8748-5EFF-B46C2F37A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0562" y="4452526"/>
            <a:ext cx="2241755" cy="2241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Koffer - Kostenlose reise-Icons">
            <a:extLst>
              <a:ext uri="{FF2B5EF4-FFF2-40B4-BE49-F238E27FC236}">
                <a16:creationId xmlns:a16="http://schemas.microsoft.com/office/drawing/2014/main" id="{851E7B16-9C03-F261-B027-EC0F958E58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844017">
            <a:off x="8650131" y="4543824"/>
            <a:ext cx="2295981" cy="2295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el 1">
            <a:extLst>
              <a:ext uri="{FF2B5EF4-FFF2-40B4-BE49-F238E27FC236}">
                <a16:creationId xmlns:a16="http://schemas.microsoft.com/office/drawing/2014/main" id="{AE6D0819-3E0F-836C-5822-77878C3DDB16}"/>
              </a:ext>
            </a:extLst>
          </p:cNvPr>
          <p:cNvSpPr txBox="1">
            <a:spLocks/>
          </p:cNvSpPr>
          <p:nvPr/>
        </p:nvSpPr>
        <p:spPr>
          <a:xfrm>
            <a:off x="117566" y="-2126535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/>
              <a:t>Research Goal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96C1B066-DC8E-DABD-FE1A-332FD12D8F84}"/>
              </a:ext>
            </a:extLst>
          </p:cNvPr>
          <p:cNvSpPr txBox="1"/>
          <p:nvPr/>
        </p:nvSpPr>
        <p:spPr>
          <a:xfrm>
            <a:off x="14472" y="6868599"/>
            <a:ext cx="11277446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Electricity</a:t>
            </a:r>
            <a:r>
              <a:rPr lang="de-DE" sz="2000" dirty="0"/>
              <a:t> </a:t>
            </a:r>
            <a:r>
              <a:rPr lang="de-DE" sz="2000" dirty="0" err="1"/>
              <a:t>is</a:t>
            </a:r>
            <a:r>
              <a:rPr lang="de-DE" sz="2000" dirty="0"/>
              <a:t> essential </a:t>
            </a:r>
            <a:r>
              <a:rPr lang="de-DE" sz="2000" dirty="0" err="1"/>
              <a:t>for</a:t>
            </a:r>
            <a:r>
              <a:rPr lang="de-DE" sz="2000" dirty="0"/>
              <a:t> </a:t>
            </a:r>
            <a:r>
              <a:rPr lang="de-DE" sz="2000" dirty="0" err="1"/>
              <a:t>households</a:t>
            </a:r>
            <a:r>
              <a:rPr lang="de-DE" sz="2000" dirty="0"/>
              <a:t>, </a:t>
            </a:r>
            <a:r>
              <a:rPr lang="de-DE" sz="2000" dirty="0" err="1"/>
              <a:t>business</a:t>
            </a:r>
            <a:r>
              <a:rPr lang="de-DE" sz="2000" dirty="0"/>
              <a:t>, and </a:t>
            </a:r>
            <a:r>
              <a:rPr lang="de-DE" sz="2000" dirty="0" err="1"/>
              <a:t>the</a:t>
            </a:r>
            <a:r>
              <a:rPr lang="de-DE" sz="2000" dirty="0"/>
              <a:t> </a:t>
            </a:r>
            <a:r>
              <a:rPr lang="de-DE" sz="2000" dirty="0" err="1"/>
              <a:t>economy</a:t>
            </a: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Demand and </a:t>
            </a:r>
            <a:r>
              <a:rPr lang="de-DE" sz="2000" dirty="0" err="1"/>
              <a:t>generation</a:t>
            </a:r>
            <a:r>
              <a:rPr lang="de-DE" sz="2000" dirty="0"/>
              <a:t> do not </a:t>
            </a:r>
            <a:r>
              <a:rPr lang="de-DE" sz="2000" dirty="0" err="1"/>
              <a:t>stay</a:t>
            </a:r>
            <a:r>
              <a:rPr lang="de-DE" sz="2000" dirty="0"/>
              <a:t> </a:t>
            </a:r>
            <a:r>
              <a:rPr lang="de-DE" sz="2000" dirty="0" err="1"/>
              <a:t>constant</a:t>
            </a:r>
            <a:r>
              <a:rPr lang="de-DE" sz="2000" dirty="0"/>
              <a:t>. </a:t>
            </a:r>
            <a:r>
              <a:rPr lang="de-DE" sz="2000" dirty="0" err="1"/>
              <a:t>They</a:t>
            </a:r>
            <a:r>
              <a:rPr lang="de-DE" sz="2000" dirty="0"/>
              <a:t> </a:t>
            </a:r>
            <a:r>
              <a:rPr lang="de-DE" sz="2000" dirty="0" err="1"/>
              <a:t>change</a:t>
            </a:r>
            <a:r>
              <a:rPr lang="de-DE" sz="2000" dirty="0"/>
              <a:t> </a:t>
            </a:r>
            <a:r>
              <a:rPr lang="de-DE" sz="2000" dirty="0" err="1"/>
              <a:t>over</a:t>
            </a:r>
            <a:r>
              <a:rPr lang="de-DE" sz="2000" dirty="0"/>
              <a:t>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Weather</a:t>
            </a:r>
            <a:r>
              <a:rPr lang="de-DE" sz="2000" dirty="0"/>
              <a:t> </a:t>
            </a:r>
            <a:r>
              <a:rPr lang="de-DE" sz="2000" dirty="0" err="1"/>
              <a:t>strongly</a:t>
            </a:r>
            <a:r>
              <a:rPr lang="de-DE" sz="2000" dirty="0"/>
              <a:t> </a:t>
            </a:r>
            <a:r>
              <a:rPr lang="de-DE" sz="2000" dirty="0" err="1"/>
              <a:t>affects</a:t>
            </a:r>
            <a:r>
              <a:rPr lang="de-DE" sz="2000" dirty="0"/>
              <a:t> </a:t>
            </a:r>
            <a:r>
              <a:rPr lang="de-DE" sz="2000" dirty="0" err="1"/>
              <a:t>renewable</a:t>
            </a:r>
            <a:r>
              <a:rPr lang="de-DE" sz="2000" dirty="0"/>
              <a:t> </a:t>
            </a:r>
            <a:r>
              <a:rPr lang="de-DE" sz="2000" dirty="0" err="1"/>
              <a:t>generation</a:t>
            </a:r>
            <a:r>
              <a:rPr lang="de-DE" sz="2000" dirty="0"/>
              <a:t>, </a:t>
            </a:r>
            <a:r>
              <a:rPr lang="de-DE" sz="2000" dirty="0" err="1"/>
              <a:t>espacially</a:t>
            </a:r>
            <a:r>
              <a:rPr lang="de-DE" sz="2000" dirty="0"/>
              <a:t> wind and solar power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Holidays </a:t>
            </a:r>
            <a:r>
              <a:rPr lang="de-DE" sz="2000" dirty="0" err="1"/>
              <a:t>may</a:t>
            </a:r>
            <a:r>
              <a:rPr lang="de-DE" sz="2000" dirty="0"/>
              <a:t> </a:t>
            </a:r>
            <a:r>
              <a:rPr lang="de-DE" sz="2000" dirty="0" err="1"/>
              <a:t>influence</a:t>
            </a:r>
            <a:r>
              <a:rPr lang="de-DE" sz="2000" dirty="0"/>
              <a:t> </a:t>
            </a:r>
            <a:r>
              <a:rPr lang="de-DE" sz="2000" dirty="0" err="1"/>
              <a:t>electricity</a:t>
            </a:r>
            <a:r>
              <a:rPr lang="de-DE" sz="2000" dirty="0"/>
              <a:t> </a:t>
            </a:r>
            <a:r>
              <a:rPr lang="de-DE" sz="2000" dirty="0" err="1"/>
              <a:t>demand</a:t>
            </a:r>
            <a:r>
              <a:rPr lang="de-DE" sz="2000" dirty="0"/>
              <a:t> </a:t>
            </a:r>
            <a:r>
              <a:rPr lang="de-DE" sz="2000" dirty="0" err="1"/>
              <a:t>by</a:t>
            </a:r>
            <a:r>
              <a:rPr lang="de-DE" sz="2000" dirty="0"/>
              <a:t> </a:t>
            </a:r>
            <a:r>
              <a:rPr lang="de-DE" sz="2000" dirty="0" err="1"/>
              <a:t>changing</a:t>
            </a:r>
            <a:r>
              <a:rPr lang="de-DE" sz="2000" dirty="0"/>
              <a:t> </a:t>
            </a:r>
            <a:r>
              <a:rPr lang="de-DE" sz="2000" dirty="0" err="1"/>
              <a:t>daily</a:t>
            </a:r>
            <a:r>
              <a:rPr lang="de-DE" sz="2000" dirty="0"/>
              <a:t> </a:t>
            </a:r>
            <a:r>
              <a:rPr lang="de-DE" sz="2000" dirty="0" err="1"/>
              <a:t>routines</a:t>
            </a:r>
            <a:r>
              <a:rPr lang="de-DE" sz="2000" dirty="0"/>
              <a:t> and </a:t>
            </a:r>
            <a:r>
              <a:rPr lang="de-DE" sz="2000" dirty="0" err="1"/>
              <a:t>economic</a:t>
            </a:r>
            <a:r>
              <a:rPr lang="de-DE" sz="2000" dirty="0"/>
              <a:t> </a:t>
            </a:r>
            <a:r>
              <a:rPr lang="de-DE" sz="2000" dirty="0" err="1"/>
              <a:t>activity</a:t>
            </a: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r>
              <a:rPr lang="de-DE" sz="2000" dirty="0" err="1"/>
              <a:t>We</a:t>
            </a:r>
            <a:r>
              <a:rPr lang="de-DE" sz="2000" dirty="0"/>
              <a:t> </a:t>
            </a:r>
            <a:r>
              <a:rPr lang="de-DE" sz="2000" dirty="0" err="1"/>
              <a:t>analyze</a:t>
            </a:r>
            <a:r>
              <a:rPr lang="de-DE" sz="2000" dirty="0"/>
              <a:t> </a:t>
            </a:r>
            <a:r>
              <a:rPr lang="de-DE" sz="2000" dirty="0" err="1"/>
              <a:t>Germay</a:t>
            </a:r>
            <a:r>
              <a:rPr lang="de-DE" sz="2000" dirty="0"/>
              <a:t> (2022 – 2025), </a:t>
            </a:r>
            <a:r>
              <a:rPr lang="de-DE" sz="2000" dirty="0" err="1"/>
              <a:t>looking</a:t>
            </a:r>
            <a:r>
              <a:rPr lang="de-DE" sz="2000" dirty="0"/>
              <a:t> at </a:t>
            </a:r>
            <a:r>
              <a:rPr lang="de-DE" sz="2000" dirty="0" err="1"/>
              <a:t>consumption</a:t>
            </a:r>
            <a:r>
              <a:rPr lang="de-DE" sz="2000" dirty="0"/>
              <a:t> and </a:t>
            </a:r>
            <a:r>
              <a:rPr lang="de-DE" sz="2000" dirty="0" err="1"/>
              <a:t>generation</a:t>
            </a:r>
            <a:endParaRPr lang="de-DE" sz="2000" dirty="0"/>
          </a:p>
        </p:txBody>
      </p:sp>
      <p:pic>
        <p:nvPicPr>
          <p:cNvPr id="7" name="Picture 2" descr="Fachkräfte gesucht – Die Volkswirtschaft">
            <a:extLst>
              <a:ext uri="{FF2B5EF4-FFF2-40B4-BE49-F238E27FC236}">
                <a16:creationId xmlns:a16="http://schemas.microsoft.com/office/drawing/2014/main" id="{BE41E0BD-B590-C538-FEFB-2B667CBDB6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82388" y="7285823"/>
            <a:ext cx="4449161" cy="2464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 descr="Full Battery Sticker - Full battery - Discover &amp; Share GIFs">
            <a:extLst>
              <a:ext uri="{FF2B5EF4-FFF2-40B4-BE49-F238E27FC236}">
                <a16:creationId xmlns:a16="http://schemas.microsoft.com/office/drawing/2014/main" id="{08B71F61-6DAC-B94B-81E0-E41EB7AB79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9851" y="7254491"/>
            <a:ext cx="2875638" cy="2875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Big Data is Beautiful by Scott Jones for Underbelly on Dribbble">
            <a:extLst>
              <a:ext uri="{FF2B5EF4-FFF2-40B4-BE49-F238E27FC236}">
                <a16:creationId xmlns:a16="http://schemas.microsoft.com/office/drawing/2014/main" id="{552B8F0B-A469-AED4-8D05-90F8BA96BC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235445" y="7005084"/>
            <a:ext cx="7390808" cy="5543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F8A3827B-5812-6839-74B6-F94AF3AC15D9}"/>
              </a:ext>
            </a:extLst>
          </p:cNvPr>
          <p:cNvSpPr txBox="1"/>
          <p:nvPr/>
        </p:nvSpPr>
        <p:spPr>
          <a:xfrm>
            <a:off x="14472" y="7114164"/>
            <a:ext cx="11277446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Electricity</a:t>
            </a:r>
            <a:r>
              <a:rPr lang="de-DE" sz="2000" dirty="0"/>
              <a:t> </a:t>
            </a:r>
            <a:r>
              <a:rPr lang="de-DE" sz="2000" dirty="0" err="1"/>
              <a:t>is</a:t>
            </a:r>
            <a:r>
              <a:rPr lang="de-DE" sz="2000" dirty="0"/>
              <a:t> essential </a:t>
            </a:r>
            <a:r>
              <a:rPr lang="de-DE" sz="2000" dirty="0" err="1"/>
              <a:t>for</a:t>
            </a:r>
            <a:r>
              <a:rPr lang="de-DE" sz="2000" dirty="0"/>
              <a:t> </a:t>
            </a:r>
            <a:r>
              <a:rPr lang="de-DE" sz="2000" dirty="0" err="1"/>
              <a:t>households</a:t>
            </a:r>
            <a:r>
              <a:rPr lang="de-DE" sz="2000" dirty="0"/>
              <a:t>, </a:t>
            </a:r>
            <a:r>
              <a:rPr lang="de-DE" sz="2000" dirty="0" err="1"/>
              <a:t>business</a:t>
            </a:r>
            <a:r>
              <a:rPr lang="de-DE" sz="2000" dirty="0"/>
              <a:t>, and </a:t>
            </a:r>
            <a:r>
              <a:rPr lang="de-DE" sz="2000" dirty="0" err="1"/>
              <a:t>the</a:t>
            </a:r>
            <a:r>
              <a:rPr lang="de-DE" sz="2000" dirty="0"/>
              <a:t> </a:t>
            </a:r>
            <a:r>
              <a:rPr lang="de-DE" sz="2000" dirty="0" err="1"/>
              <a:t>economy</a:t>
            </a:r>
            <a:endParaRPr lang="de-DE" sz="2000" dirty="0"/>
          </a:p>
          <a:p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Demand and </a:t>
            </a:r>
            <a:r>
              <a:rPr lang="de-DE" sz="2000" dirty="0" err="1"/>
              <a:t>generation</a:t>
            </a:r>
            <a:r>
              <a:rPr lang="de-DE" sz="2000" dirty="0"/>
              <a:t> do not </a:t>
            </a:r>
            <a:r>
              <a:rPr lang="de-DE" sz="2000" dirty="0" err="1"/>
              <a:t>stay</a:t>
            </a:r>
            <a:r>
              <a:rPr lang="de-DE" sz="2000" dirty="0"/>
              <a:t> </a:t>
            </a:r>
            <a:r>
              <a:rPr lang="de-DE" sz="2000" dirty="0" err="1"/>
              <a:t>constant</a:t>
            </a:r>
            <a:r>
              <a:rPr lang="de-DE" sz="2000" dirty="0"/>
              <a:t>. </a:t>
            </a:r>
            <a:r>
              <a:rPr lang="de-DE" sz="2000" dirty="0" err="1"/>
              <a:t>They</a:t>
            </a:r>
            <a:r>
              <a:rPr lang="de-DE" sz="2000" dirty="0"/>
              <a:t> </a:t>
            </a:r>
            <a:r>
              <a:rPr lang="de-DE" sz="2000" dirty="0" err="1"/>
              <a:t>change</a:t>
            </a:r>
            <a:r>
              <a:rPr lang="de-DE" sz="2000" dirty="0"/>
              <a:t> </a:t>
            </a:r>
            <a:r>
              <a:rPr lang="de-DE" sz="2000" dirty="0" err="1"/>
              <a:t>over</a:t>
            </a:r>
            <a:r>
              <a:rPr lang="de-DE" sz="2000" dirty="0"/>
              <a:t> time</a:t>
            </a:r>
          </a:p>
          <a:p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Weather</a:t>
            </a:r>
            <a:r>
              <a:rPr lang="de-DE" sz="2000" dirty="0"/>
              <a:t> </a:t>
            </a:r>
            <a:r>
              <a:rPr lang="de-DE" sz="2000" dirty="0" err="1"/>
              <a:t>strongly</a:t>
            </a:r>
            <a:r>
              <a:rPr lang="de-DE" sz="2000" dirty="0"/>
              <a:t> </a:t>
            </a:r>
            <a:r>
              <a:rPr lang="de-DE" sz="2000" dirty="0" err="1"/>
              <a:t>affects</a:t>
            </a:r>
            <a:r>
              <a:rPr lang="de-DE" sz="2000" dirty="0"/>
              <a:t> </a:t>
            </a:r>
            <a:r>
              <a:rPr lang="de-DE" sz="2000" dirty="0" err="1"/>
              <a:t>renewable</a:t>
            </a:r>
            <a:r>
              <a:rPr lang="de-DE" sz="2000" dirty="0"/>
              <a:t> </a:t>
            </a:r>
            <a:r>
              <a:rPr lang="de-DE" sz="2000" dirty="0" err="1"/>
              <a:t>generation</a:t>
            </a:r>
            <a:r>
              <a:rPr lang="de-DE" sz="2000" dirty="0"/>
              <a:t>, </a:t>
            </a:r>
            <a:r>
              <a:rPr lang="de-DE" sz="2000" dirty="0" err="1"/>
              <a:t>espacially</a:t>
            </a:r>
            <a:r>
              <a:rPr lang="de-DE" sz="2000" dirty="0"/>
              <a:t> wind and solar power</a:t>
            </a:r>
          </a:p>
          <a:p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Holidays </a:t>
            </a:r>
            <a:r>
              <a:rPr lang="de-DE" sz="2000" dirty="0" err="1"/>
              <a:t>may</a:t>
            </a:r>
            <a:r>
              <a:rPr lang="de-DE" sz="2000" dirty="0"/>
              <a:t> </a:t>
            </a:r>
            <a:r>
              <a:rPr lang="de-DE" sz="2000" dirty="0" err="1"/>
              <a:t>influence</a:t>
            </a:r>
            <a:r>
              <a:rPr lang="de-DE" sz="2000" dirty="0"/>
              <a:t> </a:t>
            </a:r>
            <a:r>
              <a:rPr lang="de-DE" sz="2000" dirty="0" err="1"/>
              <a:t>electricity</a:t>
            </a:r>
            <a:r>
              <a:rPr lang="de-DE" sz="2000" dirty="0"/>
              <a:t> </a:t>
            </a:r>
            <a:r>
              <a:rPr lang="de-DE" sz="2000" dirty="0" err="1"/>
              <a:t>demand</a:t>
            </a:r>
            <a:r>
              <a:rPr lang="de-DE" sz="2000" dirty="0"/>
              <a:t> </a:t>
            </a:r>
            <a:r>
              <a:rPr lang="de-DE" sz="2000" dirty="0" err="1"/>
              <a:t>by</a:t>
            </a:r>
            <a:r>
              <a:rPr lang="de-DE" sz="2000" dirty="0"/>
              <a:t> </a:t>
            </a:r>
            <a:r>
              <a:rPr lang="de-DE" sz="2000" dirty="0" err="1"/>
              <a:t>changing</a:t>
            </a:r>
            <a:r>
              <a:rPr lang="de-DE" sz="2000" dirty="0"/>
              <a:t> </a:t>
            </a:r>
            <a:r>
              <a:rPr lang="de-DE" sz="2000" dirty="0" err="1"/>
              <a:t>daily</a:t>
            </a:r>
            <a:r>
              <a:rPr lang="de-DE" sz="2000" dirty="0"/>
              <a:t> </a:t>
            </a:r>
            <a:r>
              <a:rPr lang="de-DE" sz="2000" dirty="0" err="1"/>
              <a:t>routines</a:t>
            </a:r>
            <a:r>
              <a:rPr lang="de-DE" sz="2000" dirty="0"/>
              <a:t> and </a:t>
            </a:r>
            <a:r>
              <a:rPr lang="de-DE" sz="2000" dirty="0" err="1"/>
              <a:t>economic</a:t>
            </a:r>
            <a:r>
              <a:rPr lang="de-DE" sz="2000" dirty="0"/>
              <a:t> </a:t>
            </a:r>
            <a:r>
              <a:rPr lang="de-DE" sz="2000" dirty="0" err="1"/>
              <a:t>activity</a:t>
            </a: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r>
              <a:rPr lang="de-DE" sz="2000" dirty="0" err="1"/>
              <a:t>We</a:t>
            </a:r>
            <a:r>
              <a:rPr lang="de-DE" sz="2000" dirty="0"/>
              <a:t> </a:t>
            </a:r>
            <a:r>
              <a:rPr lang="de-DE" sz="2000" dirty="0" err="1"/>
              <a:t>analyze</a:t>
            </a:r>
            <a:r>
              <a:rPr lang="de-DE" sz="2000" dirty="0"/>
              <a:t> </a:t>
            </a:r>
            <a:r>
              <a:rPr lang="de-DE" sz="2000" dirty="0" err="1"/>
              <a:t>Germay</a:t>
            </a:r>
            <a:r>
              <a:rPr lang="de-DE" sz="2000" dirty="0"/>
              <a:t> (2022 – 2025), </a:t>
            </a:r>
            <a:r>
              <a:rPr lang="de-DE" sz="2000" dirty="0" err="1"/>
              <a:t>looking</a:t>
            </a:r>
            <a:r>
              <a:rPr lang="de-DE" sz="2000" dirty="0"/>
              <a:t> at </a:t>
            </a:r>
            <a:r>
              <a:rPr lang="de-DE" sz="2000" dirty="0" err="1"/>
              <a:t>consumption</a:t>
            </a:r>
            <a:r>
              <a:rPr lang="de-DE" sz="2000" dirty="0"/>
              <a:t> and </a:t>
            </a:r>
            <a:r>
              <a:rPr lang="de-DE" sz="2000" dirty="0" err="1"/>
              <a:t>generation</a:t>
            </a:r>
            <a:endParaRPr lang="de-DE" sz="2000" dirty="0"/>
          </a:p>
        </p:txBody>
      </p:sp>
    </p:spTree>
    <p:extLst>
      <p:ext uri="{BB962C8B-B14F-4D97-AF65-F5344CB8AC3E}">
        <p14:creationId xmlns:p14="http://schemas.microsoft.com/office/powerpoint/2010/main" val="35770239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7B7E7B-4456-E096-AFCD-3F54CA322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AA3892BB-A46D-6749-5FEA-BACE1BA66F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C33E34B-2AF3-047A-A859-9247504DC8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424824" y="-2137644"/>
            <a:ext cx="5361786" cy="1795940"/>
          </a:xfrm>
        </p:spPr>
        <p:txBody>
          <a:bodyPr>
            <a:normAutofit/>
          </a:bodyPr>
          <a:lstStyle/>
          <a:p>
            <a:pPr algn="l"/>
            <a:r>
              <a:rPr lang="de-DE" dirty="0"/>
              <a:t>Data Science</a:t>
            </a:r>
            <a:br>
              <a:rPr lang="de-DE" dirty="0"/>
            </a:br>
            <a:r>
              <a:rPr lang="de-DE" dirty="0"/>
              <a:t>Project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66F9A17C-B3ED-B133-0359-457472AAEC44}"/>
              </a:ext>
            </a:extLst>
          </p:cNvPr>
          <p:cNvSpPr txBox="1">
            <a:spLocks/>
          </p:cNvSpPr>
          <p:nvPr/>
        </p:nvSpPr>
        <p:spPr>
          <a:xfrm>
            <a:off x="-6513452" y="2308122"/>
            <a:ext cx="6513452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0" dirty="0"/>
              <a:t>Main Research-Question: </a:t>
            </a:r>
          </a:p>
          <a:p>
            <a:pPr algn="l"/>
            <a:endParaRPr lang="en-US" b="0" dirty="0"/>
          </a:p>
          <a:p>
            <a:pPr algn="l">
              <a:spcBef>
                <a:spcPts val="200"/>
              </a:spcBef>
            </a:pPr>
            <a:r>
              <a:rPr lang="en-US" b="0" dirty="0"/>
              <a:t>To what extent do weather conditions and public holidays influence electricity consumption and generation in Germany?</a:t>
            </a:r>
            <a:endParaRPr lang="de-DE" dirty="0"/>
          </a:p>
        </p:txBody>
      </p:sp>
      <p:pic>
        <p:nvPicPr>
          <p:cNvPr id="1028" name="Picture 4" descr="Passive Voice | Baamboozle - Baamboozle | The Most Fun Classroom Games!">
            <a:extLst>
              <a:ext uri="{FF2B5EF4-FFF2-40B4-BE49-F238E27FC236}">
                <a16:creationId xmlns:a16="http://schemas.microsoft.com/office/drawing/2014/main" id="{4FE75E46-5E12-2FDA-7167-7727C94C95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7350" y="-2332373"/>
            <a:ext cx="2332373" cy="2332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nitial L words | Baamboozle - Baamboozle | The Most Fun Classroom Games!">
            <a:extLst>
              <a:ext uri="{FF2B5EF4-FFF2-40B4-BE49-F238E27FC236}">
                <a16:creationId xmlns:a16="http://schemas.microsoft.com/office/drawing/2014/main" id="{EBD867D8-437C-BE71-6497-91272D15A6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03506" y="6858000"/>
            <a:ext cx="2241755" cy="2241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Koffer - Kostenlose reise-Icons">
            <a:extLst>
              <a:ext uri="{FF2B5EF4-FFF2-40B4-BE49-F238E27FC236}">
                <a16:creationId xmlns:a16="http://schemas.microsoft.com/office/drawing/2014/main" id="{62013373-A625-AF7C-BC05-C5F3AC5844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844017">
            <a:off x="11145137" y="7272686"/>
            <a:ext cx="2295981" cy="2295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el 1">
            <a:extLst>
              <a:ext uri="{FF2B5EF4-FFF2-40B4-BE49-F238E27FC236}">
                <a16:creationId xmlns:a16="http://schemas.microsoft.com/office/drawing/2014/main" id="{6EAC9EB9-92B7-8962-6292-866385AE5E8D}"/>
              </a:ext>
            </a:extLst>
          </p:cNvPr>
          <p:cNvSpPr txBox="1">
            <a:spLocks/>
          </p:cNvSpPr>
          <p:nvPr/>
        </p:nvSpPr>
        <p:spPr>
          <a:xfrm>
            <a:off x="0" y="-1291729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/>
              <a:t>Research Goal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3E004059-A446-158B-8475-28E1F3004A66}"/>
              </a:ext>
            </a:extLst>
          </p:cNvPr>
          <p:cNvSpPr txBox="1"/>
          <p:nvPr/>
        </p:nvSpPr>
        <p:spPr>
          <a:xfrm>
            <a:off x="256069" y="1349467"/>
            <a:ext cx="11277446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Electricity</a:t>
            </a:r>
            <a:r>
              <a:rPr lang="de-DE" sz="2000" dirty="0"/>
              <a:t> </a:t>
            </a:r>
            <a:r>
              <a:rPr lang="de-DE" sz="2000" dirty="0" err="1"/>
              <a:t>is</a:t>
            </a:r>
            <a:r>
              <a:rPr lang="de-DE" sz="2000" dirty="0"/>
              <a:t> essential </a:t>
            </a:r>
            <a:r>
              <a:rPr lang="de-DE" sz="2000" dirty="0" err="1"/>
              <a:t>for</a:t>
            </a:r>
            <a:r>
              <a:rPr lang="de-DE" sz="2000" dirty="0"/>
              <a:t> </a:t>
            </a:r>
            <a:r>
              <a:rPr lang="de-DE" sz="2000" dirty="0" err="1"/>
              <a:t>households</a:t>
            </a:r>
            <a:r>
              <a:rPr lang="de-DE" sz="2000" dirty="0"/>
              <a:t>, </a:t>
            </a:r>
            <a:r>
              <a:rPr lang="de-DE" sz="2000" dirty="0" err="1"/>
              <a:t>business</a:t>
            </a:r>
            <a:r>
              <a:rPr lang="de-DE" sz="2000" dirty="0"/>
              <a:t>, and </a:t>
            </a:r>
            <a:r>
              <a:rPr lang="de-DE" sz="2000" dirty="0" err="1"/>
              <a:t>the</a:t>
            </a:r>
            <a:r>
              <a:rPr lang="de-DE" sz="2000" dirty="0"/>
              <a:t> </a:t>
            </a:r>
            <a:r>
              <a:rPr lang="de-DE" sz="2000" dirty="0" err="1"/>
              <a:t>economy</a:t>
            </a:r>
            <a:endParaRPr lang="de-DE" sz="2000" dirty="0"/>
          </a:p>
          <a:p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Demand and </a:t>
            </a:r>
            <a:r>
              <a:rPr lang="de-DE" sz="2000" dirty="0" err="1"/>
              <a:t>generation</a:t>
            </a:r>
            <a:r>
              <a:rPr lang="de-DE" sz="2000" dirty="0"/>
              <a:t> do not </a:t>
            </a:r>
            <a:r>
              <a:rPr lang="de-DE" sz="2000" dirty="0" err="1"/>
              <a:t>stay</a:t>
            </a:r>
            <a:r>
              <a:rPr lang="de-DE" sz="2000" dirty="0"/>
              <a:t> </a:t>
            </a:r>
            <a:r>
              <a:rPr lang="de-DE" sz="2000" dirty="0" err="1"/>
              <a:t>constant</a:t>
            </a:r>
            <a:r>
              <a:rPr lang="de-DE" sz="2000" dirty="0"/>
              <a:t>. </a:t>
            </a:r>
            <a:r>
              <a:rPr lang="de-DE" sz="2000" dirty="0" err="1"/>
              <a:t>They</a:t>
            </a:r>
            <a:r>
              <a:rPr lang="de-DE" sz="2000" dirty="0"/>
              <a:t> </a:t>
            </a:r>
            <a:r>
              <a:rPr lang="de-DE" sz="2000" dirty="0" err="1"/>
              <a:t>change</a:t>
            </a:r>
            <a:r>
              <a:rPr lang="de-DE" sz="2000" dirty="0"/>
              <a:t> </a:t>
            </a:r>
            <a:r>
              <a:rPr lang="de-DE" sz="2000" dirty="0" err="1"/>
              <a:t>over</a:t>
            </a:r>
            <a:r>
              <a:rPr lang="de-DE" sz="2000" dirty="0"/>
              <a:t> time</a:t>
            </a:r>
          </a:p>
          <a:p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Weather</a:t>
            </a:r>
            <a:r>
              <a:rPr lang="de-DE" sz="2000" dirty="0"/>
              <a:t> </a:t>
            </a:r>
            <a:r>
              <a:rPr lang="de-DE" sz="2000" dirty="0" err="1"/>
              <a:t>strongly</a:t>
            </a:r>
            <a:r>
              <a:rPr lang="de-DE" sz="2000" dirty="0"/>
              <a:t> </a:t>
            </a:r>
            <a:r>
              <a:rPr lang="de-DE" sz="2000" dirty="0" err="1"/>
              <a:t>affects</a:t>
            </a:r>
            <a:r>
              <a:rPr lang="de-DE" sz="2000" dirty="0"/>
              <a:t> </a:t>
            </a:r>
            <a:r>
              <a:rPr lang="de-DE" sz="2000" dirty="0" err="1"/>
              <a:t>renewable</a:t>
            </a:r>
            <a:r>
              <a:rPr lang="de-DE" sz="2000" dirty="0"/>
              <a:t> </a:t>
            </a:r>
            <a:r>
              <a:rPr lang="de-DE" sz="2000" dirty="0" err="1"/>
              <a:t>generation</a:t>
            </a:r>
            <a:r>
              <a:rPr lang="de-DE" sz="2000" dirty="0"/>
              <a:t>, </a:t>
            </a:r>
            <a:r>
              <a:rPr lang="de-DE" sz="2000" dirty="0" err="1"/>
              <a:t>espacially</a:t>
            </a:r>
            <a:r>
              <a:rPr lang="de-DE" sz="2000" dirty="0"/>
              <a:t> wind and solar power</a:t>
            </a:r>
          </a:p>
          <a:p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Holidays </a:t>
            </a:r>
            <a:r>
              <a:rPr lang="de-DE" sz="2000" dirty="0" err="1"/>
              <a:t>may</a:t>
            </a:r>
            <a:r>
              <a:rPr lang="de-DE" sz="2000" dirty="0"/>
              <a:t> </a:t>
            </a:r>
            <a:r>
              <a:rPr lang="de-DE" sz="2000" dirty="0" err="1"/>
              <a:t>influence</a:t>
            </a:r>
            <a:r>
              <a:rPr lang="de-DE" sz="2000" dirty="0"/>
              <a:t> </a:t>
            </a:r>
            <a:r>
              <a:rPr lang="de-DE" sz="2000" dirty="0" err="1"/>
              <a:t>electricity</a:t>
            </a:r>
            <a:r>
              <a:rPr lang="de-DE" sz="2000" dirty="0"/>
              <a:t> </a:t>
            </a:r>
            <a:r>
              <a:rPr lang="de-DE" sz="2000" dirty="0" err="1"/>
              <a:t>demand</a:t>
            </a:r>
            <a:r>
              <a:rPr lang="de-DE" sz="2000" dirty="0"/>
              <a:t> </a:t>
            </a:r>
            <a:r>
              <a:rPr lang="de-DE" sz="2000" dirty="0" err="1"/>
              <a:t>by</a:t>
            </a:r>
            <a:r>
              <a:rPr lang="de-DE" sz="2000" dirty="0"/>
              <a:t> </a:t>
            </a:r>
            <a:r>
              <a:rPr lang="de-DE" sz="2000" dirty="0" err="1"/>
              <a:t>changing</a:t>
            </a:r>
            <a:r>
              <a:rPr lang="de-DE" sz="2000" dirty="0"/>
              <a:t> </a:t>
            </a:r>
            <a:r>
              <a:rPr lang="de-DE" sz="2000" dirty="0" err="1"/>
              <a:t>daily</a:t>
            </a:r>
            <a:r>
              <a:rPr lang="de-DE" sz="2000" dirty="0"/>
              <a:t> </a:t>
            </a:r>
            <a:r>
              <a:rPr lang="de-DE" sz="2000" dirty="0" err="1"/>
              <a:t>routines</a:t>
            </a:r>
            <a:r>
              <a:rPr lang="de-DE" sz="2000" dirty="0"/>
              <a:t> and </a:t>
            </a:r>
            <a:r>
              <a:rPr lang="de-DE" sz="2000" dirty="0" err="1"/>
              <a:t>economic</a:t>
            </a:r>
            <a:r>
              <a:rPr lang="de-DE" sz="2000" dirty="0"/>
              <a:t> </a:t>
            </a:r>
            <a:r>
              <a:rPr lang="de-DE" sz="2000" dirty="0" err="1"/>
              <a:t>activity</a:t>
            </a: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r>
              <a:rPr lang="de-DE" sz="2000" dirty="0" err="1"/>
              <a:t>We</a:t>
            </a:r>
            <a:r>
              <a:rPr lang="de-DE" sz="2000" dirty="0"/>
              <a:t> </a:t>
            </a:r>
            <a:r>
              <a:rPr lang="de-DE" sz="2000" dirty="0" err="1"/>
              <a:t>analyze</a:t>
            </a:r>
            <a:r>
              <a:rPr lang="de-DE" sz="2000" dirty="0"/>
              <a:t> </a:t>
            </a:r>
            <a:r>
              <a:rPr lang="de-DE" sz="2000" dirty="0" err="1"/>
              <a:t>Germay</a:t>
            </a:r>
            <a:r>
              <a:rPr lang="de-DE" sz="2000" dirty="0"/>
              <a:t> (2022 – 2025), </a:t>
            </a:r>
            <a:r>
              <a:rPr lang="de-DE" sz="2000" dirty="0" err="1"/>
              <a:t>looking</a:t>
            </a:r>
            <a:r>
              <a:rPr lang="de-DE" sz="2000" dirty="0"/>
              <a:t> at </a:t>
            </a:r>
            <a:r>
              <a:rPr lang="de-DE" sz="2000" dirty="0" err="1"/>
              <a:t>consumption</a:t>
            </a:r>
            <a:r>
              <a:rPr lang="de-DE" sz="2000" dirty="0"/>
              <a:t> and </a:t>
            </a:r>
            <a:r>
              <a:rPr lang="de-DE" sz="2000" dirty="0" err="1"/>
              <a:t>generation</a:t>
            </a:r>
            <a:endParaRPr lang="de-DE" sz="2000" dirty="0"/>
          </a:p>
        </p:txBody>
      </p:sp>
      <p:pic>
        <p:nvPicPr>
          <p:cNvPr id="2050" name="Picture 2" descr="Fachkräfte gesucht – Die Volkswirtschaft">
            <a:extLst>
              <a:ext uri="{FF2B5EF4-FFF2-40B4-BE49-F238E27FC236}">
                <a16:creationId xmlns:a16="http://schemas.microsoft.com/office/drawing/2014/main" id="{5F91523F-E223-45D2-7241-51B5151955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21761"/>
            <a:ext cx="3762103" cy="2083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Full Battery Sticker - Full battery - Discover &amp; Share GIFs">
            <a:extLst>
              <a:ext uri="{FF2B5EF4-FFF2-40B4-BE49-F238E27FC236}">
                <a16:creationId xmlns:a16="http://schemas.microsoft.com/office/drawing/2014/main" id="{78F30377-D4DE-0BA9-2493-F0BA53945A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7814" y="4200954"/>
            <a:ext cx="2875638" cy="2875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D5D7834B-5630-4BC6-DDF7-804866580255}"/>
              </a:ext>
            </a:extLst>
          </p:cNvPr>
          <p:cNvSpPr txBox="1">
            <a:spLocks/>
          </p:cNvSpPr>
          <p:nvPr/>
        </p:nvSpPr>
        <p:spPr>
          <a:xfrm>
            <a:off x="113212" y="-2184017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/>
              <a:t>Data Sources</a:t>
            </a:r>
          </a:p>
        </p:txBody>
      </p:sp>
      <p:pic>
        <p:nvPicPr>
          <p:cNvPr id="11" name="Picture 2" descr="SMARD | SMARD - Market data">
            <a:extLst>
              <a:ext uri="{FF2B5EF4-FFF2-40B4-BE49-F238E27FC236}">
                <a16:creationId xmlns:a16="http://schemas.microsoft.com/office/drawing/2014/main" id="{F4B67033-BE46-C0DB-37E6-DB35CEE505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546" y="7076592"/>
            <a:ext cx="3819525" cy="1200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 descr="Open Meteo - Horizon OpenAgri">
            <a:extLst>
              <a:ext uri="{FF2B5EF4-FFF2-40B4-BE49-F238E27FC236}">
                <a16:creationId xmlns:a16="http://schemas.microsoft.com/office/drawing/2014/main" id="{2D8F3B76-A098-8C97-75F8-EA10BF8B94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52" t="30148" r="18546" b="30330"/>
          <a:stretch>
            <a:fillRect/>
          </a:stretch>
        </p:blipFill>
        <p:spPr bwMode="auto">
          <a:xfrm>
            <a:off x="5118368" y="6925553"/>
            <a:ext cx="2364377" cy="1502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62756190-86E6-9177-7AAE-375701B4F10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53894" y="7349939"/>
            <a:ext cx="2528592" cy="653456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59725432-848B-94CE-B229-BA5282825A78}"/>
              </a:ext>
            </a:extLst>
          </p:cNvPr>
          <p:cNvSpPr txBox="1"/>
          <p:nvPr/>
        </p:nvSpPr>
        <p:spPr>
          <a:xfrm>
            <a:off x="-11691021" y="1349466"/>
            <a:ext cx="11691021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SMARD</a:t>
            </a:r>
          </a:p>
          <a:p>
            <a:pPr lvl="1"/>
            <a:r>
              <a:rPr lang="de-DE" sz="2000" dirty="0" err="1"/>
              <a:t>Electricity</a:t>
            </a:r>
            <a:r>
              <a:rPr lang="de-DE" sz="2000" dirty="0"/>
              <a:t> </a:t>
            </a:r>
            <a:r>
              <a:rPr lang="de-DE" sz="2000" dirty="0" err="1"/>
              <a:t>consumption</a:t>
            </a:r>
            <a:r>
              <a:rPr lang="de-DE" sz="2000" dirty="0"/>
              <a:t> and </a:t>
            </a:r>
            <a:r>
              <a:rPr lang="de-DE" sz="2000" dirty="0" err="1"/>
              <a:t>electricity</a:t>
            </a:r>
            <a:r>
              <a:rPr lang="de-DE" sz="2000" dirty="0"/>
              <a:t> </a:t>
            </a:r>
            <a:r>
              <a:rPr lang="de-DE" sz="2000" dirty="0" err="1"/>
              <a:t>generation</a:t>
            </a:r>
            <a:r>
              <a:rPr lang="de-DE" sz="2000" dirty="0"/>
              <a:t> </a:t>
            </a:r>
            <a:r>
              <a:rPr lang="de-DE" sz="2000" dirty="0" err="1"/>
              <a:t>data</a:t>
            </a:r>
            <a:r>
              <a:rPr lang="de-DE" sz="2000" dirty="0"/>
              <a:t> </a:t>
            </a:r>
            <a:r>
              <a:rPr lang="de-DE" sz="2000" dirty="0" err="1"/>
              <a:t>for</a:t>
            </a:r>
            <a:r>
              <a:rPr lang="de-DE" sz="2000" dirty="0"/>
              <a:t> Germany and TSO </a:t>
            </a:r>
            <a:r>
              <a:rPr lang="de-DE" sz="2000" dirty="0" err="1"/>
              <a:t>regions</a:t>
            </a:r>
            <a:endParaRPr lang="de-DE" sz="2000" dirty="0"/>
          </a:p>
          <a:p>
            <a:pPr lvl="1"/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Open-Meteo</a:t>
            </a:r>
          </a:p>
          <a:p>
            <a:pPr lvl="1"/>
            <a:r>
              <a:rPr lang="de-DE" sz="2000" dirty="0"/>
              <a:t>Daily </a:t>
            </a:r>
            <a:r>
              <a:rPr lang="de-DE" sz="2000" dirty="0" err="1"/>
              <a:t>weather</a:t>
            </a:r>
            <a:r>
              <a:rPr lang="de-DE" sz="2000" dirty="0"/>
              <a:t> </a:t>
            </a:r>
            <a:r>
              <a:rPr lang="de-DE" sz="2000" dirty="0" err="1"/>
              <a:t>data</a:t>
            </a:r>
            <a:r>
              <a:rPr lang="de-DE" sz="2000" dirty="0"/>
              <a:t> such </a:t>
            </a:r>
            <a:r>
              <a:rPr lang="de-DE" sz="2000" dirty="0" err="1"/>
              <a:t>as</a:t>
            </a:r>
            <a:r>
              <a:rPr lang="de-DE" sz="2000" dirty="0"/>
              <a:t> wind </a:t>
            </a:r>
            <a:r>
              <a:rPr lang="de-DE" sz="2000" dirty="0" err="1"/>
              <a:t>speed</a:t>
            </a:r>
            <a:r>
              <a:rPr lang="de-DE" sz="2000" dirty="0"/>
              <a:t>, maximum </a:t>
            </a:r>
            <a:r>
              <a:rPr lang="de-DE" sz="2000" dirty="0" err="1"/>
              <a:t>temperature</a:t>
            </a:r>
            <a:r>
              <a:rPr lang="de-DE" sz="2000" dirty="0"/>
              <a:t> and </a:t>
            </a:r>
            <a:r>
              <a:rPr lang="de-DE" sz="2000" dirty="0" err="1"/>
              <a:t>precipitation</a:t>
            </a:r>
            <a:endParaRPr lang="de-DE" sz="2000" dirty="0"/>
          </a:p>
          <a:p>
            <a:pPr lvl="1"/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OpenHolidays</a:t>
            </a:r>
            <a:endParaRPr lang="de-DE" sz="2000" dirty="0"/>
          </a:p>
          <a:p>
            <a:pPr lvl="1"/>
            <a:r>
              <a:rPr lang="de-DE" sz="2000" dirty="0"/>
              <a:t>School </a:t>
            </a:r>
            <a:r>
              <a:rPr lang="de-DE" sz="2000" dirty="0" err="1"/>
              <a:t>holiday</a:t>
            </a:r>
            <a:r>
              <a:rPr lang="de-DE" sz="2000" dirty="0"/>
              <a:t> </a:t>
            </a:r>
            <a:r>
              <a:rPr lang="de-DE" sz="2000" dirty="0" err="1"/>
              <a:t>data</a:t>
            </a:r>
            <a:r>
              <a:rPr lang="de-DE" sz="2000" dirty="0"/>
              <a:t> </a:t>
            </a:r>
            <a:r>
              <a:rPr lang="de-DE" sz="2000" dirty="0" err="1"/>
              <a:t>for</a:t>
            </a:r>
            <a:r>
              <a:rPr lang="de-DE" sz="2000" dirty="0"/>
              <a:t> all German </a:t>
            </a:r>
            <a:r>
              <a:rPr lang="de-DE" sz="2000" dirty="0" err="1"/>
              <a:t>federal</a:t>
            </a:r>
            <a:r>
              <a:rPr lang="de-DE" sz="2000" dirty="0"/>
              <a:t> </a:t>
            </a:r>
            <a:r>
              <a:rPr lang="de-DE" sz="2000" dirty="0" err="1"/>
              <a:t>states</a:t>
            </a:r>
            <a:r>
              <a:rPr lang="de-DE" sz="2000" dirty="0"/>
              <a:t>, </a:t>
            </a:r>
            <a:r>
              <a:rPr lang="de-DE" sz="2000" dirty="0" err="1"/>
              <a:t>transformed</a:t>
            </a:r>
            <a:r>
              <a:rPr lang="de-DE" sz="2000" dirty="0"/>
              <a:t> </a:t>
            </a:r>
            <a:r>
              <a:rPr lang="de-DE" sz="2000" dirty="0" err="1"/>
              <a:t>into</a:t>
            </a:r>
            <a:r>
              <a:rPr lang="de-DE" sz="2000" dirty="0"/>
              <a:t> </a:t>
            </a:r>
            <a:r>
              <a:rPr lang="de-DE" sz="2000" dirty="0" err="1"/>
              <a:t>daily</a:t>
            </a:r>
            <a:r>
              <a:rPr lang="de-DE" sz="2000" dirty="0"/>
              <a:t> </a:t>
            </a:r>
            <a:r>
              <a:rPr lang="de-DE" sz="2000" dirty="0" err="1"/>
              <a:t>holiday</a:t>
            </a:r>
            <a:r>
              <a:rPr lang="de-DE" sz="2000" dirty="0"/>
              <a:t> </a:t>
            </a:r>
            <a:r>
              <a:rPr lang="de-DE" sz="2000" dirty="0" err="1"/>
              <a:t>observations</a:t>
            </a:r>
            <a:endParaRPr lang="de-DE" sz="2000" dirty="0"/>
          </a:p>
        </p:txBody>
      </p:sp>
    </p:spTree>
    <p:extLst>
      <p:ext uri="{BB962C8B-B14F-4D97-AF65-F5344CB8AC3E}">
        <p14:creationId xmlns:p14="http://schemas.microsoft.com/office/powerpoint/2010/main" val="7354053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1B7D61-D562-C801-D5BC-C54707BC5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5DA12978-C501-57E2-2C86-1E7958A1A9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E36DDA2-FA02-9505-FB99-86486B3BA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424824" y="-2137644"/>
            <a:ext cx="5361786" cy="1795940"/>
          </a:xfrm>
        </p:spPr>
        <p:txBody>
          <a:bodyPr>
            <a:normAutofit/>
          </a:bodyPr>
          <a:lstStyle/>
          <a:p>
            <a:pPr algn="l"/>
            <a:r>
              <a:rPr lang="de-DE" dirty="0"/>
              <a:t>Data Science</a:t>
            </a:r>
            <a:br>
              <a:rPr lang="de-DE" dirty="0"/>
            </a:br>
            <a:r>
              <a:rPr lang="de-DE" dirty="0"/>
              <a:t>Project</a:t>
            </a: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6696A16F-973D-311B-8BD2-98315BE26AB7}"/>
              </a:ext>
            </a:extLst>
          </p:cNvPr>
          <p:cNvSpPr txBox="1">
            <a:spLocks/>
          </p:cNvSpPr>
          <p:nvPr/>
        </p:nvSpPr>
        <p:spPr>
          <a:xfrm>
            <a:off x="-104503" y="-2360552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/>
              <a:t>Research Goal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34F812C5-EB4A-A999-7DAB-A50422AE4B88}"/>
              </a:ext>
            </a:extLst>
          </p:cNvPr>
          <p:cNvSpPr txBox="1"/>
          <p:nvPr/>
        </p:nvSpPr>
        <p:spPr>
          <a:xfrm>
            <a:off x="89489" y="-2502158"/>
            <a:ext cx="11277446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Electricity</a:t>
            </a:r>
            <a:r>
              <a:rPr lang="de-DE" sz="2000" dirty="0"/>
              <a:t> </a:t>
            </a:r>
            <a:r>
              <a:rPr lang="de-DE" sz="2000" dirty="0" err="1"/>
              <a:t>is</a:t>
            </a:r>
            <a:r>
              <a:rPr lang="de-DE" sz="2000" dirty="0"/>
              <a:t> essential </a:t>
            </a:r>
            <a:r>
              <a:rPr lang="de-DE" sz="2000" dirty="0" err="1"/>
              <a:t>for</a:t>
            </a:r>
            <a:r>
              <a:rPr lang="de-DE" sz="2000" dirty="0"/>
              <a:t> </a:t>
            </a:r>
            <a:r>
              <a:rPr lang="de-DE" sz="2000" dirty="0" err="1"/>
              <a:t>households</a:t>
            </a:r>
            <a:r>
              <a:rPr lang="de-DE" sz="2000" dirty="0"/>
              <a:t>, </a:t>
            </a:r>
            <a:r>
              <a:rPr lang="de-DE" sz="2000" dirty="0" err="1"/>
              <a:t>business</a:t>
            </a:r>
            <a:r>
              <a:rPr lang="de-DE" sz="2000" dirty="0"/>
              <a:t>, and </a:t>
            </a:r>
            <a:r>
              <a:rPr lang="de-DE" sz="2000" dirty="0" err="1"/>
              <a:t>the</a:t>
            </a:r>
            <a:r>
              <a:rPr lang="de-DE" sz="2000" dirty="0"/>
              <a:t> </a:t>
            </a:r>
            <a:r>
              <a:rPr lang="de-DE" sz="2000" dirty="0" err="1"/>
              <a:t>economy</a:t>
            </a: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Demand and </a:t>
            </a:r>
            <a:r>
              <a:rPr lang="de-DE" sz="2000" dirty="0" err="1"/>
              <a:t>generation</a:t>
            </a:r>
            <a:r>
              <a:rPr lang="de-DE" sz="2000" dirty="0"/>
              <a:t> do not </a:t>
            </a:r>
            <a:r>
              <a:rPr lang="de-DE" sz="2000" dirty="0" err="1"/>
              <a:t>stay</a:t>
            </a:r>
            <a:r>
              <a:rPr lang="de-DE" sz="2000" dirty="0"/>
              <a:t> </a:t>
            </a:r>
            <a:r>
              <a:rPr lang="de-DE" sz="2000" dirty="0" err="1"/>
              <a:t>constant</a:t>
            </a:r>
            <a:r>
              <a:rPr lang="de-DE" sz="2000" dirty="0"/>
              <a:t>. </a:t>
            </a:r>
            <a:r>
              <a:rPr lang="de-DE" sz="2000" dirty="0" err="1"/>
              <a:t>They</a:t>
            </a:r>
            <a:r>
              <a:rPr lang="de-DE" sz="2000" dirty="0"/>
              <a:t> </a:t>
            </a:r>
            <a:r>
              <a:rPr lang="de-DE" sz="2000" dirty="0" err="1"/>
              <a:t>change</a:t>
            </a:r>
            <a:r>
              <a:rPr lang="de-DE" sz="2000" dirty="0"/>
              <a:t> </a:t>
            </a:r>
            <a:r>
              <a:rPr lang="de-DE" sz="2000" dirty="0" err="1"/>
              <a:t>over</a:t>
            </a:r>
            <a:r>
              <a:rPr lang="de-DE" sz="2000" dirty="0"/>
              <a:t>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Weather</a:t>
            </a:r>
            <a:r>
              <a:rPr lang="de-DE" sz="2000" dirty="0"/>
              <a:t> </a:t>
            </a:r>
            <a:r>
              <a:rPr lang="de-DE" sz="2000" dirty="0" err="1"/>
              <a:t>strongly</a:t>
            </a:r>
            <a:r>
              <a:rPr lang="de-DE" sz="2000" dirty="0"/>
              <a:t> </a:t>
            </a:r>
            <a:r>
              <a:rPr lang="de-DE" sz="2000" dirty="0" err="1"/>
              <a:t>affects</a:t>
            </a:r>
            <a:r>
              <a:rPr lang="de-DE" sz="2000" dirty="0"/>
              <a:t> </a:t>
            </a:r>
            <a:r>
              <a:rPr lang="de-DE" sz="2000" dirty="0" err="1"/>
              <a:t>renewable</a:t>
            </a:r>
            <a:r>
              <a:rPr lang="de-DE" sz="2000" dirty="0"/>
              <a:t> </a:t>
            </a:r>
            <a:r>
              <a:rPr lang="de-DE" sz="2000" dirty="0" err="1"/>
              <a:t>generation</a:t>
            </a:r>
            <a:r>
              <a:rPr lang="de-DE" sz="2000" dirty="0"/>
              <a:t>, </a:t>
            </a:r>
            <a:r>
              <a:rPr lang="de-DE" sz="2000" dirty="0" err="1"/>
              <a:t>espacially</a:t>
            </a:r>
            <a:r>
              <a:rPr lang="de-DE" sz="2000" dirty="0"/>
              <a:t> wind and solar power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Holidays </a:t>
            </a:r>
            <a:r>
              <a:rPr lang="de-DE" sz="2000" dirty="0" err="1"/>
              <a:t>may</a:t>
            </a:r>
            <a:r>
              <a:rPr lang="de-DE" sz="2000" dirty="0"/>
              <a:t> </a:t>
            </a:r>
            <a:r>
              <a:rPr lang="de-DE" sz="2000" dirty="0" err="1"/>
              <a:t>influence</a:t>
            </a:r>
            <a:r>
              <a:rPr lang="de-DE" sz="2000" dirty="0"/>
              <a:t> </a:t>
            </a:r>
            <a:r>
              <a:rPr lang="de-DE" sz="2000" dirty="0" err="1"/>
              <a:t>electricity</a:t>
            </a:r>
            <a:r>
              <a:rPr lang="de-DE" sz="2000" dirty="0"/>
              <a:t> </a:t>
            </a:r>
            <a:r>
              <a:rPr lang="de-DE" sz="2000" dirty="0" err="1"/>
              <a:t>demand</a:t>
            </a:r>
            <a:r>
              <a:rPr lang="de-DE" sz="2000" dirty="0"/>
              <a:t> </a:t>
            </a:r>
            <a:r>
              <a:rPr lang="de-DE" sz="2000" dirty="0" err="1"/>
              <a:t>by</a:t>
            </a:r>
            <a:r>
              <a:rPr lang="de-DE" sz="2000" dirty="0"/>
              <a:t> </a:t>
            </a:r>
            <a:r>
              <a:rPr lang="de-DE" sz="2000" dirty="0" err="1"/>
              <a:t>changing</a:t>
            </a:r>
            <a:r>
              <a:rPr lang="de-DE" sz="2000" dirty="0"/>
              <a:t> </a:t>
            </a:r>
            <a:r>
              <a:rPr lang="de-DE" sz="2000" dirty="0" err="1"/>
              <a:t>daily</a:t>
            </a:r>
            <a:r>
              <a:rPr lang="de-DE" sz="2000" dirty="0"/>
              <a:t> </a:t>
            </a:r>
            <a:r>
              <a:rPr lang="de-DE" sz="2000" dirty="0" err="1"/>
              <a:t>routines</a:t>
            </a:r>
            <a:r>
              <a:rPr lang="de-DE" sz="2000" dirty="0"/>
              <a:t> and </a:t>
            </a:r>
            <a:r>
              <a:rPr lang="de-DE" sz="2000" dirty="0" err="1"/>
              <a:t>economic</a:t>
            </a:r>
            <a:r>
              <a:rPr lang="de-DE" sz="2000" dirty="0"/>
              <a:t> </a:t>
            </a:r>
            <a:r>
              <a:rPr lang="de-DE" sz="2000" dirty="0" err="1"/>
              <a:t>activity</a:t>
            </a: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r>
              <a:rPr lang="de-DE" sz="2000" dirty="0" err="1"/>
              <a:t>We</a:t>
            </a:r>
            <a:r>
              <a:rPr lang="de-DE" sz="2000" dirty="0"/>
              <a:t> </a:t>
            </a:r>
            <a:r>
              <a:rPr lang="de-DE" sz="2000" dirty="0" err="1"/>
              <a:t>analyze</a:t>
            </a:r>
            <a:r>
              <a:rPr lang="de-DE" sz="2000" dirty="0"/>
              <a:t> </a:t>
            </a:r>
            <a:r>
              <a:rPr lang="de-DE" sz="2000" dirty="0" err="1"/>
              <a:t>Germay</a:t>
            </a:r>
            <a:r>
              <a:rPr lang="de-DE" sz="2000" dirty="0"/>
              <a:t> (2022 – 2025), </a:t>
            </a:r>
            <a:r>
              <a:rPr lang="de-DE" sz="2000" dirty="0" err="1"/>
              <a:t>looking</a:t>
            </a:r>
            <a:r>
              <a:rPr lang="de-DE" sz="2000" dirty="0"/>
              <a:t> at </a:t>
            </a:r>
            <a:r>
              <a:rPr lang="de-DE" sz="2000" dirty="0" err="1"/>
              <a:t>consumption</a:t>
            </a:r>
            <a:r>
              <a:rPr lang="de-DE" sz="2000" dirty="0"/>
              <a:t> and </a:t>
            </a:r>
            <a:r>
              <a:rPr lang="de-DE" sz="2000" dirty="0" err="1"/>
              <a:t>generation</a:t>
            </a:r>
            <a:endParaRPr lang="de-DE" sz="2000" dirty="0"/>
          </a:p>
        </p:txBody>
      </p:sp>
      <p:pic>
        <p:nvPicPr>
          <p:cNvPr id="2050" name="Picture 2" descr="Fachkräfte gesucht – Die Volkswirtschaft">
            <a:extLst>
              <a:ext uri="{FF2B5EF4-FFF2-40B4-BE49-F238E27FC236}">
                <a16:creationId xmlns:a16="http://schemas.microsoft.com/office/drawing/2014/main" id="{EF5FA23C-8736-A507-972D-D7AF23D61D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13017" y="7371778"/>
            <a:ext cx="4449161" cy="2464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Full Battery Sticker - Full battery - Discover &amp; Share GIFs">
            <a:extLst>
              <a:ext uri="{FF2B5EF4-FFF2-40B4-BE49-F238E27FC236}">
                <a16:creationId xmlns:a16="http://schemas.microsoft.com/office/drawing/2014/main" id="{A73B3644-83BA-18B8-1C3D-9D8C5126A8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24824" y="6858000"/>
            <a:ext cx="2875638" cy="2875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el 1">
            <a:extLst>
              <a:ext uri="{FF2B5EF4-FFF2-40B4-BE49-F238E27FC236}">
                <a16:creationId xmlns:a16="http://schemas.microsoft.com/office/drawing/2014/main" id="{A718D848-ACCE-97CE-6175-434E5EA29D33}"/>
              </a:ext>
            </a:extLst>
          </p:cNvPr>
          <p:cNvSpPr txBox="1">
            <a:spLocks/>
          </p:cNvSpPr>
          <p:nvPr/>
        </p:nvSpPr>
        <p:spPr>
          <a:xfrm>
            <a:off x="0" y="-1291729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/>
              <a:t>Data Sources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98A6D636-A2B0-8035-8927-7099A8C54DCE}"/>
              </a:ext>
            </a:extLst>
          </p:cNvPr>
          <p:cNvSpPr txBox="1"/>
          <p:nvPr/>
        </p:nvSpPr>
        <p:spPr>
          <a:xfrm>
            <a:off x="256069" y="1349467"/>
            <a:ext cx="11691021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SMARD</a:t>
            </a:r>
          </a:p>
          <a:p>
            <a:pPr lvl="1"/>
            <a:r>
              <a:rPr lang="de-DE" sz="2000" dirty="0" err="1"/>
              <a:t>Electricity</a:t>
            </a:r>
            <a:r>
              <a:rPr lang="de-DE" sz="2000" dirty="0"/>
              <a:t> </a:t>
            </a:r>
            <a:r>
              <a:rPr lang="de-DE" sz="2000" dirty="0" err="1"/>
              <a:t>consumption</a:t>
            </a:r>
            <a:r>
              <a:rPr lang="de-DE" sz="2000" dirty="0"/>
              <a:t> and </a:t>
            </a:r>
            <a:r>
              <a:rPr lang="de-DE" sz="2000" dirty="0" err="1"/>
              <a:t>electricity</a:t>
            </a:r>
            <a:r>
              <a:rPr lang="de-DE" sz="2000" dirty="0"/>
              <a:t> </a:t>
            </a:r>
            <a:r>
              <a:rPr lang="de-DE" sz="2000" dirty="0" err="1"/>
              <a:t>generation</a:t>
            </a:r>
            <a:r>
              <a:rPr lang="de-DE" sz="2000" dirty="0"/>
              <a:t> </a:t>
            </a:r>
            <a:r>
              <a:rPr lang="de-DE" sz="2000" dirty="0" err="1"/>
              <a:t>data</a:t>
            </a:r>
            <a:r>
              <a:rPr lang="de-DE" sz="2000" dirty="0"/>
              <a:t> </a:t>
            </a:r>
            <a:r>
              <a:rPr lang="de-DE" sz="2000" dirty="0" err="1"/>
              <a:t>for</a:t>
            </a:r>
            <a:r>
              <a:rPr lang="de-DE" sz="2000" dirty="0"/>
              <a:t> Germany and TSO </a:t>
            </a:r>
            <a:r>
              <a:rPr lang="de-DE" sz="2000" dirty="0" err="1"/>
              <a:t>regions</a:t>
            </a:r>
            <a:endParaRPr lang="de-DE" sz="2000" dirty="0"/>
          </a:p>
          <a:p>
            <a:pPr lvl="1"/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Open-Meteo</a:t>
            </a:r>
          </a:p>
          <a:p>
            <a:pPr lvl="1"/>
            <a:r>
              <a:rPr lang="de-DE" sz="2000" dirty="0"/>
              <a:t>Daily </a:t>
            </a:r>
            <a:r>
              <a:rPr lang="de-DE" sz="2000" dirty="0" err="1"/>
              <a:t>weather</a:t>
            </a:r>
            <a:r>
              <a:rPr lang="de-DE" sz="2000" dirty="0"/>
              <a:t> </a:t>
            </a:r>
            <a:r>
              <a:rPr lang="de-DE" sz="2000" dirty="0" err="1"/>
              <a:t>data</a:t>
            </a:r>
            <a:r>
              <a:rPr lang="de-DE" sz="2000" dirty="0"/>
              <a:t> such </a:t>
            </a:r>
            <a:r>
              <a:rPr lang="de-DE" sz="2000" dirty="0" err="1"/>
              <a:t>as</a:t>
            </a:r>
            <a:r>
              <a:rPr lang="de-DE" sz="2000" dirty="0"/>
              <a:t> wind </a:t>
            </a:r>
            <a:r>
              <a:rPr lang="de-DE" sz="2000" dirty="0" err="1"/>
              <a:t>speed</a:t>
            </a:r>
            <a:r>
              <a:rPr lang="de-DE" sz="2000" dirty="0"/>
              <a:t>, maximum </a:t>
            </a:r>
            <a:r>
              <a:rPr lang="de-DE" sz="2000" dirty="0" err="1"/>
              <a:t>temperature</a:t>
            </a:r>
            <a:r>
              <a:rPr lang="de-DE" sz="2000" dirty="0"/>
              <a:t> and </a:t>
            </a:r>
            <a:r>
              <a:rPr lang="de-DE" sz="2000" dirty="0" err="1"/>
              <a:t>precipitation</a:t>
            </a:r>
            <a:endParaRPr lang="de-DE" sz="2000" dirty="0"/>
          </a:p>
          <a:p>
            <a:pPr lvl="1"/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OpenHolidays</a:t>
            </a:r>
            <a:endParaRPr lang="de-DE" sz="2000" dirty="0"/>
          </a:p>
          <a:p>
            <a:pPr lvl="1"/>
            <a:r>
              <a:rPr lang="de-DE" sz="2000" dirty="0"/>
              <a:t>School </a:t>
            </a:r>
            <a:r>
              <a:rPr lang="de-DE" sz="2000" dirty="0" err="1"/>
              <a:t>holiday</a:t>
            </a:r>
            <a:r>
              <a:rPr lang="de-DE" sz="2000" dirty="0"/>
              <a:t> </a:t>
            </a:r>
            <a:r>
              <a:rPr lang="de-DE" sz="2000" dirty="0" err="1"/>
              <a:t>data</a:t>
            </a:r>
            <a:r>
              <a:rPr lang="de-DE" sz="2000" dirty="0"/>
              <a:t> </a:t>
            </a:r>
            <a:r>
              <a:rPr lang="de-DE" sz="2000" dirty="0" err="1"/>
              <a:t>for</a:t>
            </a:r>
            <a:r>
              <a:rPr lang="de-DE" sz="2000" dirty="0"/>
              <a:t> all German </a:t>
            </a:r>
            <a:r>
              <a:rPr lang="de-DE" sz="2000" dirty="0" err="1"/>
              <a:t>federal</a:t>
            </a:r>
            <a:r>
              <a:rPr lang="de-DE" sz="2000" dirty="0"/>
              <a:t> </a:t>
            </a:r>
            <a:r>
              <a:rPr lang="de-DE" sz="2000" dirty="0" err="1"/>
              <a:t>states</a:t>
            </a:r>
            <a:r>
              <a:rPr lang="de-DE" sz="2000" dirty="0"/>
              <a:t>, </a:t>
            </a:r>
            <a:r>
              <a:rPr lang="de-DE" sz="2000" dirty="0" err="1"/>
              <a:t>transformed</a:t>
            </a:r>
            <a:r>
              <a:rPr lang="de-DE" sz="2000" dirty="0"/>
              <a:t> </a:t>
            </a:r>
            <a:r>
              <a:rPr lang="de-DE" sz="2000" dirty="0" err="1"/>
              <a:t>into</a:t>
            </a:r>
            <a:r>
              <a:rPr lang="de-DE" sz="2000" dirty="0"/>
              <a:t> </a:t>
            </a:r>
            <a:r>
              <a:rPr lang="de-DE" sz="2000" dirty="0" err="1"/>
              <a:t>daily</a:t>
            </a:r>
            <a:r>
              <a:rPr lang="de-DE" sz="2000" dirty="0"/>
              <a:t> </a:t>
            </a:r>
            <a:r>
              <a:rPr lang="de-DE" sz="2000" dirty="0" err="1"/>
              <a:t>holiday</a:t>
            </a:r>
            <a:r>
              <a:rPr lang="de-DE" sz="2000" dirty="0"/>
              <a:t> </a:t>
            </a:r>
            <a:r>
              <a:rPr lang="de-DE" sz="2000" dirty="0" err="1"/>
              <a:t>observations</a:t>
            </a:r>
            <a:endParaRPr lang="de-DE" sz="2000" dirty="0"/>
          </a:p>
        </p:txBody>
      </p:sp>
      <p:pic>
        <p:nvPicPr>
          <p:cNvPr id="3074" name="Picture 2" descr="SMARD | SMARD - Market data">
            <a:extLst>
              <a:ext uri="{FF2B5EF4-FFF2-40B4-BE49-F238E27FC236}">
                <a16:creationId xmlns:a16="http://schemas.microsoft.com/office/drawing/2014/main" id="{B52540D5-0F28-33B6-9A37-03F2979DAF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764" y="4805424"/>
            <a:ext cx="3819525" cy="1200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Open Meteo - Horizon OpenAgri">
            <a:extLst>
              <a:ext uri="{FF2B5EF4-FFF2-40B4-BE49-F238E27FC236}">
                <a16:creationId xmlns:a16="http://schemas.microsoft.com/office/drawing/2014/main" id="{D6C40252-04B8-C684-78D4-7A49D59D2C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52" t="30148" r="18546" b="30330"/>
          <a:stretch>
            <a:fillRect/>
          </a:stretch>
        </p:blipFill>
        <p:spPr bwMode="auto">
          <a:xfrm>
            <a:off x="5054360" y="4629892"/>
            <a:ext cx="2364377" cy="1502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58C64578-0C87-5657-5BA4-C09040A644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8808" y="5004237"/>
            <a:ext cx="2528592" cy="653456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74036A96-4F4A-0486-38BD-BBC9BD2AA462}"/>
              </a:ext>
            </a:extLst>
          </p:cNvPr>
          <p:cNvSpPr txBox="1">
            <a:spLocks/>
          </p:cNvSpPr>
          <p:nvPr/>
        </p:nvSpPr>
        <p:spPr>
          <a:xfrm>
            <a:off x="10391965" y="-2345764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/>
              <a:t>Method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F6BAF1FA-00BA-65BD-2736-2343D2410469}"/>
              </a:ext>
            </a:extLst>
          </p:cNvPr>
          <p:cNvSpPr txBox="1"/>
          <p:nvPr/>
        </p:nvSpPr>
        <p:spPr>
          <a:xfrm>
            <a:off x="-12279451" y="2359321"/>
            <a:ext cx="1193593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All </a:t>
            </a:r>
            <a:r>
              <a:rPr lang="de-DE" sz="2000" dirty="0" err="1"/>
              <a:t>datasets</a:t>
            </a:r>
            <a:r>
              <a:rPr lang="de-DE" sz="2000" dirty="0"/>
              <a:t> </a:t>
            </a:r>
            <a:r>
              <a:rPr lang="de-DE" sz="2000" dirty="0" err="1"/>
              <a:t>were</a:t>
            </a:r>
            <a:r>
              <a:rPr lang="de-DE" sz="2000" dirty="0"/>
              <a:t> </a:t>
            </a:r>
            <a:r>
              <a:rPr lang="de-DE" sz="2000" dirty="0" err="1"/>
              <a:t>converted</a:t>
            </a:r>
            <a:r>
              <a:rPr lang="de-DE" sz="2000" dirty="0"/>
              <a:t> </a:t>
            </a:r>
            <a:r>
              <a:rPr lang="de-DE" sz="2000" dirty="0" err="1"/>
              <a:t>to</a:t>
            </a:r>
            <a:r>
              <a:rPr lang="de-DE" sz="2000" dirty="0"/>
              <a:t> </a:t>
            </a:r>
            <a:r>
              <a:rPr lang="de-DE" sz="2000" dirty="0" err="1"/>
              <a:t>daily</a:t>
            </a:r>
            <a:r>
              <a:rPr lang="de-DE" sz="2000" dirty="0"/>
              <a:t> </a:t>
            </a:r>
            <a:r>
              <a:rPr lang="de-DE" sz="2000" dirty="0" err="1"/>
              <a:t>level</a:t>
            </a:r>
            <a:r>
              <a:rPr lang="de-DE" sz="2000" dirty="0"/>
              <a:t> and </a:t>
            </a:r>
            <a:r>
              <a:rPr lang="de-DE" sz="2000" dirty="0" err="1"/>
              <a:t>merged</a:t>
            </a:r>
            <a:r>
              <a:rPr lang="de-DE" sz="2000" dirty="0"/>
              <a:t> </a:t>
            </a:r>
            <a:r>
              <a:rPr lang="de-DE" sz="2000" dirty="0" err="1"/>
              <a:t>by</a:t>
            </a:r>
            <a:r>
              <a:rPr lang="de-DE" sz="2000" dirty="0"/>
              <a:t> date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For</a:t>
            </a:r>
            <a:r>
              <a:rPr lang="de-DE" sz="2000" dirty="0"/>
              <a:t> </a:t>
            </a:r>
            <a:r>
              <a:rPr lang="de-DE" sz="2000" dirty="0" err="1"/>
              <a:t>electricity</a:t>
            </a:r>
            <a:r>
              <a:rPr lang="de-DE" sz="2000" dirty="0"/>
              <a:t> </a:t>
            </a:r>
            <a:r>
              <a:rPr lang="de-DE" sz="2000" dirty="0" err="1"/>
              <a:t>consumption</a:t>
            </a:r>
            <a:r>
              <a:rPr lang="de-DE" sz="2000" dirty="0"/>
              <a:t>, </a:t>
            </a:r>
            <a:r>
              <a:rPr lang="de-DE" sz="2000" dirty="0" err="1"/>
              <a:t>we</a:t>
            </a:r>
            <a:r>
              <a:rPr lang="de-DE" sz="2000" dirty="0"/>
              <a:t> </a:t>
            </a:r>
            <a:r>
              <a:rPr lang="de-DE" sz="2000" dirty="0" err="1"/>
              <a:t>compared</a:t>
            </a:r>
            <a:r>
              <a:rPr lang="de-DE" sz="2000" dirty="0"/>
              <a:t> </a:t>
            </a:r>
            <a:r>
              <a:rPr lang="de-DE" sz="2000" dirty="0" err="1"/>
              <a:t>three</a:t>
            </a:r>
            <a:r>
              <a:rPr lang="de-DE" sz="2000" dirty="0"/>
              <a:t> </a:t>
            </a:r>
            <a:r>
              <a:rPr lang="de-DE" sz="2000" dirty="0" err="1"/>
              <a:t>day</a:t>
            </a:r>
            <a:r>
              <a:rPr lang="de-DE" sz="2000" dirty="0"/>
              <a:t> type: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000" dirty="0"/>
              <a:t>Regular Days, </a:t>
            </a:r>
            <a:r>
              <a:rPr lang="de-DE" sz="2000" dirty="0" err="1"/>
              <a:t>Sundays</a:t>
            </a:r>
            <a:r>
              <a:rPr lang="de-DE" sz="2000" dirty="0"/>
              <a:t> and Holidays</a:t>
            </a:r>
          </a:p>
          <a:p>
            <a:pPr lvl="1"/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For</a:t>
            </a:r>
            <a:r>
              <a:rPr lang="de-DE" sz="2000" dirty="0"/>
              <a:t> </a:t>
            </a:r>
            <a:r>
              <a:rPr lang="de-DE" sz="2000" dirty="0" err="1"/>
              <a:t>electricity</a:t>
            </a:r>
            <a:r>
              <a:rPr lang="de-DE" sz="2000" dirty="0"/>
              <a:t> </a:t>
            </a:r>
            <a:r>
              <a:rPr lang="de-DE" sz="2000" dirty="0" err="1"/>
              <a:t>generation</a:t>
            </a:r>
            <a:r>
              <a:rPr lang="de-DE" sz="2000" dirty="0"/>
              <a:t>, </a:t>
            </a:r>
            <a:r>
              <a:rPr lang="de-DE" sz="2000" dirty="0" err="1"/>
              <a:t>we</a:t>
            </a:r>
            <a:r>
              <a:rPr lang="de-DE" sz="2000" dirty="0"/>
              <a:t> </a:t>
            </a:r>
            <a:r>
              <a:rPr lang="de-DE" sz="2000" dirty="0" err="1"/>
              <a:t>examined</a:t>
            </a:r>
            <a:r>
              <a:rPr lang="de-DE" sz="2000" dirty="0"/>
              <a:t> </a:t>
            </a:r>
            <a:r>
              <a:rPr lang="de-DE" sz="2000" dirty="0" err="1"/>
              <a:t>correlations</a:t>
            </a:r>
            <a:r>
              <a:rPr lang="de-DE" sz="2000" dirty="0"/>
              <a:t> </a:t>
            </a:r>
            <a:r>
              <a:rPr lang="de-DE" sz="2000" dirty="0" err="1"/>
              <a:t>between</a:t>
            </a:r>
            <a:r>
              <a:rPr lang="de-DE" sz="2000" dirty="0"/>
              <a:t> </a:t>
            </a:r>
            <a:r>
              <a:rPr lang="de-DE" sz="2000" dirty="0" err="1"/>
              <a:t>weather</a:t>
            </a:r>
            <a:r>
              <a:rPr lang="de-DE" sz="2000" dirty="0"/>
              <a:t> variables and </a:t>
            </a:r>
            <a:r>
              <a:rPr lang="de-DE" sz="2000" dirty="0" err="1"/>
              <a:t>renewable</a:t>
            </a:r>
            <a:r>
              <a:rPr lang="de-DE" sz="2000" dirty="0"/>
              <a:t> </a:t>
            </a:r>
            <a:r>
              <a:rPr lang="de-DE" sz="2000" dirty="0" err="1"/>
              <a:t>generation</a:t>
            </a:r>
            <a:r>
              <a:rPr lang="de-DE" sz="2000" dirty="0"/>
              <a:t>, </a:t>
            </a:r>
            <a:r>
              <a:rPr lang="de-DE" sz="2000" dirty="0" err="1"/>
              <a:t>especially</a:t>
            </a:r>
            <a:r>
              <a:rPr lang="de-DE" sz="20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000" dirty="0"/>
              <a:t>wind </a:t>
            </a:r>
            <a:r>
              <a:rPr lang="de-DE" sz="2000" dirty="0" err="1"/>
              <a:t>speed</a:t>
            </a:r>
            <a:r>
              <a:rPr lang="de-DE" sz="2000" dirty="0"/>
              <a:t> – wind </a:t>
            </a:r>
            <a:r>
              <a:rPr lang="de-DE" sz="2000" dirty="0" err="1"/>
              <a:t>generation</a:t>
            </a:r>
            <a:r>
              <a:rPr lang="de-DE" sz="20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Temperature</a:t>
            </a:r>
            <a:r>
              <a:rPr lang="de-DE" sz="2000" dirty="0"/>
              <a:t> / </a:t>
            </a:r>
            <a:r>
              <a:rPr lang="de-DE" sz="2000" dirty="0" err="1"/>
              <a:t>seasonal</a:t>
            </a:r>
            <a:r>
              <a:rPr lang="de-DE" sz="2000" dirty="0"/>
              <a:t> </a:t>
            </a:r>
            <a:r>
              <a:rPr lang="de-DE" sz="2000" dirty="0" err="1"/>
              <a:t>conditions</a:t>
            </a:r>
            <a:r>
              <a:rPr lang="de-DE" sz="2000" dirty="0"/>
              <a:t> – solar </a:t>
            </a:r>
            <a:r>
              <a:rPr lang="de-DE" sz="2000" dirty="0" err="1"/>
              <a:t>generation</a:t>
            </a:r>
            <a:endParaRPr lang="de-DE" sz="2000" dirty="0"/>
          </a:p>
          <a:p>
            <a:pPr lvl="1"/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We</a:t>
            </a:r>
            <a:r>
              <a:rPr lang="de-DE" sz="2000" dirty="0"/>
              <a:t> also </a:t>
            </a:r>
            <a:r>
              <a:rPr lang="de-DE" sz="2000" dirty="0" err="1"/>
              <a:t>conducted</a:t>
            </a:r>
            <a:r>
              <a:rPr lang="de-DE" sz="2000" dirty="0"/>
              <a:t> a regional </a:t>
            </a:r>
            <a:r>
              <a:rPr lang="de-DE" sz="2000" dirty="0" err="1"/>
              <a:t>comparison</a:t>
            </a:r>
            <a:r>
              <a:rPr lang="de-DE" sz="2000" dirty="0"/>
              <a:t> </a:t>
            </a:r>
            <a:r>
              <a:rPr lang="de-DE" sz="2000" dirty="0" err="1"/>
              <a:t>across</a:t>
            </a:r>
            <a:r>
              <a:rPr lang="de-DE" sz="2000" dirty="0"/>
              <a:t> TSO </a:t>
            </a:r>
            <a:r>
              <a:rPr lang="de-DE" sz="2000" dirty="0" err="1"/>
              <a:t>zones</a:t>
            </a:r>
            <a:r>
              <a:rPr lang="de-DE" sz="20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000" dirty="0"/>
              <a:t>50Hertz, Amprion, TenneT and TransnetBW</a:t>
            </a:r>
          </a:p>
        </p:txBody>
      </p:sp>
      <p:pic>
        <p:nvPicPr>
          <p:cNvPr id="12" name="Picture 3">
            <a:extLst>
              <a:ext uri="{FF2B5EF4-FFF2-40B4-BE49-F238E27FC236}">
                <a16:creationId xmlns:a16="http://schemas.microsoft.com/office/drawing/2014/main" id="{F08D4A20-E744-A386-4CE6-BFCB8AC2CE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73097" y="4354326"/>
            <a:ext cx="2448379" cy="1953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26CE8152-74B3-9731-47FF-A0904A27F650}"/>
              </a:ext>
            </a:extLst>
          </p:cNvPr>
          <p:cNvSpPr txBox="1"/>
          <p:nvPr/>
        </p:nvSpPr>
        <p:spPr>
          <a:xfrm>
            <a:off x="-3231714" y="7050588"/>
            <a:ext cx="1193593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All </a:t>
            </a:r>
            <a:r>
              <a:rPr lang="de-DE" sz="2000" dirty="0" err="1"/>
              <a:t>datasets</a:t>
            </a:r>
            <a:r>
              <a:rPr lang="de-DE" sz="2000" dirty="0"/>
              <a:t> </a:t>
            </a:r>
            <a:r>
              <a:rPr lang="de-DE" sz="2000" dirty="0" err="1"/>
              <a:t>were</a:t>
            </a:r>
            <a:r>
              <a:rPr lang="de-DE" sz="2000" dirty="0"/>
              <a:t> </a:t>
            </a:r>
            <a:r>
              <a:rPr lang="de-DE" sz="2000" dirty="0" err="1"/>
              <a:t>converted</a:t>
            </a:r>
            <a:r>
              <a:rPr lang="de-DE" sz="2000" dirty="0"/>
              <a:t> </a:t>
            </a:r>
            <a:r>
              <a:rPr lang="de-DE" sz="2000" dirty="0" err="1"/>
              <a:t>to</a:t>
            </a:r>
            <a:r>
              <a:rPr lang="de-DE" sz="2000" dirty="0"/>
              <a:t> </a:t>
            </a:r>
            <a:r>
              <a:rPr lang="de-DE" sz="2000" dirty="0" err="1"/>
              <a:t>daily</a:t>
            </a:r>
            <a:r>
              <a:rPr lang="de-DE" sz="2000" dirty="0"/>
              <a:t> </a:t>
            </a:r>
            <a:r>
              <a:rPr lang="de-DE" sz="2000" dirty="0" err="1"/>
              <a:t>level</a:t>
            </a:r>
            <a:r>
              <a:rPr lang="de-DE" sz="2000" dirty="0"/>
              <a:t> and </a:t>
            </a:r>
            <a:r>
              <a:rPr lang="de-DE" sz="2000" dirty="0" err="1"/>
              <a:t>merged</a:t>
            </a:r>
            <a:r>
              <a:rPr lang="de-DE" sz="2000" dirty="0"/>
              <a:t> </a:t>
            </a:r>
            <a:r>
              <a:rPr lang="de-DE" sz="2000" dirty="0" err="1"/>
              <a:t>by</a:t>
            </a:r>
            <a:r>
              <a:rPr lang="de-DE" sz="2000" dirty="0"/>
              <a:t> date</a:t>
            </a:r>
          </a:p>
          <a:p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For</a:t>
            </a:r>
            <a:r>
              <a:rPr lang="de-DE" sz="2000" dirty="0"/>
              <a:t> </a:t>
            </a:r>
            <a:r>
              <a:rPr lang="de-DE" sz="2000" dirty="0" err="1"/>
              <a:t>electricity</a:t>
            </a:r>
            <a:r>
              <a:rPr lang="de-DE" sz="2000" dirty="0"/>
              <a:t> </a:t>
            </a:r>
            <a:r>
              <a:rPr lang="de-DE" sz="2000" dirty="0" err="1"/>
              <a:t>consumption</a:t>
            </a:r>
            <a:r>
              <a:rPr lang="de-DE" sz="2000" dirty="0"/>
              <a:t>, </a:t>
            </a:r>
            <a:r>
              <a:rPr lang="de-DE" sz="2000" dirty="0" err="1"/>
              <a:t>we</a:t>
            </a:r>
            <a:r>
              <a:rPr lang="de-DE" sz="2000" dirty="0"/>
              <a:t> </a:t>
            </a:r>
            <a:r>
              <a:rPr lang="de-DE" sz="2000" dirty="0" err="1"/>
              <a:t>compared</a:t>
            </a:r>
            <a:r>
              <a:rPr lang="de-DE" sz="2000" dirty="0"/>
              <a:t> </a:t>
            </a:r>
            <a:r>
              <a:rPr lang="de-DE" sz="2000" dirty="0" err="1"/>
              <a:t>three</a:t>
            </a:r>
            <a:r>
              <a:rPr lang="de-DE" sz="2000" dirty="0"/>
              <a:t> </a:t>
            </a:r>
            <a:r>
              <a:rPr lang="de-DE" sz="2000" dirty="0" err="1"/>
              <a:t>day</a:t>
            </a:r>
            <a:r>
              <a:rPr lang="de-DE" sz="2000" dirty="0"/>
              <a:t> type: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000" dirty="0"/>
              <a:t>Regular Days, </a:t>
            </a:r>
            <a:r>
              <a:rPr lang="de-DE" sz="2000" dirty="0" err="1"/>
              <a:t>Sundays</a:t>
            </a:r>
            <a:r>
              <a:rPr lang="de-DE" sz="2000" dirty="0"/>
              <a:t> and Holidays</a:t>
            </a:r>
          </a:p>
          <a:p>
            <a:pPr lvl="1"/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For</a:t>
            </a:r>
            <a:r>
              <a:rPr lang="de-DE" sz="2000" dirty="0"/>
              <a:t> </a:t>
            </a:r>
            <a:r>
              <a:rPr lang="de-DE" sz="2000" dirty="0" err="1"/>
              <a:t>electricity</a:t>
            </a:r>
            <a:r>
              <a:rPr lang="de-DE" sz="2000" dirty="0"/>
              <a:t> </a:t>
            </a:r>
            <a:r>
              <a:rPr lang="de-DE" sz="2000" dirty="0" err="1"/>
              <a:t>generation</a:t>
            </a:r>
            <a:r>
              <a:rPr lang="de-DE" sz="2000" dirty="0"/>
              <a:t>, </a:t>
            </a:r>
            <a:r>
              <a:rPr lang="de-DE" sz="2000" dirty="0" err="1"/>
              <a:t>we</a:t>
            </a:r>
            <a:r>
              <a:rPr lang="de-DE" sz="2000" dirty="0"/>
              <a:t> </a:t>
            </a:r>
            <a:r>
              <a:rPr lang="de-DE" sz="2000" dirty="0" err="1"/>
              <a:t>examined</a:t>
            </a:r>
            <a:r>
              <a:rPr lang="de-DE" sz="2000" dirty="0"/>
              <a:t> </a:t>
            </a:r>
            <a:r>
              <a:rPr lang="de-DE" sz="2000" dirty="0" err="1"/>
              <a:t>correlations</a:t>
            </a:r>
            <a:r>
              <a:rPr lang="de-DE" sz="2000" dirty="0"/>
              <a:t> </a:t>
            </a:r>
            <a:r>
              <a:rPr lang="de-DE" sz="2000" dirty="0" err="1"/>
              <a:t>between</a:t>
            </a:r>
            <a:r>
              <a:rPr lang="de-DE" sz="2000" dirty="0"/>
              <a:t> </a:t>
            </a:r>
            <a:r>
              <a:rPr lang="de-DE" sz="2000" dirty="0" err="1"/>
              <a:t>weather</a:t>
            </a:r>
            <a:r>
              <a:rPr lang="de-DE" sz="2000" dirty="0"/>
              <a:t>                                variables and </a:t>
            </a:r>
            <a:r>
              <a:rPr lang="de-DE" sz="2000" dirty="0" err="1"/>
              <a:t>renewable</a:t>
            </a:r>
            <a:r>
              <a:rPr lang="de-DE" sz="2000" dirty="0"/>
              <a:t> </a:t>
            </a:r>
            <a:r>
              <a:rPr lang="de-DE" sz="2000" dirty="0" err="1"/>
              <a:t>generation</a:t>
            </a:r>
            <a:r>
              <a:rPr lang="de-DE" sz="2000" dirty="0"/>
              <a:t>, </a:t>
            </a:r>
            <a:r>
              <a:rPr lang="de-DE" sz="2000" dirty="0" err="1"/>
              <a:t>especially</a:t>
            </a:r>
            <a:r>
              <a:rPr lang="de-DE" sz="20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000" dirty="0"/>
              <a:t>wind </a:t>
            </a:r>
            <a:r>
              <a:rPr lang="de-DE" sz="2000" dirty="0" err="1"/>
              <a:t>speed</a:t>
            </a:r>
            <a:r>
              <a:rPr lang="de-DE" sz="2000" dirty="0"/>
              <a:t> – wind </a:t>
            </a:r>
            <a:r>
              <a:rPr lang="de-DE" sz="2000" dirty="0" err="1"/>
              <a:t>generation</a:t>
            </a:r>
            <a:r>
              <a:rPr lang="de-DE" sz="20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Temperature</a:t>
            </a:r>
            <a:r>
              <a:rPr lang="de-DE" sz="2000" dirty="0"/>
              <a:t> / </a:t>
            </a:r>
            <a:r>
              <a:rPr lang="de-DE" sz="2000" dirty="0" err="1"/>
              <a:t>seasonal</a:t>
            </a:r>
            <a:r>
              <a:rPr lang="de-DE" sz="2000" dirty="0"/>
              <a:t> </a:t>
            </a:r>
            <a:r>
              <a:rPr lang="de-DE" sz="2000" dirty="0" err="1"/>
              <a:t>conditions</a:t>
            </a:r>
            <a:r>
              <a:rPr lang="de-DE" sz="2000" dirty="0"/>
              <a:t> – solar </a:t>
            </a:r>
            <a:r>
              <a:rPr lang="de-DE" sz="2000" dirty="0" err="1"/>
              <a:t>generation</a:t>
            </a:r>
            <a:endParaRPr lang="de-DE" sz="2000" dirty="0"/>
          </a:p>
          <a:p>
            <a:pPr lvl="1"/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We</a:t>
            </a:r>
            <a:r>
              <a:rPr lang="de-DE" sz="2000" dirty="0"/>
              <a:t> also </a:t>
            </a:r>
            <a:r>
              <a:rPr lang="de-DE" sz="2000" dirty="0" err="1"/>
              <a:t>conducted</a:t>
            </a:r>
            <a:r>
              <a:rPr lang="de-DE" sz="2000" dirty="0"/>
              <a:t> a regional </a:t>
            </a:r>
            <a:r>
              <a:rPr lang="de-DE" sz="2000" dirty="0" err="1"/>
              <a:t>comparison</a:t>
            </a:r>
            <a:r>
              <a:rPr lang="de-DE" sz="2000" dirty="0"/>
              <a:t> </a:t>
            </a:r>
            <a:r>
              <a:rPr lang="de-DE" sz="2000" dirty="0" err="1"/>
              <a:t>across</a:t>
            </a:r>
            <a:r>
              <a:rPr lang="de-DE" sz="2000" dirty="0"/>
              <a:t> TSO </a:t>
            </a:r>
            <a:r>
              <a:rPr lang="de-DE" sz="2000" dirty="0" err="1"/>
              <a:t>zones</a:t>
            </a:r>
            <a:r>
              <a:rPr lang="de-DE" sz="20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000" dirty="0"/>
              <a:t>50Hertz, Amprion, TenneT and TransnetBW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E7CD50F-5CC5-987E-F377-27D4B8D5DE49}"/>
              </a:ext>
            </a:extLst>
          </p:cNvPr>
          <p:cNvSpPr txBox="1"/>
          <p:nvPr/>
        </p:nvSpPr>
        <p:spPr>
          <a:xfrm>
            <a:off x="12286223" y="1184227"/>
            <a:ext cx="11277446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Electricity</a:t>
            </a:r>
            <a:r>
              <a:rPr lang="de-DE" sz="2000" dirty="0"/>
              <a:t> </a:t>
            </a:r>
            <a:r>
              <a:rPr lang="de-DE" sz="2000" dirty="0" err="1"/>
              <a:t>is</a:t>
            </a:r>
            <a:r>
              <a:rPr lang="de-DE" sz="2000" dirty="0"/>
              <a:t> essential </a:t>
            </a:r>
            <a:r>
              <a:rPr lang="de-DE" sz="2000" dirty="0" err="1"/>
              <a:t>for</a:t>
            </a:r>
            <a:r>
              <a:rPr lang="de-DE" sz="2000" dirty="0"/>
              <a:t> </a:t>
            </a:r>
            <a:r>
              <a:rPr lang="de-DE" sz="2000" dirty="0" err="1"/>
              <a:t>households</a:t>
            </a:r>
            <a:r>
              <a:rPr lang="de-DE" sz="2000" dirty="0"/>
              <a:t>, </a:t>
            </a:r>
            <a:r>
              <a:rPr lang="de-DE" sz="2000" dirty="0" err="1"/>
              <a:t>business</a:t>
            </a:r>
            <a:r>
              <a:rPr lang="de-DE" sz="2000" dirty="0"/>
              <a:t>, and </a:t>
            </a:r>
            <a:r>
              <a:rPr lang="de-DE" sz="2000" dirty="0" err="1"/>
              <a:t>the</a:t>
            </a:r>
            <a:r>
              <a:rPr lang="de-DE" sz="2000" dirty="0"/>
              <a:t> </a:t>
            </a:r>
            <a:r>
              <a:rPr lang="de-DE" sz="2000" dirty="0" err="1"/>
              <a:t>economy</a:t>
            </a:r>
            <a:endParaRPr lang="de-DE" sz="2000" dirty="0"/>
          </a:p>
          <a:p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Demand and </a:t>
            </a:r>
            <a:r>
              <a:rPr lang="de-DE" sz="2000" dirty="0" err="1"/>
              <a:t>generation</a:t>
            </a:r>
            <a:r>
              <a:rPr lang="de-DE" sz="2000" dirty="0"/>
              <a:t> do not </a:t>
            </a:r>
            <a:r>
              <a:rPr lang="de-DE" sz="2000" dirty="0" err="1"/>
              <a:t>stay</a:t>
            </a:r>
            <a:r>
              <a:rPr lang="de-DE" sz="2000" dirty="0"/>
              <a:t> </a:t>
            </a:r>
            <a:r>
              <a:rPr lang="de-DE" sz="2000" dirty="0" err="1"/>
              <a:t>constant</a:t>
            </a:r>
            <a:r>
              <a:rPr lang="de-DE" sz="2000" dirty="0"/>
              <a:t>. </a:t>
            </a:r>
            <a:r>
              <a:rPr lang="de-DE" sz="2000" dirty="0" err="1"/>
              <a:t>They</a:t>
            </a:r>
            <a:r>
              <a:rPr lang="de-DE" sz="2000" dirty="0"/>
              <a:t> </a:t>
            </a:r>
            <a:r>
              <a:rPr lang="de-DE" sz="2000" dirty="0" err="1"/>
              <a:t>change</a:t>
            </a:r>
            <a:r>
              <a:rPr lang="de-DE" sz="2000" dirty="0"/>
              <a:t> </a:t>
            </a:r>
            <a:r>
              <a:rPr lang="de-DE" sz="2000" dirty="0" err="1"/>
              <a:t>over</a:t>
            </a:r>
            <a:r>
              <a:rPr lang="de-DE" sz="2000" dirty="0"/>
              <a:t> time</a:t>
            </a:r>
          </a:p>
          <a:p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Weather</a:t>
            </a:r>
            <a:r>
              <a:rPr lang="de-DE" sz="2000" dirty="0"/>
              <a:t> </a:t>
            </a:r>
            <a:r>
              <a:rPr lang="de-DE" sz="2000" dirty="0" err="1"/>
              <a:t>strongly</a:t>
            </a:r>
            <a:r>
              <a:rPr lang="de-DE" sz="2000" dirty="0"/>
              <a:t> </a:t>
            </a:r>
            <a:r>
              <a:rPr lang="de-DE" sz="2000" dirty="0" err="1"/>
              <a:t>affects</a:t>
            </a:r>
            <a:r>
              <a:rPr lang="de-DE" sz="2000" dirty="0"/>
              <a:t> </a:t>
            </a:r>
            <a:r>
              <a:rPr lang="de-DE" sz="2000" dirty="0" err="1"/>
              <a:t>renewable</a:t>
            </a:r>
            <a:r>
              <a:rPr lang="de-DE" sz="2000" dirty="0"/>
              <a:t> </a:t>
            </a:r>
            <a:r>
              <a:rPr lang="de-DE" sz="2000" dirty="0" err="1"/>
              <a:t>generation</a:t>
            </a:r>
            <a:r>
              <a:rPr lang="de-DE" sz="2000" dirty="0"/>
              <a:t>, </a:t>
            </a:r>
            <a:r>
              <a:rPr lang="de-DE" sz="2000" dirty="0" err="1"/>
              <a:t>espacially</a:t>
            </a:r>
            <a:r>
              <a:rPr lang="de-DE" sz="2000" dirty="0"/>
              <a:t> wind and solar power</a:t>
            </a:r>
          </a:p>
          <a:p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Holidays </a:t>
            </a:r>
            <a:r>
              <a:rPr lang="de-DE" sz="2000" dirty="0" err="1"/>
              <a:t>may</a:t>
            </a:r>
            <a:r>
              <a:rPr lang="de-DE" sz="2000" dirty="0"/>
              <a:t> </a:t>
            </a:r>
            <a:r>
              <a:rPr lang="de-DE" sz="2000" dirty="0" err="1"/>
              <a:t>influence</a:t>
            </a:r>
            <a:r>
              <a:rPr lang="de-DE" sz="2000" dirty="0"/>
              <a:t> </a:t>
            </a:r>
            <a:r>
              <a:rPr lang="de-DE" sz="2000" dirty="0" err="1"/>
              <a:t>electricity</a:t>
            </a:r>
            <a:r>
              <a:rPr lang="de-DE" sz="2000" dirty="0"/>
              <a:t> </a:t>
            </a:r>
            <a:r>
              <a:rPr lang="de-DE" sz="2000" dirty="0" err="1"/>
              <a:t>demand</a:t>
            </a:r>
            <a:r>
              <a:rPr lang="de-DE" sz="2000" dirty="0"/>
              <a:t> </a:t>
            </a:r>
            <a:r>
              <a:rPr lang="de-DE" sz="2000" dirty="0" err="1"/>
              <a:t>by</a:t>
            </a:r>
            <a:r>
              <a:rPr lang="de-DE" sz="2000" dirty="0"/>
              <a:t> </a:t>
            </a:r>
            <a:r>
              <a:rPr lang="de-DE" sz="2000" dirty="0" err="1"/>
              <a:t>changing</a:t>
            </a:r>
            <a:r>
              <a:rPr lang="de-DE" sz="2000" dirty="0"/>
              <a:t> </a:t>
            </a:r>
            <a:r>
              <a:rPr lang="de-DE" sz="2000" dirty="0" err="1"/>
              <a:t>daily</a:t>
            </a:r>
            <a:r>
              <a:rPr lang="de-DE" sz="2000" dirty="0"/>
              <a:t> </a:t>
            </a:r>
            <a:r>
              <a:rPr lang="de-DE" sz="2000" dirty="0" err="1"/>
              <a:t>routines</a:t>
            </a:r>
            <a:r>
              <a:rPr lang="de-DE" sz="2000" dirty="0"/>
              <a:t> and </a:t>
            </a:r>
            <a:r>
              <a:rPr lang="de-DE" sz="2000" dirty="0" err="1"/>
              <a:t>economic</a:t>
            </a:r>
            <a:r>
              <a:rPr lang="de-DE" sz="2000" dirty="0"/>
              <a:t> </a:t>
            </a:r>
            <a:r>
              <a:rPr lang="de-DE" sz="2000" dirty="0" err="1"/>
              <a:t>activity</a:t>
            </a: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r>
              <a:rPr lang="de-DE" sz="2000" dirty="0" err="1"/>
              <a:t>We</a:t>
            </a:r>
            <a:r>
              <a:rPr lang="de-DE" sz="2000" dirty="0"/>
              <a:t> </a:t>
            </a:r>
            <a:r>
              <a:rPr lang="de-DE" sz="2000" dirty="0" err="1"/>
              <a:t>analyze</a:t>
            </a:r>
            <a:r>
              <a:rPr lang="de-DE" sz="2000" dirty="0"/>
              <a:t> </a:t>
            </a:r>
            <a:r>
              <a:rPr lang="de-DE" sz="2000" dirty="0" err="1"/>
              <a:t>Germay</a:t>
            </a:r>
            <a:r>
              <a:rPr lang="de-DE" sz="2000" dirty="0"/>
              <a:t> (2022 – 2025), </a:t>
            </a:r>
            <a:r>
              <a:rPr lang="de-DE" sz="2000" dirty="0" err="1"/>
              <a:t>looking</a:t>
            </a:r>
            <a:r>
              <a:rPr lang="de-DE" sz="2000" dirty="0"/>
              <a:t> at </a:t>
            </a:r>
            <a:r>
              <a:rPr lang="de-DE" sz="2000" dirty="0" err="1"/>
              <a:t>consumption</a:t>
            </a:r>
            <a:r>
              <a:rPr lang="de-DE" sz="2000" dirty="0"/>
              <a:t> and </a:t>
            </a:r>
            <a:r>
              <a:rPr lang="de-DE" sz="2000" dirty="0" err="1"/>
              <a:t>generation</a:t>
            </a:r>
            <a:endParaRPr lang="de-DE" sz="2000" dirty="0"/>
          </a:p>
        </p:txBody>
      </p:sp>
    </p:spTree>
    <p:extLst>
      <p:ext uri="{BB962C8B-B14F-4D97-AF65-F5344CB8AC3E}">
        <p14:creationId xmlns:p14="http://schemas.microsoft.com/office/powerpoint/2010/main" val="10995445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F14173-4651-D6D2-D06D-2B0DE6DE4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7D394FCA-698A-4B06-7F37-BEAB298F0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BD2228A-7778-597C-93B8-33E7AA8CC9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424824" y="-2137644"/>
            <a:ext cx="5361786" cy="1795940"/>
          </a:xfrm>
        </p:spPr>
        <p:txBody>
          <a:bodyPr>
            <a:normAutofit/>
          </a:bodyPr>
          <a:lstStyle/>
          <a:p>
            <a:pPr algn="l"/>
            <a:r>
              <a:rPr lang="de-DE" dirty="0"/>
              <a:t>Data Science</a:t>
            </a:r>
            <a:br>
              <a:rPr lang="de-DE" dirty="0"/>
            </a:br>
            <a:r>
              <a:rPr lang="de-DE" dirty="0"/>
              <a:t>Project</a:t>
            </a: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3D984CB1-7F9B-B131-93D8-B71716AC5784}"/>
              </a:ext>
            </a:extLst>
          </p:cNvPr>
          <p:cNvSpPr txBox="1">
            <a:spLocks/>
          </p:cNvSpPr>
          <p:nvPr/>
        </p:nvSpPr>
        <p:spPr>
          <a:xfrm>
            <a:off x="-104503" y="-2360552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/>
              <a:t>Research Goal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485FAA6A-E450-D0B7-9B48-C8950C1A31B4}"/>
              </a:ext>
            </a:extLst>
          </p:cNvPr>
          <p:cNvSpPr txBox="1"/>
          <p:nvPr/>
        </p:nvSpPr>
        <p:spPr>
          <a:xfrm>
            <a:off x="89489" y="-2502158"/>
            <a:ext cx="11277446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Electricity</a:t>
            </a:r>
            <a:r>
              <a:rPr lang="de-DE" sz="2000" dirty="0"/>
              <a:t> </a:t>
            </a:r>
            <a:r>
              <a:rPr lang="de-DE" sz="2000" dirty="0" err="1"/>
              <a:t>is</a:t>
            </a:r>
            <a:r>
              <a:rPr lang="de-DE" sz="2000" dirty="0"/>
              <a:t> essential </a:t>
            </a:r>
            <a:r>
              <a:rPr lang="de-DE" sz="2000" dirty="0" err="1"/>
              <a:t>for</a:t>
            </a:r>
            <a:r>
              <a:rPr lang="de-DE" sz="2000" dirty="0"/>
              <a:t> </a:t>
            </a:r>
            <a:r>
              <a:rPr lang="de-DE" sz="2000" dirty="0" err="1"/>
              <a:t>households</a:t>
            </a:r>
            <a:r>
              <a:rPr lang="de-DE" sz="2000" dirty="0"/>
              <a:t>, </a:t>
            </a:r>
            <a:r>
              <a:rPr lang="de-DE" sz="2000" dirty="0" err="1"/>
              <a:t>business</a:t>
            </a:r>
            <a:r>
              <a:rPr lang="de-DE" sz="2000" dirty="0"/>
              <a:t>, and </a:t>
            </a:r>
            <a:r>
              <a:rPr lang="de-DE" sz="2000" dirty="0" err="1"/>
              <a:t>the</a:t>
            </a:r>
            <a:r>
              <a:rPr lang="de-DE" sz="2000" dirty="0"/>
              <a:t> </a:t>
            </a:r>
            <a:r>
              <a:rPr lang="de-DE" sz="2000" dirty="0" err="1"/>
              <a:t>economy</a:t>
            </a: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Demand and </a:t>
            </a:r>
            <a:r>
              <a:rPr lang="de-DE" sz="2000" dirty="0" err="1"/>
              <a:t>generation</a:t>
            </a:r>
            <a:r>
              <a:rPr lang="de-DE" sz="2000" dirty="0"/>
              <a:t> do not </a:t>
            </a:r>
            <a:r>
              <a:rPr lang="de-DE" sz="2000" dirty="0" err="1"/>
              <a:t>stay</a:t>
            </a:r>
            <a:r>
              <a:rPr lang="de-DE" sz="2000" dirty="0"/>
              <a:t> </a:t>
            </a:r>
            <a:r>
              <a:rPr lang="de-DE" sz="2000" dirty="0" err="1"/>
              <a:t>constant</a:t>
            </a:r>
            <a:r>
              <a:rPr lang="de-DE" sz="2000" dirty="0"/>
              <a:t>. </a:t>
            </a:r>
            <a:r>
              <a:rPr lang="de-DE" sz="2000" dirty="0" err="1"/>
              <a:t>They</a:t>
            </a:r>
            <a:r>
              <a:rPr lang="de-DE" sz="2000" dirty="0"/>
              <a:t> </a:t>
            </a:r>
            <a:r>
              <a:rPr lang="de-DE" sz="2000" dirty="0" err="1"/>
              <a:t>change</a:t>
            </a:r>
            <a:r>
              <a:rPr lang="de-DE" sz="2000" dirty="0"/>
              <a:t> </a:t>
            </a:r>
            <a:r>
              <a:rPr lang="de-DE" sz="2000" dirty="0" err="1"/>
              <a:t>over</a:t>
            </a:r>
            <a:r>
              <a:rPr lang="de-DE" sz="2000" dirty="0"/>
              <a:t>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Weather</a:t>
            </a:r>
            <a:r>
              <a:rPr lang="de-DE" sz="2000" dirty="0"/>
              <a:t> </a:t>
            </a:r>
            <a:r>
              <a:rPr lang="de-DE" sz="2000" dirty="0" err="1"/>
              <a:t>strongly</a:t>
            </a:r>
            <a:r>
              <a:rPr lang="de-DE" sz="2000" dirty="0"/>
              <a:t> </a:t>
            </a:r>
            <a:r>
              <a:rPr lang="de-DE" sz="2000" dirty="0" err="1"/>
              <a:t>affects</a:t>
            </a:r>
            <a:r>
              <a:rPr lang="de-DE" sz="2000" dirty="0"/>
              <a:t> </a:t>
            </a:r>
            <a:r>
              <a:rPr lang="de-DE" sz="2000" dirty="0" err="1"/>
              <a:t>renewable</a:t>
            </a:r>
            <a:r>
              <a:rPr lang="de-DE" sz="2000" dirty="0"/>
              <a:t> </a:t>
            </a:r>
            <a:r>
              <a:rPr lang="de-DE" sz="2000" dirty="0" err="1"/>
              <a:t>generation</a:t>
            </a:r>
            <a:r>
              <a:rPr lang="de-DE" sz="2000" dirty="0"/>
              <a:t>, </a:t>
            </a:r>
            <a:r>
              <a:rPr lang="de-DE" sz="2000" dirty="0" err="1"/>
              <a:t>espacially</a:t>
            </a:r>
            <a:r>
              <a:rPr lang="de-DE" sz="2000" dirty="0"/>
              <a:t> wind and solar power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Holidays </a:t>
            </a:r>
            <a:r>
              <a:rPr lang="de-DE" sz="2000" dirty="0" err="1"/>
              <a:t>may</a:t>
            </a:r>
            <a:r>
              <a:rPr lang="de-DE" sz="2000" dirty="0"/>
              <a:t> </a:t>
            </a:r>
            <a:r>
              <a:rPr lang="de-DE" sz="2000" dirty="0" err="1"/>
              <a:t>influence</a:t>
            </a:r>
            <a:r>
              <a:rPr lang="de-DE" sz="2000" dirty="0"/>
              <a:t> </a:t>
            </a:r>
            <a:r>
              <a:rPr lang="de-DE" sz="2000" dirty="0" err="1"/>
              <a:t>electricity</a:t>
            </a:r>
            <a:r>
              <a:rPr lang="de-DE" sz="2000" dirty="0"/>
              <a:t> </a:t>
            </a:r>
            <a:r>
              <a:rPr lang="de-DE" sz="2000" dirty="0" err="1"/>
              <a:t>demand</a:t>
            </a:r>
            <a:r>
              <a:rPr lang="de-DE" sz="2000" dirty="0"/>
              <a:t> </a:t>
            </a:r>
            <a:r>
              <a:rPr lang="de-DE" sz="2000" dirty="0" err="1"/>
              <a:t>by</a:t>
            </a:r>
            <a:r>
              <a:rPr lang="de-DE" sz="2000" dirty="0"/>
              <a:t> </a:t>
            </a:r>
            <a:r>
              <a:rPr lang="de-DE" sz="2000" dirty="0" err="1"/>
              <a:t>changing</a:t>
            </a:r>
            <a:r>
              <a:rPr lang="de-DE" sz="2000" dirty="0"/>
              <a:t> </a:t>
            </a:r>
            <a:r>
              <a:rPr lang="de-DE" sz="2000" dirty="0" err="1"/>
              <a:t>daily</a:t>
            </a:r>
            <a:r>
              <a:rPr lang="de-DE" sz="2000" dirty="0"/>
              <a:t> </a:t>
            </a:r>
            <a:r>
              <a:rPr lang="de-DE" sz="2000" dirty="0" err="1"/>
              <a:t>routines</a:t>
            </a:r>
            <a:r>
              <a:rPr lang="de-DE" sz="2000" dirty="0"/>
              <a:t> and </a:t>
            </a:r>
            <a:r>
              <a:rPr lang="de-DE" sz="2000" dirty="0" err="1"/>
              <a:t>economic</a:t>
            </a:r>
            <a:r>
              <a:rPr lang="de-DE" sz="2000" dirty="0"/>
              <a:t> </a:t>
            </a:r>
            <a:r>
              <a:rPr lang="de-DE" sz="2000" dirty="0" err="1"/>
              <a:t>activity</a:t>
            </a: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r>
              <a:rPr lang="de-DE" sz="2000" dirty="0" err="1"/>
              <a:t>We</a:t>
            </a:r>
            <a:r>
              <a:rPr lang="de-DE" sz="2000" dirty="0"/>
              <a:t> </a:t>
            </a:r>
            <a:r>
              <a:rPr lang="de-DE" sz="2000" dirty="0" err="1"/>
              <a:t>analyze</a:t>
            </a:r>
            <a:r>
              <a:rPr lang="de-DE" sz="2000" dirty="0"/>
              <a:t> </a:t>
            </a:r>
            <a:r>
              <a:rPr lang="de-DE" sz="2000" dirty="0" err="1"/>
              <a:t>Germay</a:t>
            </a:r>
            <a:r>
              <a:rPr lang="de-DE" sz="2000" dirty="0"/>
              <a:t> (2022 – 2025), </a:t>
            </a:r>
            <a:r>
              <a:rPr lang="de-DE" sz="2000" dirty="0" err="1"/>
              <a:t>looking</a:t>
            </a:r>
            <a:r>
              <a:rPr lang="de-DE" sz="2000" dirty="0"/>
              <a:t> at </a:t>
            </a:r>
            <a:r>
              <a:rPr lang="de-DE" sz="2000" dirty="0" err="1"/>
              <a:t>consumption</a:t>
            </a:r>
            <a:r>
              <a:rPr lang="de-DE" sz="2000" dirty="0"/>
              <a:t> and </a:t>
            </a:r>
            <a:r>
              <a:rPr lang="de-DE" sz="2000" dirty="0" err="1"/>
              <a:t>generation</a:t>
            </a:r>
            <a:endParaRPr lang="de-DE" sz="2000" dirty="0"/>
          </a:p>
        </p:txBody>
      </p:sp>
      <p:pic>
        <p:nvPicPr>
          <p:cNvPr id="2050" name="Picture 2" descr="Fachkräfte gesucht – Die Volkswirtschaft">
            <a:extLst>
              <a:ext uri="{FF2B5EF4-FFF2-40B4-BE49-F238E27FC236}">
                <a16:creationId xmlns:a16="http://schemas.microsoft.com/office/drawing/2014/main" id="{A331E147-4BD8-BABF-A592-FD867B1D81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13017" y="7371778"/>
            <a:ext cx="4449161" cy="2464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Full Battery Sticker - Full battery - Discover &amp; Share GIFs">
            <a:extLst>
              <a:ext uri="{FF2B5EF4-FFF2-40B4-BE49-F238E27FC236}">
                <a16:creationId xmlns:a16="http://schemas.microsoft.com/office/drawing/2014/main" id="{7D51FF4D-85F5-B210-CC61-5FBD0450CE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24824" y="6858000"/>
            <a:ext cx="2875638" cy="2875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el 1">
            <a:extLst>
              <a:ext uri="{FF2B5EF4-FFF2-40B4-BE49-F238E27FC236}">
                <a16:creationId xmlns:a16="http://schemas.microsoft.com/office/drawing/2014/main" id="{35636B37-DB12-5C49-9395-69A3E6A75DF4}"/>
              </a:ext>
            </a:extLst>
          </p:cNvPr>
          <p:cNvSpPr txBox="1">
            <a:spLocks/>
          </p:cNvSpPr>
          <p:nvPr/>
        </p:nvSpPr>
        <p:spPr>
          <a:xfrm>
            <a:off x="-104503" y="-2413949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/>
              <a:t>Data Sources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E64FD7AE-09DF-3281-E298-C3272F6836EA}"/>
              </a:ext>
            </a:extLst>
          </p:cNvPr>
          <p:cNvSpPr txBox="1"/>
          <p:nvPr/>
        </p:nvSpPr>
        <p:spPr>
          <a:xfrm>
            <a:off x="12393687" y="1329524"/>
            <a:ext cx="11691021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SMARD</a:t>
            </a:r>
          </a:p>
          <a:p>
            <a:pPr lvl="1"/>
            <a:r>
              <a:rPr lang="de-DE" sz="2000" dirty="0" err="1"/>
              <a:t>Electricity</a:t>
            </a:r>
            <a:r>
              <a:rPr lang="de-DE" sz="2000" dirty="0"/>
              <a:t> </a:t>
            </a:r>
            <a:r>
              <a:rPr lang="de-DE" sz="2000" dirty="0" err="1"/>
              <a:t>consumption</a:t>
            </a:r>
            <a:r>
              <a:rPr lang="de-DE" sz="2000" dirty="0"/>
              <a:t> and </a:t>
            </a:r>
            <a:r>
              <a:rPr lang="de-DE" sz="2000" dirty="0" err="1"/>
              <a:t>electricity</a:t>
            </a:r>
            <a:r>
              <a:rPr lang="de-DE" sz="2000" dirty="0"/>
              <a:t> </a:t>
            </a:r>
            <a:r>
              <a:rPr lang="de-DE" sz="2000" dirty="0" err="1"/>
              <a:t>generation</a:t>
            </a:r>
            <a:r>
              <a:rPr lang="de-DE" sz="2000" dirty="0"/>
              <a:t> </a:t>
            </a:r>
            <a:r>
              <a:rPr lang="de-DE" sz="2000" dirty="0" err="1"/>
              <a:t>data</a:t>
            </a:r>
            <a:r>
              <a:rPr lang="de-DE" sz="2000" dirty="0"/>
              <a:t> </a:t>
            </a:r>
            <a:r>
              <a:rPr lang="de-DE" sz="2000" dirty="0" err="1"/>
              <a:t>for</a:t>
            </a:r>
            <a:r>
              <a:rPr lang="de-DE" sz="2000" dirty="0"/>
              <a:t> Germany and TSO </a:t>
            </a:r>
            <a:r>
              <a:rPr lang="de-DE" sz="2000" dirty="0" err="1"/>
              <a:t>regions</a:t>
            </a:r>
            <a:endParaRPr lang="de-DE" sz="2000" dirty="0"/>
          </a:p>
          <a:p>
            <a:pPr lvl="1"/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Open-Meteo</a:t>
            </a:r>
          </a:p>
          <a:p>
            <a:pPr lvl="1"/>
            <a:r>
              <a:rPr lang="de-DE" sz="2000" dirty="0"/>
              <a:t>Daily </a:t>
            </a:r>
            <a:r>
              <a:rPr lang="de-DE" sz="2000" dirty="0" err="1"/>
              <a:t>weather</a:t>
            </a:r>
            <a:r>
              <a:rPr lang="de-DE" sz="2000" dirty="0"/>
              <a:t> </a:t>
            </a:r>
            <a:r>
              <a:rPr lang="de-DE" sz="2000" dirty="0" err="1"/>
              <a:t>data</a:t>
            </a:r>
            <a:r>
              <a:rPr lang="de-DE" sz="2000" dirty="0"/>
              <a:t> such </a:t>
            </a:r>
            <a:r>
              <a:rPr lang="de-DE" sz="2000" dirty="0" err="1"/>
              <a:t>as</a:t>
            </a:r>
            <a:r>
              <a:rPr lang="de-DE" sz="2000" dirty="0"/>
              <a:t> wind </a:t>
            </a:r>
            <a:r>
              <a:rPr lang="de-DE" sz="2000" dirty="0" err="1"/>
              <a:t>speed</a:t>
            </a:r>
            <a:r>
              <a:rPr lang="de-DE" sz="2000" dirty="0"/>
              <a:t>, maximum </a:t>
            </a:r>
            <a:r>
              <a:rPr lang="de-DE" sz="2000" dirty="0" err="1"/>
              <a:t>temperature</a:t>
            </a:r>
            <a:r>
              <a:rPr lang="de-DE" sz="2000" dirty="0"/>
              <a:t> and </a:t>
            </a:r>
            <a:r>
              <a:rPr lang="de-DE" sz="2000" dirty="0" err="1"/>
              <a:t>precipitation</a:t>
            </a:r>
            <a:endParaRPr lang="de-DE" sz="2000" dirty="0"/>
          </a:p>
          <a:p>
            <a:pPr lvl="1"/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OpenHolidays</a:t>
            </a:r>
            <a:endParaRPr lang="de-DE" sz="2000" dirty="0"/>
          </a:p>
          <a:p>
            <a:pPr lvl="1"/>
            <a:r>
              <a:rPr lang="de-DE" sz="2000" dirty="0"/>
              <a:t>School </a:t>
            </a:r>
            <a:r>
              <a:rPr lang="de-DE" sz="2000" dirty="0" err="1"/>
              <a:t>holiday</a:t>
            </a:r>
            <a:r>
              <a:rPr lang="de-DE" sz="2000" dirty="0"/>
              <a:t> </a:t>
            </a:r>
            <a:r>
              <a:rPr lang="de-DE" sz="2000" dirty="0" err="1"/>
              <a:t>data</a:t>
            </a:r>
            <a:r>
              <a:rPr lang="de-DE" sz="2000" dirty="0"/>
              <a:t> </a:t>
            </a:r>
            <a:r>
              <a:rPr lang="de-DE" sz="2000" dirty="0" err="1"/>
              <a:t>for</a:t>
            </a:r>
            <a:r>
              <a:rPr lang="de-DE" sz="2000" dirty="0"/>
              <a:t> all German </a:t>
            </a:r>
            <a:r>
              <a:rPr lang="de-DE" sz="2000" dirty="0" err="1"/>
              <a:t>federal</a:t>
            </a:r>
            <a:r>
              <a:rPr lang="de-DE" sz="2000" dirty="0"/>
              <a:t> </a:t>
            </a:r>
            <a:r>
              <a:rPr lang="de-DE" sz="2000" dirty="0" err="1"/>
              <a:t>states</a:t>
            </a:r>
            <a:r>
              <a:rPr lang="de-DE" sz="2000" dirty="0"/>
              <a:t>, </a:t>
            </a:r>
            <a:r>
              <a:rPr lang="de-DE" sz="2000" dirty="0" err="1"/>
              <a:t>transformed</a:t>
            </a:r>
            <a:r>
              <a:rPr lang="de-DE" sz="2000" dirty="0"/>
              <a:t> </a:t>
            </a:r>
            <a:r>
              <a:rPr lang="de-DE" sz="2000" dirty="0" err="1"/>
              <a:t>into</a:t>
            </a:r>
            <a:r>
              <a:rPr lang="de-DE" sz="2000" dirty="0"/>
              <a:t> </a:t>
            </a:r>
            <a:r>
              <a:rPr lang="de-DE" sz="2000" dirty="0" err="1"/>
              <a:t>daily</a:t>
            </a:r>
            <a:r>
              <a:rPr lang="de-DE" sz="2000" dirty="0"/>
              <a:t> </a:t>
            </a:r>
            <a:r>
              <a:rPr lang="de-DE" sz="2000" dirty="0" err="1"/>
              <a:t>holiday</a:t>
            </a:r>
            <a:r>
              <a:rPr lang="de-DE" sz="2000" dirty="0"/>
              <a:t> </a:t>
            </a:r>
            <a:r>
              <a:rPr lang="de-DE" sz="2000" dirty="0" err="1"/>
              <a:t>observations</a:t>
            </a:r>
            <a:endParaRPr lang="de-DE" sz="2000" dirty="0"/>
          </a:p>
        </p:txBody>
      </p:sp>
      <p:pic>
        <p:nvPicPr>
          <p:cNvPr id="3074" name="Picture 2" descr="SMARD | SMARD - Market data">
            <a:extLst>
              <a:ext uri="{FF2B5EF4-FFF2-40B4-BE49-F238E27FC236}">
                <a16:creationId xmlns:a16="http://schemas.microsoft.com/office/drawing/2014/main" id="{78152699-C28B-A94A-2D7E-85BA933F1F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021212" y="5263759"/>
            <a:ext cx="3819525" cy="1200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Open Meteo - Horizon OpenAgri">
            <a:extLst>
              <a:ext uri="{FF2B5EF4-FFF2-40B4-BE49-F238E27FC236}">
                <a16:creationId xmlns:a16="http://schemas.microsoft.com/office/drawing/2014/main" id="{63164342-EC6C-56B7-CA6E-2C110A6DD9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52" t="30148" r="18546" b="30330"/>
          <a:stretch>
            <a:fillRect/>
          </a:stretch>
        </p:blipFill>
        <p:spPr bwMode="auto">
          <a:xfrm>
            <a:off x="4753914" y="7371778"/>
            <a:ext cx="2364377" cy="1502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45484E3A-BC97-3002-5DC7-764F5C8440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4020" y="7469436"/>
            <a:ext cx="2528592" cy="653456"/>
          </a:xfrm>
          <a:prstGeom prst="rect">
            <a:avLst/>
          </a:prstGeom>
        </p:spPr>
      </p:pic>
      <p:sp>
        <p:nvSpPr>
          <p:cNvPr id="5" name="Titel 1">
            <a:extLst>
              <a:ext uri="{FF2B5EF4-FFF2-40B4-BE49-F238E27FC236}">
                <a16:creationId xmlns:a16="http://schemas.microsoft.com/office/drawing/2014/main" id="{5ECD07C9-99B5-73A5-0339-4F23E697A15E}"/>
              </a:ext>
            </a:extLst>
          </p:cNvPr>
          <p:cNvSpPr txBox="1">
            <a:spLocks/>
          </p:cNvSpPr>
          <p:nvPr/>
        </p:nvSpPr>
        <p:spPr>
          <a:xfrm>
            <a:off x="0" y="-1291729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/>
              <a:t>Method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1C2686C0-ED82-3E36-CCE2-4E05AEFC475E}"/>
              </a:ext>
            </a:extLst>
          </p:cNvPr>
          <p:cNvSpPr txBox="1"/>
          <p:nvPr/>
        </p:nvSpPr>
        <p:spPr>
          <a:xfrm>
            <a:off x="256069" y="1349467"/>
            <a:ext cx="1193593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All </a:t>
            </a:r>
            <a:r>
              <a:rPr lang="de-DE" sz="2000" dirty="0" err="1"/>
              <a:t>datasets</a:t>
            </a:r>
            <a:r>
              <a:rPr lang="de-DE" sz="2000" dirty="0"/>
              <a:t> </a:t>
            </a:r>
            <a:r>
              <a:rPr lang="de-DE" sz="2000" dirty="0" err="1"/>
              <a:t>were</a:t>
            </a:r>
            <a:r>
              <a:rPr lang="de-DE" sz="2000" dirty="0"/>
              <a:t> </a:t>
            </a:r>
            <a:r>
              <a:rPr lang="de-DE" sz="2000" dirty="0" err="1"/>
              <a:t>converted</a:t>
            </a:r>
            <a:r>
              <a:rPr lang="de-DE" sz="2000" dirty="0"/>
              <a:t> </a:t>
            </a:r>
            <a:r>
              <a:rPr lang="de-DE" sz="2000" dirty="0" err="1"/>
              <a:t>to</a:t>
            </a:r>
            <a:r>
              <a:rPr lang="de-DE" sz="2000" dirty="0"/>
              <a:t> </a:t>
            </a:r>
            <a:r>
              <a:rPr lang="de-DE" sz="2000" dirty="0" err="1"/>
              <a:t>daily</a:t>
            </a:r>
            <a:r>
              <a:rPr lang="de-DE" sz="2000" dirty="0"/>
              <a:t> </a:t>
            </a:r>
            <a:r>
              <a:rPr lang="de-DE" sz="2000" dirty="0" err="1"/>
              <a:t>level</a:t>
            </a:r>
            <a:r>
              <a:rPr lang="de-DE" sz="2000" dirty="0"/>
              <a:t> and </a:t>
            </a:r>
            <a:r>
              <a:rPr lang="de-DE" sz="2000" dirty="0" err="1"/>
              <a:t>merged</a:t>
            </a:r>
            <a:r>
              <a:rPr lang="de-DE" sz="2000" dirty="0"/>
              <a:t> </a:t>
            </a:r>
            <a:r>
              <a:rPr lang="de-DE" sz="2000" dirty="0" err="1"/>
              <a:t>by</a:t>
            </a:r>
            <a:r>
              <a:rPr lang="de-DE" sz="2000" dirty="0"/>
              <a:t> date</a:t>
            </a:r>
          </a:p>
          <a:p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For</a:t>
            </a:r>
            <a:r>
              <a:rPr lang="de-DE" sz="2000" dirty="0"/>
              <a:t> </a:t>
            </a:r>
            <a:r>
              <a:rPr lang="de-DE" sz="2000" dirty="0" err="1"/>
              <a:t>electricity</a:t>
            </a:r>
            <a:r>
              <a:rPr lang="de-DE" sz="2000" dirty="0"/>
              <a:t> </a:t>
            </a:r>
            <a:r>
              <a:rPr lang="de-DE" sz="2000" dirty="0" err="1"/>
              <a:t>consumption</a:t>
            </a:r>
            <a:r>
              <a:rPr lang="de-DE" sz="2000" dirty="0"/>
              <a:t>, </a:t>
            </a:r>
            <a:r>
              <a:rPr lang="de-DE" sz="2000" dirty="0" err="1"/>
              <a:t>we</a:t>
            </a:r>
            <a:r>
              <a:rPr lang="de-DE" sz="2000" dirty="0"/>
              <a:t> </a:t>
            </a:r>
            <a:r>
              <a:rPr lang="de-DE" sz="2000" dirty="0" err="1"/>
              <a:t>compared</a:t>
            </a:r>
            <a:r>
              <a:rPr lang="de-DE" sz="2000" dirty="0"/>
              <a:t> </a:t>
            </a:r>
            <a:r>
              <a:rPr lang="de-DE" sz="2000" dirty="0" err="1"/>
              <a:t>three</a:t>
            </a:r>
            <a:r>
              <a:rPr lang="de-DE" sz="2000" dirty="0"/>
              <a:t> </a:t>
            </a:r>
            <a:r>
              <a:rPr lang="de-DE" sz="2000" dirty="0" err="1"/>
              <a:t>day</a:t>
            </a:r>
            <a:r>
              <a:rPr lang="de-DE" sz="2000" dirty="0"/>
              <a:t> type: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000" dirty="0"/>
              <a:t>Regular Days, </a:t>
            </a:r>
            <a:r>
              <a:rPr lang="de-DE" sz="2000" dirty="0" err="1"/>
              <a:t>Sundays</a:t>
            </a:r>
            <a:r>
              <a:rPr lang="de-DE" sz="2000" dirty="0"/>
              <a:t> and Holidays</a:t>
            </a:r>
          </a:p>
          <a:p>
            <a:pPr lvl="1"/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For</a:t>
            </a:r>
            <a:r>
              <a:rPr lang="de-DE" sz="2000" dirty="0"/>
              <a:t> </a:t>
            </a:r>
            <a:r>
              <a:rPr lang="de-DE" sz="2000" dirty="0" err="1"/>
              <a:t>electricity</a:t>
            </a:r>
            <a:r>
              <a:rPr lang="de-DE" sz="2000" dirty="0"/>
              <a:t> </a:t>
            </a:r>
            <a:r>
              <a:rPr lang="de-DE" sz="2000" dirty="0" err="1"/>
              <a:t>generation</a:t>
            </a:r>
            <a:r>
              <a:rPr lang="de-DE" sz="2000" dirty="0"/>
              <a:t>, </a:t>
            </a:r>
            <a:r>
              <a:rPr lang="de-DE" sz="2000" dirty="0" err="1"/>
              <a:t>we</a:t>
            </a:r>
            <a:r>
              <a:rPr lang="de-DE" sz="2000" dirty="0"/>
              <a:t> </a:t>
            </a:r>
            <a:r>
              <a:rPr lang="de-DE" sz="2000" dirty="0" err="1"/>
              <a:t>examined</a:t>
            </a:r>
            <a:r>
              <a:rPr lang="de-DE" sz="2000" dirty="0"/>
              <a:t> </a:t>
            </a:r>
            <a:r>
              <a:rPr lang="de-DE" sz="2000" dirty="0" err="1"/>
              <a:t>correlations</a:t>
            </a:r>
            <a:r>
              <a:rPr lang="de-DE" sz="2000" dirty="0"/>
              <a:t> </a:t>
            </a:r>
            <a:r>
              <a:rPr lang="de-DE" sz="2000" dirty="0" err="1"/>
              <a:t>between</a:t>
            </a:r>
            <a:r>
              <a:rPr lang="de-DE" sz="2000" dirty="0"/>
              <a:t> </a:t>
            </a:r>
            <a:r>
              <a:rPr lang="de-DE" sz="2000" dirty="0" err="1"/>
              <a:t>weather</a:t>
            </a:r>
            <a:r>
              <a:rPr lang="de-DE" sz="2000" dirty="0"/>
              <a:t>                                variables and </a:t>
            </a:r>
            <a:r>
              <a:rPr lang="de-DE" sz="2000" dirty="0" err="1"/>
              <a:t>renewable</a:t>
            </a:r>
            <a:r>
              <a:rPr lang="de-DE" sz="2000" dirty="0"/>
              <a:t> </a:t>
            </a:r>
            <a:r>
              <a:rPr lang="de-DE" sz="2000" dirty="0" err="1"/>
              <a:t>generation</a:t>
            </a:r>
            <a:r>
              <a:rPr lang="de-DE" sz="2000" dirty="0"/>
              <a:t>, </a:t>
            </a:r>
            <a:r>
              <a:rPr lang="de-DE" sz="2000" dirty="0" err="1"/>
              <a:t>especially</a:t>
            </a:r>
            <a:r>
              <a:rPr lang="de-DE" sz="20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000" dirty="0"/>
              <a:t>wind </a:t>
            </a:r>
            <a:r>
              <a:rPr lang="de-DE" sz="2000" dirty="0" err="1"/>
              <a:t>speed</a:t>
            </a:r>
            <a:r>
              <a:rPr lang="de-DE" sz="2000" dirty="0"/>
              <a:t> – wind </a:t>
            </a:r>
            <a:r>
              <a:rPr lang="de-DE" sz="2000" dirty="0" err="1"/>
              <a:t>generation</a:t>
            </a:r>
            <a:r>
              <a:rPr lang="de-DE" sz="20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Temperature</a:t>
            </a:r>
            <a:r>
              <a:rPr lang="de-DE" sz="2000" dirty="0"/>
              <a:t> / </a:t>
            </a:r>
            <a:r>
              <a:rPr lang="de-DE" sz="2000" dirty="0" err="1"/>
              <a:t>seasonal</a:t>
            </a:r>
            <a:r>
              <a:rPr lang="de-DE" sz="2000" dirty="0"/>
              <a:t> </a:t>
            </a:r>
            <a:r>
              <a:rPr lang="de-DE" sz="2000" dirty="0" err="1"/>
              <a:t>conditions</a:t>
            </a:r>
            <a:r>
              <a:rPr lang="de-DE" sz="2000" dirty="0"/>
              <a:t> – solar </a:t>
            </a:r>
            <a:r>
              <a:rPr lang="de-DE" sz="2000" dirty="0" err="1"/>
              <a:t>generation</a:t>
            </a:r>
            <a:endParaRPr lang="de-DE" sz="2000" dirty="0"/>
          </a:p>
          <a:p>
            <a:pPr lvl="1"/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We</a:t>
            </a:r>
            <a:r>
              <a:rPr lang="de-DE" sz="2000" dirty="0"/>
              <a:t> also </a:t>
            </a:r>
            <a:r>
              <a:rPr lang="de-DE" sz="2000" dirty="0" err="1"/>
              <a:t>conducted</a:t>
            </a:r>
            <a:r>
              <a:rPr lang="de-DE" sz="2000" dirty="0"/>
              <a:t> a regional </a:t>
            </a:r>
            <a:r>
              <a:rPr lang="de-DE" sz="2000" dirty="0" err="1"/>
              <a:t>comparison</a:t>
            </a:r>
            <a:r>
              <a:rPr lang="de-DE" sz="2000" dirty="0"/>
              <a:t> </a:t>
            </a:r>
            <a:r>
              <a:rPr lang="de-DE" sz="2000" dirty="0" err="1"/>
              <a:t>across</a:t>
            </a:r>
            <a:r>
              <a:rPr lang="de-DE" sz="2000" dirty="0"/>
              <a:t> TSO </a:t>
            </a:r>
            <a:r>
              <a:rPr lang="de-DE" sz="2000" dirty="0" err="1"/>
              <a:t>zones</a:t>
            </a:r>
            <a:r>
              <a:rPr lang="de-DE" sz="20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000" dirty="0"/>
              <a:t>50Hertz, Amprion, TenneT and TransnetBW</a:t>
            </a:r>
          </a:p>
        </p:txBody>
      </p:sp>
      <p:pic>
        <p:nvPicPr>
          <p:cNvPr id="5123" name="Picture 3">
            <a:extLst>
              <a:ext uri="{FF2B5EF4-FFF2-40B4-BE49-F238E27FC236}">
                <a16:creationId xmlns:a16="http://schemas.microsoft.com/office/drawing/2014/main" id="{216049EA-5991-1B66-D985-F54BA3A850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9451" y="3452184"/>
            <a:ext cx="3806480" cy="3036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91B964EC-8ABF-02A0-2CF7-F6146B1806C2}"/>
              </a:ext>
            </a:extLst>
          </p:cNvPr>
          <p:cNvSpPr txBox="1">
            <a:spLocks/>
          </p:cNvSpPr>
          <p:nvPr/>
        </p:nvSpPr>
        <p:spPr>
          <a:xfrm>
            <a:off x="-52251" y="-2129970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/>
              <a:t>TSO </a:t>
            </a:r>
            <a:r>
              <a:rPr lang="de-DE" dirty="0" err="1"/>
              <a:t>Zones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870843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133169-7E04-774B-14C0-E4976411B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8A2D57DB-AC45-33EA-B740-A8A63BBB3F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605F4F58-B336-E8CF-3B66-8048C482CB9E}"/>
              </a:ext>
            </a:extLst>
          </p:cNvPr>
          <p:cNvSpPr txBox="1">
            <a:spLocks/>
          </p:cNvSpPr>
          <p:nvPr/>
        </p:nvSpPr>
        <p:spPr>
          <a:xfrm>
            <a:off x="-104503" y="-2360552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/>
              <a:t>Research Goal</a:t>
            </a:r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5FE6D955-B943-F34F-723B-E24FB5634ACB}"/>
              </a:ext>
            </a:extLst>
          </p:cNvPr>
          <p:cNvSpPr txBox="1">
            <a:spLocks/>
          </p:cNvSpPr>
          <p:nvPr/>
        </p:nvSpPr>
        <p:spPr>
          <a:xfrm>
            <a:off x="-104503" y="-2413949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/>
              <a:t>Data Sources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54D65BBC-8EB6-96FA-45A1-FE1157D1AF30}"/>
              </a:ext>
            </a:extLst>
          </p:cNvPr>
          <p:cNvSpPr txBox="1">
            <a:spLocks/>
          </p:cNvSpPr>
          <p:nvPr/>
        </p:nvSpPr>
        <p:spPr>
          <a:xfrm>
            <a:off x="40051" y="-2295152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/>
              <a:t>Method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5637FB0-4BD1-4FAF-DEBA-7234E10C20C6}"/>
              </a:ext>
            </a:extLst>
          </p:cNvPr>
          <p:cNvSpPr txBox="1"/>
          <p:nvPr/>
        </p:nvSpPr>
        <p:spPr>
          <a:xfrm>
            <a:off x="-12153645" y="1797224"/>
            <a:ext cx="1193593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All </a:t>
            </a:r>
            <a:r>
              <a:rPr lang="de-DE" sz="2000" dirty="0" err="1"/>
              <a:t>datasets</a:t>
            </a:r>
            <a:r>
              <a:rPr lang="de-DE" sz="2000" dirty="0"/>
              <a:t> </a:t>
            </a:r>
            <a:r>
              <a:rPr lang="de-DE" sz="2000" dirty="0" err="1"/>
              <a:t>were</a:t>
            </a:r>
            <a:r>
              <a:rPr lang="de-DE" sz="2000" dirty="0"/>
              <a:t> </a:t>
            </a:r>
            <a:r>
              <a:rPr lang="de-DE" sz="2000" dirty="0" err="1"/>
              <a:t>converted</a:t>
            </a:r>
            <a:r>
              <a:rPr lang="de-DE" sz="2000" dirty="0"/>
              <a:t> </a:t>
            </a:r>
            <a:r>
              <a:rPr lang="de-DE" sz="2000" dirty="0" err="1"/>
              <a:t>to</a:t>
            </a:r>
            <a:r>
              <a:rPr lang="de-DE" sz="2000" dirty="0"/>
              <a:t> </a:t>
            </a:r>
            <a:r>
              <a:rPr lang="de-DE" sz="2000" dirty="0" err="1"/>
              <a:t>daily</a:t>
            </a:r>
            <a:r>
              <a:rPr lang="de-DE" sz="2000" dirty="0"/>
              <a:t> </a:t>
            </a:r>
            <a:r>
              <a:rPr lang="de-DE" sz="2000" dirty="0" err="1"/>
              <a:t>level</a:t>
            </a:r>
            <a:r>
              <a:rPr lang="de-DE" sz="2000" dirty="0"/>
              <a:t> and </a:t>
            </a:r>
            <a:r>
              <a:rPr lang="de-DE" sz="2000" dirty="0" err="1"/>
              <a:t>merged</a:t>
            </a:r>
            <a:r>
              <a:rPr lang="de-DE" sz="2000" dirty="0"/>
              <a:t> </a:t>
            </a:r>
            <a:r>
              <a:rPr lang="de-DE" sz="2000" dirty="0" err="1"/>
              <a:t>by</a:t>
            </a:r>
            <a:r>
              <a:rPr lang="de-DE" sz="2000" dirty="0"/>
              <a:t> date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For</a:t>
            </a:r>
            <a:r>
              <a:rPr lang="de-DE" sz="2000" dirty="0"/>
              <a:t> </a:t>
            </a:r>
            <a:r>
              <a:rPr lang="de-DE" sz="2000" dirty="0" err="1"/>
              <a:t>electricity</a:t>
            </a:r>
            <a:r>
              <a:rPr lang="de-DE" sz="2000" dirty="0"/>
              <a:t> </a:t>
            </a:r>
            <a:r>
              <a:rPr lang="de-DE" sz="2000" dirty="0" err="1"/>
              <a:t>consumption</a:t>
            </a:r>
            <a:r>
              <a:rPr lang="de-DE" sz="2000" dirty="0"/>
              <a:t>, </a:t>
            </a:r>
            <a:r>
              <a:rPr lang="de-DE" sz="2000" dirty="0" err="1"/>
              <a:t>we</a:t>
            </a:r>
            <a:r>
              <a:rPr lang="de-DE" sz="2000" dirty="0"/>
              <a:t> </a:t>
            </a:r>
            <a:r>
              <a:rPr lang="de-DE" sz="2000" dirty="0" err="1"/>
              <a:t>compared</a:t>
            </a:r>
            <a:r>
              <a:rPr lang="de-DE" sz="2000" dirty="0"/>
              <a:t> </a:t>
            </a:r>
            <a:r>
              <a:rPr lang="de-DE" sz="2000" dirty="0" err="1"/>
              <a:t>three</a:t>
            </a:r>
            <a:r>
              <a:rPr lang="de-DE" sz="2000" dirty="0"/>
              <a:t> </a:t>
            </a:r>
            <a:r>
              <a:rPr lang="de-DE" sz="2000" dirty="0" err="1"/>
              <a:t>day</a:t>
            </a:r>
            <a:r>
              <a:rPr lang="de-DE" sz="2000" dirty="0"/>
              <a:t> type: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000" dirty="0"/>
              <a:t>Regular Days, </a:t>
            </a:r>
            <a:r>
              <a:rPr lang="de-DE" sz="2000" dirty="0" err="1"/>
              <a:t>Sundays</a:t>
            </a:r>
            <a:r>
              <a:rPr lang="de-DE" sz="2000" dirty="0"/>
              <a:t> and Holidays</a:t>
            </a:r>
          </a:p>
          <a:p>
            <a:pPr lvl="1"/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For</a:t>
            </a:r>
            <a:r>
              <a:rPr lang="de-DE" sz="2000" dirty="0"/>
              <a:t> </a:t>
            </a:r>
            <a:r>
              <a:rPr lang="de-DE" sz="2000" dirty="0" err="1"/>
              <a:t>electricity</a:t>
            </a:r>
            <a:r>
              <a:rPr lang="de-DE" sz="2000" dirty="0"/>
              <a:t> </a:t>
            </a:r>
            <a:r>
              <a:rPr lang="de-DE" sz="2000" dirty="0" err="1"/>
              <a:t>generation</a:t>
            </a:r>
            <a:r>
              <a:rPr lang="de-DE" sz="2000" dirty="0"/>
              <a:t>, </a:t>
            </a:r>
            <a:r>
              <a:rPr lang="de-DE" sz="2000" dirty="0" err="1"/>
              <a:t>we</a:t>
            </a:r>
            <a:r>
              <a:rPr lang="de-DE" sz="2000" dirty="0"/>
              <a:t> </a:t>
            </a:r>
            <a:r>
              <a:rPr lang="de-DE" sz="2000" dirty="0" err="1"/>
              <a:t>examined</a:t>
            </a:r>
            <a:r>
              <a:rPr lang="de-DE" sz="2000" dirty="0"/>
              <a:t> </a:t>
            </a:r>
            <a:r>
              <a:rPr lang="de-DE" sz="2000" dirty="0" err="1"/>
              <a:t>correlations</a:t>
            </a:r>
            <a:r>
              <a:rPr lang="de-DE" sz="2000" dirty="0"/>
              <a:t> </a:t>
            </a:r>
            <a:r>
              <a:rPr lang="de-DE" sz="2000" dirty="0" err="1"/>
              <a:t>between</a:t>
            </a:r>
            <a:r>
              <a:rPr lang="de-DE" sz="2000" dirty="0"/>
              <a:t> </a:t>
            </a:r>
            <a:r>
              <a:rPr lang="de-DE" sz="2000" dirty="0" err="1"/>
              <a:t>weather</a:t>
            </a:r>
            <a:r>
              <a:rPr lang="de-DE" sz="2000" dirty="0"/>
              <a:t> variables and </a:t>
            </a:r>
            <a:r>
              <a:rPr lang="de-DE" sz="2000" dirty="0" err="1"/>
              <a:t>renewable</a:t>
            </a:r>
            <a:r>
              <a:rPr lang="de-DE" sz="2000" dirty="0"/>
              <a:t> </a:t>
            </a:r>
            <a:r>
              <a:rPr lang="de-DE" sz="2000" dirty="0" err="1"/>
              <a:t>generation</a:t>
            </a:r>
            <a:r>
              <a:rPr lang="de-DE" sz="2000" dirty="0"/>
              <a:t>, </a:t>
            </a:r>
            <a:r>
              <a:rPr lang="de-DE" sz="2000" dirty="0" err="1"/>
              <a:t>especially</a:t>
            </a:r>
            <a:r>
              <a:rPr lang="de-DE" sz="20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000" dirty="0"/>
              <a:t>wind </a:t>
            </a:r>
            <a:r>
              <a:rPr lang="de-DE" sz="2000" dirty="0" err="1"/>
              <a:t>speed</a:t>
            </a:r>
            <a:r>
              <a:rPr lang="de-DE" sz="2000" dirty="0"/>
              <a:t> – wind </a:t>
            </a:r>
            <a:r>
              <a:rPr lang="de-DE" sz="2000" dirty="0" err="1"/>
              <a:t>generation</a:t>
            </a:r>
            <a:r>
              <a:rPr lang="de-DE" sz="20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Temperature</a:t>
            </a:r>
            <a:r>
              <a:rPr lang="de-DE" sz="2000" dirty="0"/>
              <a:t> / </a:t>
            </a:r>
            <a:r>
              <a:rPr lang="de-DE" sz="2000" dirty="0" err="1"/>
              <a:t>seasonal</a:t>
            </a:r>
            <a:r>
              <a:rPr lang="de-DE" sz="2000" dirty="0"/>
              <a:t> </a:t>
            </a:r>
            <a:r>
              <a:rPr lang="de-DE" sz="2000" dirty="0" err="1"/>
              <a:t>conditions</a:t>
            </a:r>
            <a:r>
              <a:rPr lang="de-DE" sz="2000" dirty="0"/>
              <a:t> – solar </a:t>
            </a:r>
            <a:r>
              <a:rPr lang="de-DE" sz="2000" dirty="0" err="1"/>
              <a:t>generation</a:t>
            </a:r>
            <a:endParaRPr lang="de-DE" sz="2000" dirty="0"/>
          </a:p>
          <a:p>
            <a:pPr lvl="1"/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We</a:t>
            </a:r>
            <a:r>
              <a:rPr lang="de-DE" sz="2000" dirty="0"/>
              <a:t> also </a:t>
            </a:r>
            <a:r>
              <a:rPr lang="de-DE" sz="2000" dirty="0" err="1"/>
              <a:t>conducted</a:t>
            </a:r>
            <a:r>
              <a:rPr lang="de-DE" sz="2000" dirty="0"/>
              <a:t> a regional </a:t>
            </a:r>
            <a:r>
              <a:rPr lang="de-DE" sz="2000" dirty="0" err="1"/>
              <a:t>comparison</a:t>
            </a:r>
            <a:r>
              <a:rPr lang="de-DE" sz="2000" dirty="0"/>
              <a:t> </a:t>
            </a:r>
            <a:r>
              <a:rPr lang="de-DE" sz="2000" dirty="0" err="1"/>
              <a:t>across</a:t>
            </a:r>
            <a:r>
              <a:rPr lang="de-DE" sz="2000" dirty="0"/>
              <a:t> TSO </a:t>
            </a:r>
            <a:r>
              <a:rPr lang="de-DE" sz="2000" dirty="0" err="1"/>
              <a:t>zones</a:t>
            </a:r>
            <a:r>
              <a:rPr lang="de-DE" sz="20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000" dirty="0"/>
              <a:t>50Hertz, Amprion, TenneT and TransnetBW</a:t>
            </a:r>
          </a:p>
        </p:txBody>
      </p:sp>
      <p:pic>
        <p:nvPicPr>
          <p:cNvPr id="5123" name="Picture 3">
            <a:extLst>
              <a:ext uri="{FF2B5EF4-FFF2-40B4-BE49-F238E27FC236}">
                <a16:creationId xmlns:a16="http://schemas.microsoft.com/office/drawing/2014/main" id="{9E1D4DA8-2D8A-9461-1F80-CEF485938F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0583" y="735085"/>
            <a:ext cx="6753497" cy="5387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el 1">
            <a:extLst>
              <a:ext uri="{FF2B5EF4-FFF2-40B4-BE49-F238E27FC236}">
                <a16:creationId xmlns:a16="http://schemas.microsoft.com/office/drawing/2014/main" id="{B90AF08D-CB17-4B3B-8467-79378EAC6A5E}"/>
              </a:ext>
            </a:extLst>
          </p:cNvPr>
          <p:cNvSpPr txBox="1">
            <a:spLocks/>
          </p:cNvSpPr>
          <p:nvPr/>
        </p:nvSpPr>
        <p:spPr>
          <a:xfrm>
            <a:off x="113211" y="-1506670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/>
              <a:t>TSO </a:t>
            </a:r>
            <a:r>
              <a:rPr lang="de-DE" dirty="0" err="1"/>
              <a:t>Zones</a:t>
            </a:r>
            <a:endParaRPr lang="de-DE" dirty="0"/>
          </a:p>
        </p:txBody>
      </p:sp>
      <p:pic>
        <p:nvPicPr>
          <p:cNvPr id="13" name="Picture 4" descr="Boy Sleeping GIFs | Tenor">
            <a:extLst>
              <a:ext uri="{FF2B5EF4-FFF2-40B4-BE49-F238E27FC236}">
                <a16:creationId xmlns:a16="http://schemas.microsoft.com/office/drawing/2014/main" id="{B7264709-3186-B0DE-1FD2-002189C28F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07920" y="4762500"/>
            <a:ext cx="2095500" cy="209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C5E67625-AEBB-883A-B52F-23A0D0A9FBD0}"/>
              </a:ext>
            </a:extLst>
          </p:cNvPr>
          <p:cNvSpPr txBox="1"/>
          <p:nvPr/>
        </p:nvSpPr>
        <p:spPr>
          <a:xfrm>
            <a:off x="256069" y="6976797"/>
            <a:ext cx="1193593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Electricity</a:t>
            </a:r>
            <a:r>
              <a:rPr lang="de-DE" sz="2000" dirty="0"/>
              <a:t> </a:t>
            </a:r>
            <a:r>
              <a:rPr lang="de-DE" sz="2000" dirty="0" err="1"/>
              <a:t>consumption</a:t>
            </a:r>
            <a:r>
              <a:rPr lang="de-DE" sz="2000" dirty="0"/>
              <a:t> </a:t>
            </a:r>
            <a:r>
              <a:rPr lang="de-DE" sz="2000" dirty="0" err="1"/>
              <a:t>lowest</a:t>
            </a:r>
            <a:r>
              <a:rPr lang="de-DE" sz="2000" dirty="0"/>
              <a:t> on </a:t>
            </a:r>
            <a:r>
              <a:rPr lang="de-DE" sz="2000" dirty="0" err="1"/>
              <a:t>holiday-period</a:t>
            </a:r>
            <a:r>
              <a:rPr lang="de-DE" sz="2000" dirty="0"/>
              <a:t> </a:t>
            </a:r>
            <a:r>
              <a:rPr lang="de-DE" sz="2000" dirty="0" err="1"/>
              <a:t>days</a:t>
            </a: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Regular </a:t>
            </a:r>
            <a:r>
              <a:rPr lang="de-DE" sz="2000" dirty="0" err="1"/>
              <a:t>working</a:t>
            </a:r>
            <a:r>
              <a:rPr lang="de-DE" sz="2000" dirty="0"/>
              <a:t> </a:t>
            </a:r>
            <a:r>
              <a:rPr lang="de-DE" sz="2000" dirty="0" err="1"/>
              <a:t>days</a:t>
            </a:r>
            <a:r>
              <a:rPr lang="de-DE" sz="2000" dirty="0"/>
              <a:t> </a:t>
            </a:r>
            <a:r>
              <a:rPr lang="de-DE" sz="2000" dirty="0" err="1"/>
              <a:t>show</a:t>
            </a:r>
            <a:r>
              <a:rPr lang="de-DE" sz="2000" dirty="0"/>
              <a:t> </a:t>
            </a:r>
            <a:r>
              <a:rPr lang="de-DE" sz="2000" dirty="0" err="1"/>
              <a:t>higher</a:t>
            </a:r>
            <a:r>
              <a:rPr lang="de-DE" sz="2000" dirty="0"/>
              <a:t> </a:t>
            </a:r>
            <a:r>
              <a:rPr lang="de-DE" sz="2000" dirty="0" err="1"/>
              <a:t>average</a:t>
            </a:r>
            <a:r>
              <a:rPr lang="de-DE" sz="2000" dirty="0"/>
              <a:t> </a:t>
            </a:r>
            <a:r>
              <a:rPr lang="de-DE" sz="2000" dirty="0" err="1"/>
              <a:t>consumption</a:t>
            </a: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Sundays</a:t>
            </a:r>
            <a:r>
              <a:rPr lang="de-DE" sz="2000" dirty="0"/>
              <a:t> </a:t>
            </a:r>
            <a:r>
              <a:rPr lang="de-DE" sz="2000" dirty="0" err="1"/>
              <a:t>are</a:t>
            </a:r>
            <a:r>
              <a:rPr lang="de-DE" sz="2000" dirty="0"/>
              <a:t> also </a:t>
            </a:r>
            <a:r>
              <a:rPr lang="de-DE" sz="2000" dirty="0" err="1"/>
              <a:t>lower</a:t>
            </a:r>
            <a:r>
              <a:rPr lang="de-DE" sz="2000" dirty="0"/>
              <a:t> </a:t>
            </a:r>
            <a:r>
              <a:rPr lang="de-DE" sz="2000" dirty="0" err="1"/>
              <a:t>than</a:t>
            </a:r>
            <a:r>
              <a:rPr lang="de-DE" sz="2000" dirty="0"/>
              <a:t> </a:t>
            </a:r>
            <a:r>
              <a:rPr lang="de-DE" sz="2000" dirty="0" err="1"/>
              <a:t>regular</a:t>
            </a:r>
            <a:r>
              <a:rPr lang="de-DE" sz="2000" dirty="0"/>
              <a:t> </a:t>
            </a:r>
            <a:r>
              <a:rPr lang="de-DE" sz="2000" dirty="0" err="1"/>
              <a:t>days</a:t>
            </a:r>
            <a:r>
              <a:rPr lang="de-DE" sz="2000" dirty="0"/>
              <a:t>, but in </a:t>
            </a:r>
            <a:r>
              <a:rPr lang="de-DE" sz="2000" dirty="0" err="1"/>
              <a:t>our</a:t>
            </a:r>
            <a:r>
              <a:rPr lang="de-DE" sz="2000" dirty="0"/>
              <a:t> </a:t>
            </a:r>
            <a:r>
              <a:rPr lang="de-DE" sz="2000" dirty="0" err="1"/>
              <a:t>data</a:t>
            </a:r>
            <a:r>
              <a:rPr lang="de-DE" sz="2000" dirty="0"/>
              <a:t> </a:t>
            </a:r>
            <a:r>
              <a:rPr lang="de-DE" sz="2000" dirty="0" err="1"/>
              <a:t>the</a:t>
            </a:r>
            <a:r>
              <a:rPr lang="de-DE" sz="2000" dirty="0"/>
              <a:t> </a:t>
            </a:r>
            <a:r>
              <a:rPr lang="de-DE" sz="2000" dirty="0" err="1"/>
              <a:t>strongest</a:t>
            </a:r>
            <a:r>
              <a:rPr lang="de-DE" sz="2000" dirty="0"/>
              <a:t> </a:t>
            </a:r>
            <a:r>
              <a:rPr lang="de-DE" sz="2000" dirty="0" err="1"/>
              <a:t>reduction</a:t>
            </a:r>
            <a:r>
              <a:rPr lang="de-DE" sz="2000" dirty="0"/>
              <a:t> </a:t>
            </a:r>
            <a:r>
              <a:rPr lang="de-DE" sz="2000" dirty="0" err="1"/>
              <a:t>appears</a:t>
            </a:r>
            <a:r>
              <a:rPr lang="de-DE" sz="2000" dirty="0"/>
              <a:t> </a:t>
            </a:r>
            <a:r>
              <a:rPr lang="de-DE" sz="2000" dirty="0" err="1"/>
              <a:t>during</a:t>
            </a:r>
            <a:r>
              <a:rPr lang="de-DE" sz="2000" dirty="0"/>
              <a:t> </a:t>
            </a:r>
            <a:r>
              <a:rPr lang="de-DE" sz="2000" dirty="0" err="1"/>
              <a:t>holiday</a:t>
            </a:r>
            <a:r>
              <a:rPr lang="de-DE" sz="2000" dirty="0"/>
              <a:t> </a:t>
            </a:r>
            <a:r>
              <a:rPr lang="de-DE" sz="2000" dirty="0" err="1"/>
              <a:t>periods</a:t>
            </a: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This </a:t>
            </a:r>
            <a:r>
              <a:rPr lang="de-DE" sz="2000" dirty="0" err="1"/>
              <a:t>suggests</a:t>
            </a:r>
            <a:r>
              <a:rPr lang="de-DE" sz="2000" dirty="0"/>
              <a:t> </a:t>
            </a:r>
            <a:r>
              <a:rPr lang="de-DE" sz="2000" dirty="0" err="1"/>
              <a:t>that</a:t>
            </a:r>
            <a:r>
              <a:rPr lang="de-DE" sz="2000" dirty="0"/>
              <a:t> </a:t>
            </a:r>
            <a:r>
              <a:rPr lang="de-DE" sz="2000" dirty="0" err="1"/>
              <a:t>changes</a:t>
            </a:r>
            <a:r>
              <a:rPr lang="de-DE" sz="2000" dirty="0"/>
              <a:t> in </a:t>
            </a:r>
            <a:r>
              <a:rPr lang="de-DE" sz="2000" dirty="0" err="1"/>
              <a:t>routines</a:t>
            </a:r>
            <a:r>
              <a:rPr lang="de-DE" sz="2000" dirty="0"/>
              <a:t>, </a:t>
            </a:r>
            <a:r>
              <a:rPr lang="de-DE" sz="2000" dirty="0" err="1"/>
              <a:t>mobility</a:t>
            </a:r>
            <a:r>
              <a:rPr lang="de-DE" sz="2000" dirty="0"/>
              <a:t> and </a:t>
            </a:r>
            <a:r>
              <a:rPr lang="de-DE" sz="2000" dirty="0" err="1"/>
              <a:t>economic</a:t>
            </a:r>
            <a:r>
              <a:rPr lang="de-DE" sz="2000" dirty="0"/>
              <a:t> </a:t>
            </a:r>
            <a:r>
              <a:rPr lang="de-DE" sz="2000" dirty="0" err="1"/>
              <a:t>activity</a:t>
            </a:r>
            <a:r>
              <a:rPr lang="de-DE" sz="2000" dirty="0"/>
              <a:t> </a:t>
            </a:r>
            <a:r>
              <a:rPr lang="de-DE" sz="2000" dirty="0" err="1"/>
              <a:t>influence</a:t>
            </a:r>
            <a:r>
              <a:rPr lang="de-DE" sz="2000" dirty="0"/>
              <a:t> </a:t>
            </a:r>
            <a:r>
              <a:rPr lang="de-DE" sz="2000" dirty="0" err="1"/>
              <a:t>electricity</a:t>
            </a:r>
            <a:r>
              <a:rPr lang="de-DE" sz="2000" dirty="0"/>
              <a:t> </a:t>
            </a:r>
            <a:r>
              <a:rPr lang="de-DE" sz="2000" dirty="0" err="1"/>
              <a:t>demand</a:t>
            </a:r>
            <a:endParaRPr lang="de-DE" sz="200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62BC505-B4B7-D6FE-A8B9-7D57D73A6503}"/>
              </a:ext>
            </a:extLst>
          </p:cNvPr>
          <p:cNvSpPr txBox="1">
            <a:spLocks/>
          </p:cNvSpPr>
          <p:nvPr/>
        </p:nvSpPr>
        <p:spPr>
          <a:xfrm>
            <a:off x="-7654342" y="1971865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sz="2400" dirty="0" err="1"/>
              <a:t>To</a:t>
            </a:r>
            <a:r>
              <a:rPr lang="de-DE" sz="2400" dirty="0"/>
              <a:t> </a:t>
            </a:r>
            <a:r>
              <a:rPr lang="de-DE" sz="2400" dirty="0" err="1"/>
              <a:t>what</a:t>
            </a:r>
            <a:r>
              <a:rPr lang="de-DE" sz="2400" dirty="0"/>
              <a:t> </a:t>
            </a:r>
            <a:r>
              <a:rPr lang="de-DE" sz="2400" dirty="0" err="1"/>
              <a:t>extent</a:t>
            </a:r>
            <a:r>
              <a:rPr lang="de-DE" sz="2400" dirty="0"/>
              <a:t> do </a:t>
            </a:r>
            <a:r>
              <a:rPr lang="de-DE" sz="2400" dirty="0" err="1"/>
              <a:t>holiday</a:t>
            </a:r>
            <a:r>
              <a:rPr lang="de-DE" sz="2400" dirty="0"/>
              <a:t> </a:t>
            </a:r>
            <a:r>
              <a:rPr lang="de-DE" sz="2400" dirty="0" err="1"/>
              <a:t>periods</a:t>
            </a:r>
            <a:r>
              <a:rPr lang="de-DE" sz="2400" dirty="0"/>
              <a:t> </a:t>
            </a:r>
            <a:r>
              <a:rPr lang="de-DE" sz="2400" dirty="0" err="1"/>
              <a:t>influence</a:t>
            </a:r>
            <a:r>
              <a:rPr lang="de-DE" sz="2400" dirty="0"/>
              <a:t> </a:t>
            </a:r>
            <a:r>
              <a:rPr lang="de-DE" sz="2400" dirty="0" err="1"/>
              <a:t>daily</a:t>
            </a:r>
            <a:r>
              <a:rPr lang="de-DE" sz="2400" dirty="0"/>
              <a:t> </a:t>
            </a:r>
            <a:r>
              <a:rPr lang="de-DE" sz="2400" dirty="0" err="1"/>
              <a:t>electricity</a:t>
            </a:r>
            <a:r>
              <a:rPr lang="de-DE" sz="2400" dirty="0"/>
              <a:t> </a:t>
            </a:r>
            <a:r>
              <a:rPr lang="de-DE" sz="2400" dirty="0" err="1"/>
              <a:t>consumption</a:t>
            </a:r>
            <a:r>
              <a:rPr lang="de-DE" sz="2400" dirty="0"/>
              <a:t> in </a:t>
            </a:r>
            <a:r>
              <a:rPr lang="de-DE" sz="2400" dirty="0" err="1"/>
              <a:t>germany</a:t>
            </a:r>
            <a:r>
              <a:rPr lang="de-DE" sz="2400" dirty="0"/>
              <a:t>?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F25447C-CE08-4C7D-FCE8-0C63E84BCC2F}"/>
              </a:ext>
            </a:extLst>
          </p:cNvPr>
          <p:cNvSpPr txBox="1"/>
          <p:nvPr/>
        </p:nvSpPr>
        <p:spPr>
          <a:xfrm>
            <a:off x="113211" y="6976797"/>
            <a:ext cx="1193593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Lowest</a:t>
            </a:r>
            <a:r>
              <a:rPr lang="de-DE" sz="2000" dirty="0"/>
              <a:t> </a:t>
            </a:r>
            <a:r>
              <a:rPr lang="de-DE" sz="2000" dirty="0" err="1"/>
              <a:t>consumption</a:t>
            </a:r>
            <a:r>
              <a:rPr lang="de-DE" sz="2000" dirty="0"/>
              <a:t> on </a:t>
            </a:r>
            <a:r>
              <a:rPr lang="de-DE" sz="2000" dirty="0" err="1"/>
              <a:t>holiday-period</a:t>
            </a:r>
            <a:r>
              <a:rPr lang="de-DE" sz="2000" dirty="0"/>
              <a:t> </a:t>
            </a:r>
            <a:r>
              <a:rPr lang="de-DE" sz="2000" dirty="0" err="1"/>
              <a:t>days</a:t>
            </a:r>
            <a:endParaRPr lang="de-DE" sz="2000" dirty="0"/>
          </a:p>
          <a:p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Higher </a:t>
            </a:r>
            <a:r>
              <a:rPr lang="de-DE" sz="2000" dirty="0" err="1"/>
              <a:t>average</a:t>
            </a:r>
            <a:r>
              <a:rPr lang="de-DE" sz="2000" dirty="0"/>
              <a:t> </a:t>
            </a:r>
            <a:r>
              <a:rPr lang="de-DE" sz="2000" dirty="0" err="1"/>
              <a:t>consumption</a:t>
            </a:r>
            <a:r>
              <a:rPr lang="de-DE" sz="2000" dirty="0"/>
              <a:t> on </a:t>
            </a:r>
            <a:r>
              <a:rPr lang="de-DE" sz="2000" dirty="0" err="1"/>
              <a:t>regular</a:t>
            </a:r>
            <a:r>
              <a:rPr lang="de-DE" sz="2000" dirty="0"/>
              <a:t> </a:t>
            </a:r>
            <a:r>
              <a:rPr lang="de-DE" sz="2000" dirty="0" err="1"/>
              <a:t>working</a:t>
            </a:r>
            <a:r>
              <a:rPr lang="de-DE" sz="2000" dirty="0"/>
              <a:t> </a:t>
            </a:r>
            <a:r>
              <a:rPr lang="de-DE" sz="2000" dirty="0" err="1"/>
              <a:t>days</a:t>
            </a: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Sundays</a:t>
            </a:r>
            <a:r>
              <a:rPr lang="de-DE" sz="2000" dirty="0"/>
              <a:t> </a:t>
            </a:r>
            <a:r>
              <a:rPr lang="de-DE" sz="2000" dirty="0" err="1"/>
              <a:t>are</a:t>
            </a:r>
            <a:r>
              <a:rPr lang="de-DE" sz="2000" dirty="0"/>
              <a:t> </a:t>
            </a:r>
            <a:r>
              <a:rPr lang="de-DE" sz="2000" dirty="0" err="1"/>
              <a:t>lower</a:t>
            </a:r>
            <a:r>
              <a:rPr lang="de-DE" sz="2000" dirty="0"/>
              <a:t> </a:t>
            </a:r>
            <a:r>
              <a:rPr lang="de-DE" sz="2000" dirty="0" err="1"/>
              <a:t>too</a:t>
            </a:r>
            <a:r>
              <a:rPr lang="de-DE" sz="2000" dirty="0"/>
              <a:t>, but </a:t>
            </a:r>
            <a:r>
              <a:rPr lang="de-DE" sz="2000" dirty="0" err="1"/>
              <a:t>holiday</a:t>
            </a:r>
            <a:r>
              <a:rPr lang="de-DE" sz="2000" dirty="0"/>
              <a:t> </a:t>
            </a:r>
            <a:r>
              <a:rPr lang="de-DE" sz="2000" dirty="0" err="1"/>
              <a:t>periods</a:t>
            </a:r>
            <a:r>
              <a:rPr lang="de-DE" sz="2000" dirty="0"/>
              <a:t> </a:t>
            </a:r>
            <a:r>
              <a:rPr lang="de-DE" sz="2000" dirty="0" err="1"/>
              <a:t>show</a:t>
            </a:r>
            <a:r>
              <a:rPr lang="de-DE" sz="2000" dirty="0"/>
              <a:t> </a:t>
            </a:r>
            <a:r>
              <a:rPr lang="de-DE" sz="2000" dirty="0" err="1"/>
              <a:t>the</a:t>
            </a:r>
            <a:r>
              <a:rPr lang="de-DE" sz="2000" dirty="0"/>
              <a:t> </a:t>
            </a:r>
            <a:r>
              <a:rPr lang="de-DE" sz="2000" dirty="0" err="1"/>
              <a:t>strongest</a:t>
            </a:r>
            <a:r>
              <a:rPr lang="de-DE" sz="2000" dirty="0"/>
              <a:t> </a:t>
            </a:r>
            <a:r>
              <a:rPr lang="de-DE" sz="2000" dirty="0" err="1"/>
              <a:t>reduction</a:t>
            </a: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Suggest</a:t>
            </a:r>
            <a:r>
              <a:rPr lang="de-DE" sz="2000" dirty="0"/>
              <a:t> </a:t>
            </a:r>
            <a:r>
              <a:rPr lang="de-DE" sz="2000" dirty="0" err="1"/>
              <a:t>that</a:t>
            </a:r>
            <a:r>
              <a:rPr lang="de-DE" sz="2000" dirty="0"/>
              <a:t> </a:t>
            </a:r>
            <a:r>
              <a:rPr lang="de-DE" sz="2000" dirty="0" err="1"/>
              <a:t>routines</a:t>
            </a:r>
            <a:r>
              <a:rPr lang="de-DE" sz="2000" dirty="0"/>
              <a:t> and </a:t>
            </a:r>
            <a:r>
              <a:rPr lang="de-DE" sz="2000" dirty="0" err="1"/>
              <a:t>economic</a:t>
            </a:r>
            <a:r>
              <a:rPr lang="de-DE" sz="2000" dirty="0"/>
              <a:t> </a:t>
            </a:r>
            <a:r>
              <a:rPr lang="de-DE" sz="2000" dirty="0" err="1"/>
              <a:t>activity</a:t>
            </a:r>
            <a:r>
              <a:rPr lang="de-DE" sz="2000" dirty="0"/>
              <a:t> </a:t>
            </a:r>
            <a:r>
              <a:rPr lang="de-DE" sz="2000" dirty="0" err="1"/>
              <a:t>affect</a:t>
            </a:r>
            <a:r>
              <a:rPr lang="de-DE" sz="2000" dirty="0"/>
              <a:t> </a:t>
            </a:r>
            <a:r>
              <a:rPr lang="de-DE" sz="2000" dirty="0" err="1"/>
              <a:t>demand</a:t>
            </a:r>
            <a:endParaRPr lang="de-DE" sz="2000" dirty="0"/>
          </a:p>
        </p:txBody>
      </p:sp>
    </p:spTree>
    <p:extLst>
      <p:ext uri="{BB962C8B-B14F-4D97-AF65-F5344CB8AC3E}">
        <p14:creationId xmlns:p14="http://schemas.microsoft.com/office/powerpoint/2010/main" val="34843476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B08444-1828-8356-28A4-044706F82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CD5780EC-B09D-1573-3DF5-FF26D2FE7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86AA4ECE-CBEE-C307-71E1-9CE5F7253E3B}"/>
              </a:ext>
            </a:extLst>
          </p:cNvPr>
          <p:cNvSpPr txBox="1">
            <a:spLocks/>
          </p:cNvSpPr>
          <p:nvPr/>
        </p:nvSpPr>
        <p:spPr>
          <a:xfrm>
            <a:off x="-104503" y="-2360552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/>
              <a:t>Research Goal</a:t>
            </a:r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F21045C6-C3B6-9C56-3A64-5307861B8330}"/>
              </a:ext>
            </a:extLst>
          </p:cNvPr>
          <p:cNvSpPr txBox="1">
            <a:spLocks/>
          </p:cNvSpPr>
          <p:nvPr/>
        </p:nvSpPr>
        <p:spPr>
          <a:xfrm>
            <a:off x="-104503" y="-2413949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/>
              <a:t>Data Sources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CE578E3B-14E6-AC62-B5BE-295922F4DFA8}"/>
              </a:ext>
            </a:extLst>
          </p:cNvPr>
          <p:cNvSpPr txBox="1">
            <a:spLocks/>
          </p:cNvSpPr>
          <p:nvPr/>
        </p:nvSpPr>
        <p:spPr>
          <a:xfrm>
            <a:off x="40051" y="-2295152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/>
              <a:t>Method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4A245923-4712-BC0A-F757-D16F8395CAF8}"/>
              </a:ext>
            </a:extLst>
          </p:cNvPr>
          <p:cNvSpPr txBox="1"/>
          <p:nvPr/>
        </p:nvSpPr>
        <p:spPr>
          <a:xfrm>
            <a:off x="-12153645" y="1797224"/>
            <a:ext cx="1193593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All </a:t>
            </a:r>
            <a:r>
              <a:rPr lang="de-DE" sz="2000" dirty="0" err="1"/>
              <a:t>datasets</a:t>
            </a:r>
            <a:r>
              <a:rPr lang="de-DE" sz="2000" dirty="0"/>
              <a:t> </a:t>
            </a:r>
            <a:r>
              <a:rPr lang="de-DE" sz="2000" dirty="0" err="1"/>
              <a:t>were</a:t>
            </a:r>
            <a:r>
              <a:rPr lang="de-DE" sz="2000" dirty="0"/>
              <a:t> </a:t>
            </a:r>
            <a:r>
              <a:rPr lang="de-DE" sz="2000" dirty="0" err="1"/>
              <a:t>converted</a:t>
            </a:r>
            <a:r>
              <a:rPr lang="de-DE" sz="2000" dirty="0"/>
              <a:t> </a:t>
            </a:r>
            <a:r>
              <a:rPr lang="de-DE" sz="2000" dirty="0" err="1"/>
              <a:t>to</a:t>
            </a:r>
            <a:r>
              <a:rPr lang="de-DE" sz="2000" dirty="0"/>
              <a:t> </a:t>
            </a:r>
            <a:r>
              <a:rPr lang="de-DE" sz="2000" dirty="0" err="1"/>
              <a:t>daily</a:t>
            </a:r>
            <a:r>
              <a:rPr lang="de-DE" sz="2000" dirty="0"/>
              <a:t> </a:t>
            </a:r>
            <a:r>
              <a:rPr lang="de-DE" sz="2000" dirty="0" err="1"/>
              <a:t>level</a:t>
            </a:r>
            <a:r>
              <a:rPr lang="de-DE" sz="2000" dirty="0"/>
              <a:t> and </a:t>
            </a:r>
            <a:r>
              <a:rPr lang="de-DE" sz="2000" dirty="0" err="1"/>
              <a:t>merged</a:t>
            </a:r>
            <a:r>
              <a:rPr lang="de-DE" sz="2000" dirty="0"/>
              <a:t> </a:t>
            </a:r>
            <a:r>
              <a:rPr lang="de-DE" sz="2000" dirty="0" err="1"/>
              <a:t>by</a:t>
            </a:r>
            <a:r>
              <a:rPr lang="de-DE" sz="2000" dirty="0"/>
              <a:t> date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For</a:t>
            </a:r>
            <a:r>
              <a:rPr lang="de-DE" sz="2000" dirty="0"/>
              <a:t> </a:t>
            </a:r>
            <a:r>
              <a:rPr lang="de-DE" sz="2000" dirty="0" err="1"/>
              <a:t>electricity</a:t>
            </a:r>
            <a:r>
              <a:rPr lang="de-DE" sz="2000" dirty="0"/>
              <a:t> </a:t>
            </a:r>
            <a:r>
              <a:rPr lang="de-DE" sz="2000" dirty="0" err="1"/>
              <a:t>consumption</a:t>
            </a:r>
            <a:r>
              <a:rPr lang="de-DE" sz="2000" dirty="0"/>
              <a:t>, </a:t>
            </a:r>
            <a:r>
              <a:rPr lang="de-DE" sz="2000" dirty="0" err="1"/>
              <a:t>we</a:t>
            </a:r>
            <a:r>
              <a:rPr lang="de-DE" sz="2000" dirty="0"/>
              <a:t> </a:t>
            </a:r>
            <a:r>
              <a:rPr lang="de-DE" sz="2000" dirty="0" err="1"/>
              <a:t>compared</a:t>
            </a:r>
            <a:r>
              <a:rPr lang="de-DE" sz="2000" dirty="0"/>
              <a:t> </a:t>
            </a:r>
            <a:r>
              <a:rPr lang="de-DE" sz="2000" dirty="0" err="1"/>
              <a:t>three</a:t>
            </a:r>
            <a:r>
              <a:rPr lang="de-DE" sz="2000" dirty="0"/>
              <a:t> </a:t>
            </a:r>
            <a:r>
              <a:rPr lang="de-DE" sz="2000" dirty="0" err="1"/>
              <a:t>day</a:t>
            </a:r>
            <a:r>
              <a:rPr lang="de-DE" sz="2000" dirty="0"/>
              <a:t> type: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000" dirty="0"/>
              <a:t>Regular Days, </a:t>
            </a:r>
            <a:r>
              <a:rPr lang="de-DE" sz="2000" dirty="0" err="1"/>
              <a:t>Sundays</a:t>
            </a:r>
            <a:r>
              <a:rPr lang="de-DE" sz="2000" dirty="0"/>
              <a:t> and Holidays</a:t>
            </a:r>
          </a:p>
          <a:p>
            <a:pPr lvl="1"/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For</a:t>
            </a:r>
            <a:r>
              <a:rPr lang="de-DE" sz="2000" dirty="0"/>
              <a:t> </a:t>
            </a:r>
            <a:r>
              <a:rPr lang="de-DE" sz="2000" dirty="0" err="1"/>
              <a:t>electricity</a:t>
            </a:r>
            <a:r>
              <a:rPr lang="de-DE" sz="2000" dirty="0"/>
              <a:t> </a:t>
            </a:r>
            <a:r>
              <a:rPr lang="de-DE" sz="2000" dirty="0" err="1"/>
              <a:t>generation</a:t>
            </a:r>
            <a:r>
              <a:rPr lang="de-DE" sz="2000" dirty="0"/>
              <a:t>, </a:t>
            </a:r>
            <a:r>
              <a:rPr lang="de-DE" sz="2000" dirty="0" err="1"/>
              <a:t>we</a:t>
            </a:r>
            <a:r>
              <a:rPr lang="de-DE" sz="2000" dirty="0"/>
              <a:t> </a:t>
            </a:r>
            <a:r>
              <a:rPr lang="de-DE" sz="2000" dirty="0" err="1"/>
              <a:t>examined</a:t>
            </a:r>
            <a:r>
              <a:rPr lang="de-DE" sz="2000" dirty="0"/>
              <a:t> </a:t>
            </a:r>
            <a:r>
              <a:rPr lang="de-DE" sz="2000" dirty="0" err="1"/>
              <a:t>correlations</a:t>
            </a:r>
            <a:r>
              <a:rPr lang="de-DE" sz="2000" dirty="0"/>
              <a:t> </a:t>
            </a:r>
            <a:r>
              <a:rPr lang="de-DE" sz="2000" dirty="0" err="1"/>
              <a:t>between</a:t>
            </a:r>
            <a:r>
              <a:rPr lang="de-DE" sz="2000" dirty="0"/>
              <a:t> </a:t>
            </a:r>
            <a:r>
              <a:rPr lang="de-DE" sz="2000" dirty="0" err="1"/>
              <a:t>weather</a:t>
            </a:r>
            <a:r>
              <a:rPr lang="de-DE" sz="2000" dirty="0"/>
              <a:t> variables and </a:t>
            </a:r>
            <a:r>
              <a:rPr lang="de-DE" sz="2000" dirty="0" err="1"/>
              <a:t>renewable</a:t>
            </a:r>
            <a:r>
              <a:rPr lang="de-DE" sz="2000" dirty="0"/>
              <a:t> </a:t>
            </a:r>
            <a:r>
              <a:rPr lang="de-DE" sz="2000" dirty="0" err="1"/>
              <a:t>generation</a:t>
            </a:r>
            <a:r>
              <a:rPr lang="de-DE" sz="2000" dirty="0"/>
              <a:t>, </a:t>
            </a:r>
            <a:r>
              <a:rPr lang="de-DE" sz="2000" dirty="0" err="1"/>
              <a:t>especially</a:t>
            </a:r>
            <a:r>
              <a:rPr lang="de-DE" sz="20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000" dirty="0"/>
              <a:t>wind </a:t>
            </a:r>
            <a:r>
              <a:rPr lang="de-DE" sz="2000" dirty="0" err="1"/>
              <a:t>speed</a:t>
            </a:r>
            <a:r>
              <a:rPr lang="de-DE" sz="2000" dirty="0"/>
              <a:t> – wind </a:t>
            </a:r>
            <a:r>
              <a:rPr lang="de-DE" sz="2000" dirty="0" err="1"/>
              <a:t>generation</a:t>
            </a:r>
            <a:r>
              <a:rPr lang="de-DE" sz="20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Temperature</a:t>
            </a:r>
            <a:r>
              <a:rPr lang="de-DE" sz="2000" dirty="0"/>
              <a:t> / </a:t>
            </a:r>
            <a:r>
              <a:rPr lang="de-DE" sz="2000" dirty="0" err="1"/>
              <a:t>seasonal</a:t>
            </a:r>
            <a:r>
              <a:rPr lang="de-DE" sz="2000" dirty="0"/>
              <a:t> </a:t>
            </a:r>
            <a:r>
              <a:rPr lang="de-DE" sz="2000" dirty="0" err="1"/>
              <a:t>conditions</a:t>
            </a:r>
            <a:r>
              <a:rPr lang="de-DE" sz="2000" dirty="0"/>
              <a:t> – solar </a:t>
            </a:r>
            <a:r>
              <a:rPr lang="de-DE" sz="2000" dirty="0" err="1"/>
              <a:t>generation</a:t>
            </a:r>
            <a:endParaRPr lang="de-DE" sz="2000" dirty="0"/>
          </a:p>
          <a:p>
            <a:pPr lvl="1"/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We</a:t>
            </a:r>
            <a:r>
              <a:rPr lang="de-DE" sz="2000" dirty="0"/>
              <a:t> also </a:t>
            </a:r>
            <a:r>
              <a:rPr lang="de-DE" sz="2000" dirty="0" err="1"/>
              <a:t>conducted</a:t>
            </a:r>
            <a:r>
              <a:rPr lang="de-DE" sz="2000" dirty="0"/>
              <a:t> a regional </a:t>
            </a:r>
            <a:r>
              <a:rPr lang="de-DE" sz="2000" dirty="0" err="1"/>
              <a:t>comparison</a:t>
            </a:r>
            <a:r>
              <a:rPr lang="de-DE" sz="2000" dirty="0"/>
              <a:t> </a:t>
            </a:r>
            <a:r>
              <a:rPr lang="de-DE" sz="2000" dirty="0" err="1"/>
              <a:t>across</a:t>
            </a:r>
            <a:r>
              <a:rPr lang="de-DE" sz="2000" dirty="0"/>
              <a:t> TSO </a:t>
            </a:r>
            <a:r>
              <a:rPr lang="de-DE" sz="2000" dirty="0" err="1"/>
              <a:t>zones</a:t>
            </a:r>
            <a:r>
              <a:rPr lang="de-DE" sz="20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000" dirty="0"/>
              <a:t>50Hertz, Amprion, TenneT and TransnetBW</a:t>
            </a:r>
          </a:p>
        </p:txBody>
      </p:sp>
      <p:pic>
        <p:nvPicPr>
          <p:cNvPr id="5123" name="Picture 3">
            <a:extLst>
              <a:ext uri="{FF2B5EF4-FFF2-40B4-BE49-F238E27FC236}">
                <a16:creationId xmlns:a16="http://schemas.microsoft.com/office/drawing/2014/main" id="{1A18B3A5-4733-7A48-8E26-3CAC64665B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73382" y="7243792"/>
            <a:ext cx="2809978" cy="2241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el 1">
            <a:extLst>
              <a:ext uri="{FF2B5EF4-FFF2-40B4-BE49-F238E27FC236}">
                <a16:creationId xmlns:a16="http://schemas.microsoft.com/office/drawing/2014/main" id="{71E8F0A3-D8CD-7838-2E5D-6FA99C4EE737}"/>
              </a:ext>
            </a:extLst>
          </p:cNvPr>
          <p:cNvSpPr txBox="1">
            <a:spLocks/>
          </p:cNvSpPr>
          <p:nvPr/>
        </p:nvSpPr>
        <p:spPr>
          <a:xfrm>
            <a:off x="40051" y="-2176355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/>
              <a:t>TSO </a:t>
            </a:r>
            <a:r>
              <a:rPr lang="de-DE" dirty="0" err="1"/>
              <a:t>Zones</a:t>
            </a:r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F79687B-73B7-4D13-511A-D6A16612B062}"/>
              </a:ext>
            </a:extLst>
          </p:cNvPr>
          <p:cNvSpPr txBox="1">
            <a:spLocks/>
          </p:cNvSpPr>
          <p:nvPr/>
        </p:nvSpPr>
        <p:spPr>
          <a:xfrm>
            <a:off x="113211" y="-788483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/>
              <a:t>Main </a:t>
            </a:r>
            <a:r>
              <a:rPr lang="de-DE" dirty="0" err="1"/>
              <a:t>Finding</a:t>
            </a:r>
            <a:r>
              <a:rPr lang="de-DE" dirty="0"/>
              <a:t> 1: Holidays and </a:t>
            </a:r>
            <a:r>
              <a:rPr lang="de-DE" dirty="0" err="1"/>
              <a:t>Consumption</a:t>
            </a:r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0422B9C0-E148-9F04-F9A2-11E7495683E7}"/>
              </a:ext>
            </a:extLst>
          </p:cNvPr>
          <p:cNvSpPr txBox="1"/>
          <p:nvPr/>
        </p:nvSpPr>
        <p:spPr>
          <a:xfrm>
            <a:off x="128034" y="3197535"/>
            <a:ext cx="1193593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Lowest</a:t>
            </a:r>
            <a:r>
              <a:rPr lang="de-DE" sz="2000" dirty="0"/>
              <a:t> </a:t>
            </a:r>
            <a:r>
              <a:rPr lang="de-DE" sz="2000" dirty="0" err="1"/>
              <a:t>consumption</a:t>
            </a:r>
            <a:r>
              <a:rPr lang="de-DE" sz="2000" dirty="0"/>
              <a:t> on </a:t>
            </a:r>
            <a:r>
              <a:rPr lang="de-DE" sz="2000" dirty="0" err="1"/>
              <a:t>holiday-period</a:t>
            </a:r>
            <a:r>
              <a:rPr lang="de-DE" sz="2000" dirty="0"/>
              <a:t> </a:t>
            </a:r>
            <a:r>
              <a:rPr lang="de-DE" sz="2000" dirty="0" err="1"/>
              <a:t>days</a:t>
            </a:r>
            <a:endParaRPr lang="de-DE" sz="2000" dirty="0"/>
          </a:p>
          <a:p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Higher </a:t>
            </a:r>
            <a:r>
              <a:rPr lang="de-DE" sz="2000" dirty="0" err="1"/>
              <a:t>average</a:t>
            </a:r>
            <a:r>
              <a:rPr lang="de-DE" sz="2000" dirty="0"/>
              <a:t> </a:t>
            </a:r>
            <a:r>
              <a:rPr lang="de-DE" sz="2000" dirty="0" err="1"/>
              <a:t>consumption</a:t>
            </a:r>
            <a:r>
              <a:rPr lang="de-DE" sz="2000" dirty="0"/>
              <a:t> on </a:t>
            </a:r>
            <a:r>
              <a:rPr lang="de-DE" sz="2000" dirty="0" err="1"/>
              <a:t>regular</a:t>
            </a:r>
            <a:r>
              <a:rPr lang="de-DE" sz="2000" dirty="0"/>
              <a:t> </a:t>
            </a:r>
            <a:r>
              <a:rPr lang="de-DE" sz="2000" dirty="0" err="1"/>
              <a:t>working</a:t>
            </a:r>
            <a:r>
              <a:rPr lang="de-DE" sz="2000" dirty="0"/>
              <a:t> </a:t>
            </a:r>
            <a:r>
              <a:rPr lang="de-DE" sz="2000" dirty="0" err="1"/>
              <a:t>days</a:t>
            </a: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Sundays</a:t>
            </a:r>
            <a:r>
              <a:rPr lang="de-DE" sz="2000" dirty="0"/>
              <a:t> </a:t>
            </a:r>
            <a:r>
              <a:rPr lang="de-DE" sz="2000" dirty="0" err="1"/>
              <a:t>are</a:t>
            </a:r>
            <a:r>
              <a:rPr lang="de-DE" sz="2000" dirty="0"/>
              <a:t> </a:t>
            </a:r>
            <a:r>
              <a:rPr lang="de-DE" sz="2000" dirty="0" err="1"/>
              <a:t>lower</a:t>
            </a:r>
            <a:r>
              <a:rPr lang="de-DE" sz="2000" dirty="0"/>
              <a:t> </a:t>
            </a:r>
            <a:r>
              <a:rPr lang="de-DE" sz="2000" dirty="0" err="1"/>
              <a:t>too</a:t>
            </a:r>
            <a:r>
              <a:rPr lang="de-DE" sz="2000" dirty="0"/>
              <a:t>, but </a:t>
            </a:r>
            <a:r>
              <a:rPr lang="de-DE" sz="2000" dirty="0" err="1"/>
              <a:t>holiday</a:t>
            </a:r>
            <a:r>
              <a:rPr lang="de-DE" sz="2000" dirty="0"/>
              <a:t> </a:t>
            </a:r>
            <a:r>
              <a:rPr lang="de-DE" sz="2000" dirty="0" err="1"/>
              <a:t>periods</a:t>
            </a:r>
            <a:r>
              <a:rPr lang="de-DE" sz="2000" dirty="0"/>
              <a:t> </a:t>
            </a:r>
            <a:r>
              <a:rPr lang="de-DE" sz="2000" dirty="0" err="1"/>
              <a:t>show</a:t>
            </a:r>
            <a:r>
              <a:rPr lang="de-DE" sz="2000" dirty="0"/>
              <a:t> </a:t>
            </a:r>
            <a:r>
              <a:rPr lang="de-DE" sz="2000" dirty="0" err="1"/>
              <a:t>the</a:t>
            </a:r>
            <a:r>
              <a:rPr lang="de-DE" sz="2000" dirty="0"/>
              <a:t> </a:t>
            </a:r>
            <a:r>
              <a:rPr lang="de-DE" sz="2000" dirty="0" err="1"/>
              <a:t>strongest</a:t>
            </a:r>
            <a:r>
              <a:rPr lang="de-DE" sz="2000" dirty="0"/>
              <a:t> </a:t>
            </a:r>
            <a:r>
              <a:rPr lang="de-DE" sz="2000" dirty="0" err="1"/>
              <a:t>reduction</a:t>
            </a: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Suggest</a:t>
            </a:r>
            <a:r>
              <a:rPr lang="de-DE" sz="2000" dirty="0"/>
              <a:t> </a:t>
            </a:r>
            <a:r>
              <a:rPr lang="de-DE" sz="2000" dirty="0" err="1"/>
              <a:t>that</a:t>
            </a:r>
            <a:r>
              <a:rPr lang="de-DE" sz="2000" dirty="0"/>
              <a:t> </a:t>
            </a:r>
            <a:r>
              <a:rPr lang="de-DE" sz="2000" dirty="0" err="1"/>
              <a:t>routines</a:t>
            </a:r>
            <a:r>
              <a:rPr lang="de-DE" sz="2000" dirty="0"/>
              <a:t> and </a:t>
            </a:r>
            <a:r>
              <a:rPr lang="de-DE" sz="2000" dirty="0" err="1"/>
              <a:t>economic</a:t>
            </a:r>
            <a:r>
              <a:rPr lang="de-DE" sz="2000" dirty="0"/>
              <a:t> </a:t>
            </a:r>
            <a:r>
              <a:rPr lang="de-DE" sz="2000" dirty="0" err="1"/>
              <a:t>activity</a:t>
            </a:r>
            <a:r>
              <a:rPr lang="de-DE" sz="2000" dirty="0"/>
              <a:t> </a:t>
            </a:r>
            <a:r>
              <a:rPr lang="de-DE" sz="2000" dirty="0" err="1"/>
              <a:t>affect</a:t>
            </a:r>
            <a:r>
              <a:rPr lang="de-DE" sz="2000" dirty="0"/>
              <a:t> </a:t>
            </a:r>
            <a:r>
              <a:rPr lang="de-DE" sz="2000" dirty="0" err="1"/>
              <a:t>demand</a:t>
            </a:r>
            <a:endParaRPr lang="de-DE" sz="2000" dirty="0"/>
          </a:p>
        </p:txBody>
      </p:sp>
      <p:pic>
        <p:nvPicPr>
          <p:cNvPr id="6148" name="Picture 4" descr="Boy Sleeping GIFs | Tenor">
            <a:extLst>
              <a:ext uri="{FF2B5EF4-FFF2-40B4-BE49-F238E27FC236}">
                <a16:creationId xmlns:a16="http://schemas.microsoft.com/office/drawing/2014/main" id="{9A4E8E27-7B8C-4095-0BB2-C797A51F82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9123" y="220876"/>
            <a:ext cx="1307017" cy="1307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el 1">
            <a:extLst>
              <a:ext uri="{FF2B5EF4-FFF2-40B4-BE49-F238E27FC236}">
                <a16:creationId xmlns:a16="http://schemas.microsoft.com/office/drawing/2014/main" id="{A2DC9C4E-7A15-4373-5851-0605F1FBFAC2}"/>
              </a:ext>
            </a:extLst>
          </p:cNvPr>
          <p:cNvSpPr txBox="1">
            <a:spLocks/>
          </p:cNvSpPr>
          <p:nvPr/>
        </p:nvSpPr>
        <p:spPr>
          <a:xfrm>
            <a:off x="-7740719" y="-669686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/>
              <a:t>Main </a:t>
            </a:r>
            <a:r>
              <a:rPr lang="de-DE" dirty="0" err="1"/>
              <a:t>Finding</a:t>
            </a:r>
            <a:r>
              <a:rPr lang="de-DE" dirty="0"/>
              <a:t> 1: Holidays and </a:t>
            </a:r>
            <a:r>
              <a:rPr lang="de-DE" dirty="0" err="1"/>
              <a:t>Consumption</a:t>
            </a:r>
            <a:endParaRPr lang="de-DE" dirty="0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49759122-D4AF-09CF-03BA-8CB7DB4ACDF5}"/>
              </a:ext>
            </a:extLst>
          </p:cNvPr>
          <p:cNvSpPr txBox="1">
            <a:spLocks/>
          </p:cNvSpPr>
          <p:nvPr/>
        </p:nvSpPr>
        <p:spPr>
          <a:xfrm>
            <a:off x="169817" y="680950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sz="2400" dirty="0" err="1"/>
              <a:t>To</a:t>
            </a:r>
            <a:r>
              <a:rPr lang="de-DE" sz="2400" dirty="0"/>
              <a:t> </a:t>
            </a:r>
            <a:r>
              <a:rPr lang="de-DE" sz="2400" dirty="0" err="1"/>
              <a:t>what</a:t>
            </a:r>
            <a:r>
              <a:rPr lang="de-DE" sz="2400" dirty="0"/>
              <a:t> </a:t>
            </a:r>
            <a:r>
              <a:rPr lang="de-DE" sz="2400" dirty="0" err="1"/>
              <a:t>extent</a:t>
            </a:r>
            <a:r>
              <a:rPr lang="de-DE" sz="2400" dirty="0"/>
              <a:t> do </a:t>
            </a:r>
            <a:r>
              <a:rPr lang="de-DE" sz="2400" dirty="0" err="1"/>
              <a:t>holiday</a:t>
            </a:r>
            <a:r>
              <a:rPr lang="de-DE" sz="2400" dirty="0"/>
              <a:t> </a:t>
            </a:r>
            <a:r>
              <a:rPr lang="de-DE" sz="2400" dirty="0" err="1"/>
              <a:t>periods</a:t>
            </a:r>
            <a:r>
              <a:rPr lang="de-DE" sz="2400" dirty="0"/>
              <a:t> </a:t>
            </a:r>
            <a:r>
              <a:rPr lang="de-DE" sz="2400" dirty="0" err="1"/>
              <a:t>influence</a:t>
            </a:r>
            <a:r>
              <a:rPr lang="de-DE" sz="2400" dirty="0"/>
              <a:t> </a:t>
            </a:r>
            <a:r>
              <a:rPr lang="de-DE" sz="2400" dirty="0" err="1"/>
              <a:t>daily</a:t>
            </a:r>
            <a:r>
              <a:rPr lang="de-DE" sz="2400" dirty="0"/>
              <a:t> </a:t>
            </a:r>
            <a:r>
              <a:rPr lang="de-DE" sz="2400" dirty="0" err="1"/>
              <a:t>electricity</a:t>
            </a:r>
            <a:r>
              <a:rPr lang="de-DE" sz="2400" dirty="0"/>
              <a:t> </a:t>
            </a:r>
            <a:r>
              <a:rPr lang="de-DE" sz="2400" dirty="0" err="1"/>
              <a:t>consumption</a:t>
            </a:r>
            <a:r>
              <a:rPr lang="de-DE" sz="2400" dirty="0"/>
              <a:t> in </a:t>
            </a:r>
            <a:r>
              <a:rPr lang="de-DE" sz="2400" dirty="0" err="1"/>
              <a:t>germany</a:t>
            </a:r>
            <a:r>
              <a:rPr lang="de-DE" sz="2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7067386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F767CF-2CFE-AA48-F860-01E8ABC56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C7F57373-43AF-7DF8-E53C-0E471C143D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98C463CB-3C7F-9EF7-7C24-5C319EEA837C}"/>
              </a:ext>
            </a:extLst>
          </p:cNvPr>
          <p:cNvSpPr txBox="1">
            <a:spLocks/>
          </p:cNvSpPr>
          <p:nvPr/>
        </p:nvSpPr>
        <p:spPr>
          <a:xfrm>
            <a:off x="-104503" y="-2360552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/>
              <a:t>Research Goal</a:t>
            </a:r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93A9F6C4-A5FE-A12B-F428-96EB8F0989E2}"/>
              </a:ext>
            </a:extLst>
          </p:cNvPr>
          <p:cNvSpPr txBox="1">
            <a:spLocks/>
          </p:cNvSpPr>
          <p:nvPr/>
        </p:nvSpPr>
        <p:spPr>
          <a:xfrm>
            <a:off x="-104503" y="-2413949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/>
              <a:t>Data Sources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78415869-64F0-A193-206B-A034A404033F}"/>
              </a:ext>
            </a:extLst>
          </p:cNvPr>
          <p:cNvSpPr txBox="1">
            <a:spLocks/>
          </p:cNvSpPr>
          <p:nvPr/>
        </p:nvSpPr>
        <p:spPr>
          <a:xfrm>
            <a:off x="40051" y="-2295152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/>
              <a:t>Method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4CBEFFBF-E285-4E28-AFA6-1F4D4958C5D2}"/>
              </a:ext>
            </a:extLst>
          </p:cNvPr>
          <p:cNvSpPr txBox="1"/>
          <p:nvPr/>
        </p:nvSpPr>
        <p:spPr>
          <a:xfrm>
            <a:off x="-12153645" y="1797224"/>
            <a:ext cx="1193593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All </a:t>
            </a:r>
            <a:r>
              <a:rPr lang="de-DE" sz="2000" dirty="0" err="1"/>
              <a:t>datasets</a:t>
            </a:r>
            <a:r>
              <a:rPr lang="de-DE" sz="2000" dirty="0"/>
              <a:t> </a:t>
            </a:r>
            <a:r>
              <a:rPr lang="de-DE" sz="2000" dirty="0" err="1"/>
              <a:t>were</a:t>
            </a:r>
            <a:r>
              <a:rPr lang="de-DE" sz="2000" dirty="0"/>
              <a:t> </a:t>
            </a:r>
            <a:r>
              <a:rPr lang="de-DE" sz="2000" dirty="0" err="1"/>
              <a:t>converted</a:t>
            </a:r>
            <a:r>
              <a:rPr lang="de-DE" sz="2000" dirty="0"/>
              <a:t> </a:t>
            </a:r>
            <a:r>
              <a:rPr lang="de-DE" sz="2000" dirty="0" err="1"/>
              <a:t>to</a:t>
            </a:r>
            <a:r>
              <a:rPr lang="de-DE" sz="2000" dirty="0"/>
              <a:t> </a:t>
            </a:r>
            <a:r>
              <a:rPr lang="de-DE" sz="2000" dirty="0" err="1"/>
              <a:t>daily</a:t>
            </a:r>
            <a:r>
              <a:rPr lang="de-DE" sz="2000" dirty="0"/>
              <a:t> </a:t>
            </a:r>
            <a:r>
              <a:rPr lang="de-DE" sz="2000" dirty="0" err="1"/>
              <a:t>level</a:t>
            </a:r>
            <a:r>
              <a:rPr lang="de-DE" sz="2000" dirty="0"/>
              <a:t> and </a:t>
            </a:r>
            <a:r>
              <a:rPr lang="de-DE" sz="2000" dirty="0" err="1"/>
              <a:t>merged</a:t>
            </a:r>
            <a:r>
              <a:rPr lang="de-DE" sz="2000" dirty="0"/>
              <a:t> </a:t>
            </a:r>
            <a:r>
              <a:rPr lang="de-DE" sz="2000" dirty="0" err="1"/>
              <a:t>by</a:t>
            </a:r>
            <a:r>
              <a:rPr lang="de-DE" sz="2000" dirty="0"/>
              <a:t> date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For</a:t>
            </a:r>
            <a:r>
              <a:rPr lang="de-DE" sz="2000" dirty="0"/>
              <a:t> </a:t>
            </a:r>
            <a:r>
              <a:rPr lang="de-DE" sz="2000" dirty="0" err="1"/>
              <a:t>electricity</a:t>
            </a:r>
            <a:r>
              <a:rPr lang="de-DE" sz="2000" dirty="0"/>
              <a:t> </a:t>
            </a:r>
            <a:r>
              <a:rPr lang="de-DE" sz="2000" dirty="0" err="1"/>
              <a:t>consumption</a:t>
            </a:r>
            <a:r>
              <a:rPr lang="de-DE" sz="2000" dirty="0"/>
              <a:t>, </a:t>
            </a:r>
            <a:r>
              <a:rPr lang="de-DE" sz="2000" dirty="0" err="1"/>
              <a:t>we</a:t>
            </a:r>
            <a:r>
              <a:rPr lang="de-DE" sz="2000" dirty="0"/>
              <a:t> </a:t>
            </a:r>
            <a:r>
              <a:rPr lang="de-DE" sz="2000" dirty="0" err="1"/>
              <a:t>compared</a:t>
            </a:r>
            <a:r>
              <a:rPr lang="de-DE" sz="2000" dirty="0"/>
              <a:t> </a:t>
            </a:r>
            <a:r>
              <a:rPr lang="de-DE" sz="2000" dirty="0" err="1"/>
              <a:t>three</a:t>
            </a:r>
            <a:r>
              <a:rPr lang="de-DE" sz="2000" dirty="0"/>
              <a:t> </a:t>
            </a:r>
            <a:r>
              <a:rPr lang="de-DE" sz="2000" dirty="0" err="1"/>
              <a:t>day</a:t>
            </a:r>
            <a:r>
              <a:rPr lang="de-DE" sz="2000" dirty="0"/>
              <a:t> type: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000" dirty="0"/>
              <a:t>Regular Days, </a:t>
            </a:r>
            <a:r>
              <a:rPr lang="de-DE" sz="2000" dirty="0" err="1"/>
              <a:t>Sundays</a:t>
            </a:r>
            <a:r>
              <a:rPr lang="de-DE" sz="2000" dirty="0"/>
              <a:t> and Holidays</a:t>
            </a:r>
          </a:p>
          <a:p>
            <a:pPr lvl="1"/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For</a:t>
            </a:r>
            <a:r>
              <a:rPr lang="de-DE" sz="2000" dirty="0"/>
              <a:t> </a:t>
            </a:r>
            <a:r>
              <a:rPr lang="de-DE" sz="2000" dirty="0" err="1"/>
              <a:t>electricity</a:t>
            </a:r>
            <a:r>
              <a:rPr lang="de-DE" sz="2000" dirty="0"/>
              <a:t> </a:t>
            </a:r>
            <a:r>
              <a:rPr lang="de-DE" sz="2000" dirty="0" err="1"/>
              <a:t>generation</a:t>
            </a:r>
            <a:r>
              <a:rPr lang="de-DE" sz="2000" dirty="0"/>
              <a:t>, </a:t>
            </a:r>
            <a:r>
              <a:rPr lang="de-DE" sz="2000" dirty="0" err="1"/>
              <a:t>we</a:t>
            </a:r>
            <a:r>
              <a:rPr lang="de-DE" sz="2000" dirty="0"/>
              <a:t> </a:t>
            </a:r>
            <a:r>
              <a:rPr lang="de-DE" sz="2000" dirty="0" err="1"/>
              <a:t>examined</a:t>
            </a:r>
            <a:r>
              <a:rPr lang="de-DE" sz="2000" dirty="0"/>
              <a:t> </a:t>
            </a:r>
            <a:r>
              <a:rPr lang="de-DE" sz="2000" dirty="0" err="1"/>
              <a:t>correlations</a:t>
            </a:r>
            <a:r>
              <a:rPr lang="de-DE" sz="2000" dirty="0"/>
              <a:t> </a:t>
            </a:r>
            <a:r>
              <a:rPr lang="de-DE" sz="2000" dirty="0" err="1"/>
              <a:t>between</a:t>
            </a:r>
            <a:r>
              <a:rPr lang="de-DE" sz="2000" dirty="0"/>
              <a:t> </a:t>
            </a:r>
            <a:r>
              <a:rPr lang="de-DE" sz="2000" dirty="0" err="1"/>
              <a:t>weather</a:t>
            </a:r>
            <a:r>
              <a:rPr lang="de-DE" sz="2000" dirty="0"/>
              <a:t> variables and </a:t>
            </a:r>
            <a:r>
              <a:rPr lang="de-DE" sz="2000" dirty="0" err="1"/>
              <a:t>renewable</a:t>
            </a:r>
            <a:r>
              <a:rPr lang="de-DE" sz="2000" dirty="0"/>
              <a:t> </a:t>
            </a:r>
            <a:r>
              <a:rPr lang="de-DE" sz="2000" dirty="0" err="1"/>
              <a:t>generation</a:t>
            </a:r>
            <a:r>
              <a:rPr lang="de-DE" sz="2000" dirty="0"/>
              <a:t>, </a:t>
            </a:r>
            <a:r>
              <a:rPr lang="de-DE" sz="2000" dirty="0" err="1"/>
              <a:t>especially</a:t>
            </a:r>
            <a:r>
              <a:rPr lang="de-DE" sz="20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000" dirty="0"/>
              <a:t>wind </a:t>
            </a:r>
            <a:r>
              <a:rPr lang="de-DE" sz="2000" dirty="0" err="1"/>
              <a:t>speed</a:t>
            </a:r>
            <a:r>
              <a:rPr lang="de-DE" sz="2000" dirty="0"/>
              <a:t> – wind </a:t>
            </a:r>
            <a:r>
              <a:rPr lang="de-DE" sz="2000" dirty="0" err="1"/>
              <a:t>generation</a:t>
            </a:r>
            <a:r>
              <a:rPr lang="de-DE" sz="20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Temperature</a:t>
            </a:r>
            <a:r>
              <a:rPr lang="de-DE" sz="2000" dirty="0"/>
              <a:t> / </a:t>
            </a:r>
            <a:r>
              <a:rPr lang="de-DE" sz="2000" dirty="0" err="1"/>
              <a:t>seasonal</a:t>
            </a:r>
            <a:r>
              <a:rPr lang="de-DE" sz="2000" dirty="0"/>
              <a:t> </a:t>
            </a:r>
            <a:r>
              <a:rPr lang="de-DE" sz="2000" dirty="0" err="1"/>
              <a:t>conditions</a:t>
            </a:r>
            <a:r>
              <a:rPr lang="de-DE" sz="2000" dirty="0"/>
              <a:t> – solar </a:t>
            </a:r>
            <a:r>
              <a:rPr lang="de-DE" sz="2000" dirty="0" err="1"/>
              <a:t>generation</a:t>
            </a:r>
            <a:endParaRPr lang="de-DE" sz="2000" dirty="0"/>
          </a:p>
          <a:p>
            <a:pPr lvl="1"/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We</a:t>
            </a:r>
            <a:r>
              <a:rPr lang="de-DE" sz="2000" dirty="0"/>
              <a:t> also </a:t>
            </a:r>
            <a:r>
              <a:rPr lang="de-DE" sz="2000" dirty="0" err="1"/>
              <a:t>conducted</a:t>
            </a:r>
            <a:r>
              <a:rPr lang="de-DE" sz="2000" dirty="0"/>
              <a:t> a regional </a:t>
            </a:r>
            <a:r>
              <a:rPr lang="de-DE" sz="2000" dirty="0" err="1"/>
              <a:t>comparison</a:t>
            </a:r>
            <a:r>
              <a:rPr lang="de-DE" sz="2000" dirty="0"/>
              <a:t> </a:t>
            </a:r>
            <a:r>
              <a:rPr lang="de-DE" sz="2000" dirty="0" err="1"/>
              <a:t>across</a:t>
            </a:r>
            <a:r>
              <a:rPr lang="de-DE" sz="2000" dirty="0"/>
              <a:t> TSO </a:t>
            </a:r>
            <a:r>
              <a:rPr lang="de-DE" sz="2000" dirty="0" err="1"/>
              <a:t>zones</a:t>
            </a:r>
            <a:r>
              <a:rPr lang="de-DE" sz="20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000" dirty="0"/>
              <a:t>50Hertz, Amprion, TenneT and TransnetBW</a:t>
            </a:r>
          </a:p>
        </p:txBody>
      </p:sp>
      <p:pic>
        <p:nvPicPr>
          <p:cNvPr id="5123" name="Picture 3">
            <a:extLst>
              <a:ext uri="{FF2B5EF4-FFF2-40B4-BE49-F238E27FC236}">
                <a16:creationId xmlns:a16="http://schemas.microsoft.com/office/drawing/2014/main" id="{E81F3739-7AD2-5591-C04C-33B1A74A61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73382" y="7243792"/>
            <a:ext cx="2809978" cy="2241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el 1">
            <a:extLst>
              <a:ext uri="{FF2B5EF4-FFF2-40B4-BE49-F238E27FC236}">
                <a16:creationId xmlns:a16="http://schemas.microsoft.com/office/drawing/2014/main" id="{D84B1624-647C-6CC8-7FFA-00C519FF4B45}"/>
              </a:ext>
            </a:extLst>
          </p:cNvPr>
          <p:cNvSpPr txBox="1">
            <a:spLocks/>
          </p:cNvSpPr>
          <p:nvPr/>
        </p:nvSpPr>
        <p:spPr>
          <a:xfrm>
            <a:off x="40051" y="-2176355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/>
              <a:t>TSO </a:t>
            </a:r>
            <a:r>
              <a:rPr lang="de-DE" dirty="0" err="1"/>
              <a:t>Zones</a:t>
            </a:r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A5AF120-9DDD-3AFD-4D31-2739558C521B}"/>
              </a:ext>
            </a:extLst>
          </p:cNvPr>
          <p:cNvSpPr txBox="1">
            <a:spLocks/>
          </p:cNvSpPr>
          <p:nvPr/>
        </p:nvSpPr>
        <p:spPr>
          <a:xfrm>
            <a:off x="-185798" y="-2446649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/>
              <a:t>Main </a:t>
            </a:r>
            <a:r>
              <a:rPr lang="de-DE" dirty="0" err="1"/>
              <a:t>Finding</a:t>
            </a:r>
            <a:r>
              <a:rPr lang="de-DE" dirty="0"/>
              <a:t> 1: Holidays and </a:t>
            </a:r>
            <a:r>
              <a:rPr lang="de-DE" dirty="0" err="1"/>
              <a:t>Consumption</a:t>
            </a:r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5D617583-AE6E-6D2D-B6A2-C911DCE74432}"/>
              </a:ext>
            </a:extLst>
          </p:cNvPr>
          <p:cNvSpPr txBox="1"/>
          <p:nvPr/>
        </p:nvSpPr>
        <p:spPr>
          <a:xfrm>
            <a:off x="-9236880" y="3962735"/>
            <a:ext cx="1193593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Electricity</a:t>
            </a:r>
            <a:r>
              <a:rPr lang="de-DE" sz="2000" dirty="0"/>
              <a:t> </a:t>
            </a:r>
            <a:r>
              <a:rPr lang="de-DE" sz="2000" dirty="0" err="1"/>
              <a:t>consumption</a:t>
            </a:r>
            <a:r>
              <a:rPr lang="de-DE" sz="2000" dirty="0"/>
              <a:t> </a:t>
            </a:r>
            <a:r>
              <a:rPr lang="de-DE" sz="2000" dirty="0" err="1"/>
              <a:t>lowest</a:t>
            </a:r>
            <a:r>
              <a:rPr lang="de-DE" sz="2000" dirty="0"/>
              <a:t> on </a:t>
            </a:r>
            <a:r>
              <a:rPr lang="de-DE" sz="2000" dirty="0" err="1"/>
              <a:t>holiday-period</a:t>
            </a:r>
            <a:r>
              <a:rPr lang="de-DE" sz="2000" dirty="0"/>
              <a:t> </a:t>
            </a:r>
            <a:r>
              <a:rPr lang="de-DE" sz="2000" dirty="0" err="1"/>
              <a:t>days</a:t>
            </a: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Regular </a:t>
            </a:r>
            <a:r>
              <a:rPr lang="de-DE" sz="2000" dirty="0" err="1"/>
              <a:t>working</a:t>
            </a:r>
            <a:r>
              <a:rPr lang="de-DE" sz="2000" dirty="0"/>
              <a:t> </a:t>
            </a:r>
            <a:r>
              <a:rPr lang="de-DE" sz="2000" dirty="0" err="1"/>
              <a:t>days</a:t>
            </a:r>
            <a:r>
              <a:rPr lang="de-DE" sz="2000" dirty="0"/>
              <a:t> </a:t>
            </a:r>
            <a:r>
              <a:rPr lang="de-DE" sz="2000" dirty="0" err="1"/>
              <a:t>show</a:t>
            </a:r>
            <a:r>
              <a:rPr lang="de-DE" sz="2000" dirty="0"/>
              <a:t> </a:t>
            </a:r>
            <a:r>
              <a:rPr lang="de-DE" sz="2000" dirty="0" err="1"/>
              <a:t>higher</a:t>
            </a:r>
            <a:r>
              <a:rPr lang="de-DE" sz="2000" dirty="0"/>
              <a:t> </a:t>
            </a:r>
            <a:r>
              <a:rPr lang="de-DE" sz="2000" dirty="0" err="1"/>
              <a:t>average</a:t>
            </a:r>
            <a:r>
              <a:rPr lang="de-DE" sz="2000" dirty="0"/>
              <a:t> </a:t>
            </a:r>
            <a:r>
              <a:rPr lang="de-DE" sz="2000" dirty="0" err="1"/>
              <a:t>consumption</a:t>
            </a: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Sundays</a:t>
            </a:r>
            <a:r>
              <a:rPr lang="de-DE" sz="2000" dirty="0"/>
              <a:t> </a:t>
            </a:r>
            <a:r>
              <a:rPr lang="de-DE" sz="2000" dirty="0" err="1"/>
              <a:t>are</a:t>
            </a:r>
            <a:r>
              <a:rPr lang="de-DE" sz="2000" dirty="0"/>
              <a:t> also </a:t>
            </a:r>
            <a:r>
              <a:rPr lang="de-DE" sz="2000" dirty="0" err="1"/>
              <a:t>lower</a:t>
            </a:r>
            <a:r>
              <a:rPr lang="de-DE" sz="2000" dirty="0"/>
              <a:t> </a:t>
            </a:r>
            <a:r>
              <a:rPr lang="de-DE" sz="2000" dirty="0" err="1"/>
              <a:t>than</a:t>
            </a:r>
            <a:r>
              <a:rPr lang="de-DE" sz="2000" dirty="0"/>
              <a:t> </a:t>
            </a:r>
            <a:r>
              <a:rPr lang="de-DE" sz="2000" dirty="0" err="1"/>
              <a:t>regular</a:t>
            </a:r>
            <a:r>
              <a:rPr lang="de-DE" sz="2000" dirty="0"/>
              <a:t> </a:t>
            </a:r>
            <a:r>
              <a:rPr lang="de-DE" sz="2000" dirty="0" err="1"/>
              <a:t>days</a:t>
            </a:r>
            <a:r>
              <a:rPr lang="de-DE" sz="2000" dirty="0"/>
              <a:t>,                                                                                           but in </a:t>
            </a:r>
            <a:r>
              <a:rPr lang="de-DE" sz="2000" dirty="0" err="1"/>
              <a:t>our</a:t>
            </a:r>
            <a:r>
              <a:rPr lang="de-DE" sz="2000" dirty="0"/>
              <a:t> </a:t>
            </a:r>
            <a:r>
              <a:rPr lang="de-DE" sz="2000" dirty="0" err="1"/>
              <a:t>data</a:t>
            </a:r>
            <a:r>
              <a:rPr lang="de-DE" sz="2000" dirty="0"/>
              <a:t> </a:t>
            </a:r>
            <a:r>
              <a:rPr lang="de-DE" sz="2000" dirty="0" err="1"/>
              <a:t>the</a:t>
            </a:r>
            <a:r>
              <a:rPr lang="de-DE" sz="2000" dirty="0"/>
              <a:t> </a:t>
            </a:r>
            <a:r>
              <a:rPr lang="de-DE" sz="2000" dirty="0" err="1"/>
              <a:t>strongest</a:t>
            </a:r>
            <a:r>
              <a:rPr lang="de-DE" sz="2000" dirty="0"/>
              <a:t> </a:t>
            </a:r>
            <a:r>
              <a:rPr lang="de-DE" sz="2000" dirty="0" err="1"/>
              <a:t>reduction</a:t>
            </a:r>
            <a:r>
              <a:rPr lang="de-DE" sz="2000" dirty="0"/>
              <a:t> </a:t>
            </a:r>
            <a:r>
              <a:rPr lang="de-DE" sz="2000" dirty="0" err="1"/>
              <a:t>appears</a:t>
            </a:r>
            <a:r>
              <a:rPr lang="de-DE" sz="2000" dirty="0"/>
              <a:t> </a:t>
            </a:r>
            <a:r>
              <a:rPr lang="de-DE" sz="2000" dirty="0" err="1"/>
              <a:t>during</a:t>
            </a:r>
            <a:r>
              <a:rPr lang="de-DE" sz="2000" dirty="0"/>
              <a:t> </a:t>
            </a:r>
            <a:r>
              <a:rPr lang="de-DE" sz="2000" dirty="0" err="1"/>
              <a:t>holiday</a:t>
            </a:r>
            <a:r>
              <a:rPr lang="de-DE" sz="2000" dirty="0"/>
              <a:t> </a:t>
            </a:r>
            <a:r>
              <a:rPr lang="de-DE" sz="2000" dirty="0" err="1"/>
              <a:t>periods</a:t>
            </a: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This </a:t>
            </a:r>
            <a:r>
              <a:rPr lang="de-DE" sz="2000" dirty="0" err="1"/>
              <a:t>suggests</a:t>
            </a:r>
            <a:r>
              <a:rPr lang="de-DE" sz="2000" dirty="0"/>
              <a:t> </a:t>
            </a:r>
            <a:r>
              <a:rPr lang="de-DE" sz="2000" dirty="0" err="1"/>
              <a:t>that</a:t>
            </a:r>
            <a:r>
              <a:rPr lang="de-DE" sz="2000" dirty="0"/>
              <a:t> </a:t>
            </a:r>
            <a:r>
              <a:rPr lang="de-DE" sz="2000" dirty="0" err="1"/>
              <a:t>changes</a:t>
            </a:r>
            <a:r>
              <a:rPr lang="de-DE" sz="2000" dirty="0"/>
              <a:t> in </a:t>
            </a:r>
            <a:r>
              <a:rPr lang="de-DE" sz="2000" dirty="0" err="1"/>
              <a:t>routines</a:t>
            </a:r>
            <a:r>
              <a:rPr lang="de-DE" sz="2000" dirty="0"/>
              <a:t>, </a:t>
            </a:r>
            <a:r>
              <a:rPr lang="de-DE" sz="2000" dirty="0" err="1"/>
              <a:t>mobility</a:t>
            </a:r>
            <a:r>
              <a:rPr lang="de-DE" sz="2000" dirty="0"/>
              <a:t> and </a:t>
            </a:r>
            <a:r>
              <a:rPr lang="de-DE" sz="2000" dirty="0" err="1"/>
              <a:t>economic</a:t>
            </a:r>
            <a:r>
              <a:rPr lang="de-DE" sz="2000" dirty="0"/>
              <a:t>                                                       </a:t>
            </a:r>
            <a:r>
              <a:rPr lang="de-DE" sz="2000" dirty="0" err="1"/>
              <a:t>activity</a:t>
            </a:r>
            <a:r>
              <a:rPr lang="de-DE" sz="2000" dirty="0"/>
              <a:t> </a:t>
            </a:r>
            <a:r>
              <a:rPr lang="de-DE" sz="2000" dirty="0" err="1"/>
              <a:t>influence</a:t>
            </a:r>
            <a:r>
              <a:rPr lang="de-DE" sz="2000" dirty="0"/>
              <a:t> </a:t>
            </a:r>
            <a:r>
              <a:rPr lang="de-DE" sz="2000" dirty="0" err="1"/>
              <a:t>electricity</a:t>
            </a:r>
            <a:r>
              <a:rPr lang="de-DE" sz="2000" dirty="0"/>
              <a:t> </a:t>
            </a:r>
            <a:r>
              <a:rPr lang="de-DE" sz="2000" dirty="0" err="1"/>
              <a:t>demand</a:t>
            </a:r>
            <a:endParaRPr lang="de-DE" sz="2000" dirty="0"/>
          </a:p>
        </p:txBody>
      </p:sp>
      <p:pic>
        <p:nvPicPr>
          <p:cNvPr id="6148" name="Picture 4" descr="Boy Sleeping GIFs | Tenor">
            <a:extLst>
              <a:ext uri="{FF2B5EF4-FFF2-40B4-BE49-F238E27FC236}">
                <a16:creationId xmlns:a16="http://schemas.microsoft.com/office/drawing/2014/main" id="{232C1384-5B24-F7B0-C780-37D9826790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5078" y="-1425814"/>
            <a:ext cx="1307017" cy="1307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el 1">
            <a:extLst>
              <a:ext uri="{FF2B5EF4-FFF2-40B4-BE49-F238E27FC236}">
                <a16:creationId xmlns:a16="http://schemas.microsoft.com/office/drawing/2014/main" id="{3274A617-43D6-1242-D5C7-B3078A8DA32B}"/>
              </a:ext>
            </a:extLst>
          </p:cNvPr>
          <p:cNvSpPr txBox="1">
            <a:spLocks/>
          </p:cNvSpPr>
          <p:nvPr/>
        </p:nvSpPr>
        <p:spPr>
          <a:xfrm>
            <a:off x="-7740719" y="-669686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/>
              <a:t>Main </a:t>
            </a:r>
            <a:r>
              <a:rPr lang="de-DE" dirty="0" err="1"/>
              <a:t>Finding</a:t>
            </a:r>
            <a:r>
              <a:rPr lang="de-DE" dirty="0"/>
              <a:t> 1: Holidays and </a:t>
            </a:r>
            <a:r>
              <a:rPr lang="de-DE" dirty="0" err="1"/>
              <a:t>Consumption</a:t>
            </a:r>
            <a:endParaRPr lang="de-DE" dirty="0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24755778-F28A-4734-0FE2-84FDC6F48FCC}"/>
              </a:ext>
            </a:extLst>
          </p:cNvPr>
          <p:cNvSpPr txBox="1">
            <a:spLocks/>
          </p:cNvSpPr>
          <p:nvPr/>
        </p:nvSpPr>
        <p:spPr>
          <a:xfrm>
            <a:off x="-7740719" y="2241755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sz="2400" dirty="0" err="1"/>
              <a:t>To</a:t>
            </a:r>
            <a:r>
              <a:rPr lang="de-DE" sz="2400" dirty="0"/>
              <a:t> </a:t>
            </a:r>
            <a:r>
              <a:rPr lang="de-DE" sz="2400" dirty="0" err="1"/>
              <a:t>what</a:t>
            </a:r>
            <a:r>
              <a:rPr lang="de-DE" sz="2400" dirty="0"/>
              <a:t> </a:t>
            </a:r>
            <a:r>
              <a:rPr lang="de-DE" sz="2400" dirty="0" err="1"/>
              <a:t>extent</a:t>
            </a:r>
            <a:r>
              <a:rPr lang="de-DE" sz="2400" dirty="0"/>
              <a:t> do </a:t>
            </a:r>
            <a:r>
              <a:rPr lang="de-DE" sz="2400" dirty="0" err="1"/>
              <a:t>holiday</a:t>
            </a:r>
            <a:r>
              <a:rPr lang="de-DE" sz="2400" dirty="0"/>
              <a:t> </a:t>
            </a:r>
            <a:r>
              <a:rPr lang="de-DE" sz="2400" dirty="0" err="1"/>
              <a:t>periods</a:t>
            </a:r>
            <a:r>
              <a:rPr lang="de-DE" sz="2400" dirty="0"/>
              <a:t> </a:t>
            </a:r>
            <a:r>
              <a:rPr lang="de-DE" sz="2400" dirty="0" err="1"/>
              <a:t>influence</a:t>
            </a:r>
            <a:r>
              <a:rPr lang="de-DE" sz="2400" dirty="0"/>
              <a:t> </a:t>
            </a:r>
            <a:r>
              <a:rPr lang="de-DE" sz="2400" dirty="0" err="1"/>
              <a:t>daily</a:t>
            </a:r>
            <a:r>
              <a:rPr lang="de-DE" sz="2400" dirty="0"/>
              <a:t> </a:t>
            </a:r>
            <a:r>
              <a:rPr lang="de-DE" sz="2400" dirty="0" err="1"/>
              <a:t>electricity</a:t>
            </a:r>
            <a:r>
              <a:rPr lang="de-DE" sz="2400" dirty="0"/>
              <a:t> </a:t>
            </a:r>
            <a:r>
              <a:rPr lang="de-DE" sz="2400" dirty="0" err="1"/>
              <a:t>consumption</a:t>
            </a:r>
            <a:r>
              <a:rPr lang="de-DE" sz="2400" dirty="0"/>
              <a:t> in </a:t>
            </a:r>
            <a:r>
              <a:rPr lang="de-DE" sz="2400" dirty="0" err="1"/>
              <a:t>germany</a:t>
            </a:r>
            <a:r>
              <a:rPr lang="de-DE" sz="2400" dirty="0"/>
              <a:t>?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685DC069-FF3F-4E77-6EFE-0342E3414CC5}"/>
              </a:ext>
            </a:extLst>
          </p:cNvPr>
          <p:cNvSpPr txBox="1"/>
          <p:nvPr/>
        </p:nvSpPr>
        <p:spPr>
          <a:xfrm>
            <a:off x="40051" y="6976797"/>
            <a:ext cx="1193593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Weather</a:t>
            </a:r>
            <a:r>
              <a:rPr lang="de-DE" sz="2000" dirty="0"/>
              <a:t> </a:t>
            </a:r>
            <a:r>
              <a:rPr lang="de-DE" sz="2000" dirty="0" err="1"/>
              <a:t>has</a:t>
            </a:r>
            <a:r>
              <a:rPr lang="de-DE" sz="2000" dirty="0"/>
              <a:t> a </a:t>
            </a:r>
            <a:r>
              <a:rPr lang="de-DE" sz="2000" dirty="0" err="1"/>
              <a:t>clear</a:t>
            </a:r>
            <a:r>
              <a:rPr lang="de-DE" sz="2000" dirty="0"/>
              <a:t> </a:t>
            </a:r>
            <a:r>
              <a:rPr lang="de-DE" sz="2000" dirty="0" err="1"/>
              <a:t>influence</a:t>
            </a:r>
            <a:r>
              <a:rPr lang="de-DE" sz="2000" dirty="0"/>
              <a:t> on </a:t>
            </a:r>
            <a:r>
              <a:rPr lang="de-DE" sz="2000" dirty="0" err="1"/>
              <a:t>renewable</a:t>
            </a:r>
            <a:r>
              <a:rPr lang="de-DE" sz="2000" dirty="0"/>
              <a:t> </a:t>
            </a:r>
            <a:r>
              <a:rPr lang="de-DE" sz="2000" dirty="0" err="1"/>
              <a:t>electricity</a:t>
            </a:r>
            <a:r>
              <a:rPr lang="de-DE" sz="2000" dirty="0"/>
              <a:t> </a:t>
            </a:r>
            <a:r>
              <a:rPr lang="de-DE" sz="2000" dirty="0" err="1"/>
              <a:t>genarations</a:t>
            </a:r>
            <a:endParaRPr lang="de-DE" sz="2000" dirty="0"/>
          </a:p>
          <a:p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Higher wind </a:t>
            </a:r>
            <a:r>
              <a:rPr lang="de-DE" sz="2000" dirty="0" err="1"/>
              <a:t>speed</a:t>
            </a:r>
            <a:r>
              <a:rPr lang="de-DE" sz="2000" dirty="0"/>
              <a:t> = </a:t>
            </a:r>
            <a:r>
              <a:rPr lang="de-DE" sz="2000" dirty="0" err="1"/>
              <a:t>higher</a:t>
            </a:r>
            <a:r>
              <a:rPr lang="de-DE" sz="2000" dirty="0"/>
              <a:t> wind power </a:t>
            </a:r>
            <a:r>
              <a:rPr lang="de-DE" sz="2000" dirty="0" err="1"/>
              <a:t>generation</a:t>
            </a: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Higher </a:t>
            </a:r>
            <a:r>
              <a:rPr lang="de-DE" sz="2000" dirty="0" err="1"/>
              <a:t>temperatures</a:t>
            </a:r>
            <a:r>
              <a:rPr lang="de-DE" sz="2000" dirty="0"/>
              <a:t> / </a:t>
            </a:r>
            <a:r>
              <a:rPr lang="de-DE" sz="2000" dirty="0" err="1"/>
              <a:t>sunnier</a:t>
            </a:r>
            <a:r>
              <a:rPr lang="de-DE" sz="2000" dirty="0"/>
              <a:t> </a:t>
            </a:r>
            <a:r>
              <a:rPr lang="de-DE" sz="2000" dirty="0" err="1"/>
              <a:t>conditions</a:t>
            </a:r>
            <a:r>
              <a:rPr lang="de-DE" sz="2000" dirty="0"/>
              <a:t> = </a:t>
            </a:r>
            <a:r>
              <a:rPr lang="de-DE" sz="2000" dirty="0" err="1"/>
              <a:t>higher</a:t>
            </a:r>
            <a:r>
              <a:rPr lang="de-DE" sz="2000" dirty="0"/>
              <a:t> solar </a:t>
            </a:r>
            <a:r>
              <a:rPr lang="de-DE" sz="2000" dirty="0" err="1"/>
              <a:t>generation</a:t>
            </a: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Weather</a:t>
            </a:r>
            <a:r>
              <a:rPr lang="de-DE" sz="2000" dirty="0"/>
              <a:t> </a:t>
            </a:r>
            <a:r>
              <a:rPr lang="de-DE" sz="2000" dirty="0" err="1"/>
              <a:t>effects</a:t>
            </a:r>
            <a:r>
              <a:rPr lang="de-DE" sz="2000" dirty="0"/>
              <a:t> </a:t>
            </a:r>
            <a:r>
              <a:rPr lang="de-DE" sz="2000" dirty="0" err="1"/>
              <a:t>are</a:t>
            </a:r>
            <a:r>
              <a:rPr lang="de-DE" sz="2000" dirty="0"/>
              <a:t> </a:t>
            </a:r>
            <a:r>
              <a:rPr lang="de-DE" sz="2000" dirty="0" err="1"/>
              <a:t>stronger</a:t>
            </a:r>
            <a:r>
              <a:rPr lang="de-DE" sz="2000" dirty="0"/>
              <a:t> </a:t>
            </a:r>
            <a:r>
              <a:rPr lang="de-DE" sz="2000" dirty="0" err="1"/>
              <a:t>for</a:t>
            </a:r>
            <a:r>
              <a:rPr lang="de-DE" sz="2000" dirty="0"/>
              <a:t> </a:t>
            </a:r>
            <a:r>
              <a:rPr lang="de-DE" sz="2000" dirty="0" err="1"/>
              <a:t>generation</a:t>
            </a:r>
            <a:r>
              <a:rPr lang="de-DE" sz="2000" dirty="0"/>
              <a:t> </a:t>
            </a:r>
            <a:r>
              <a:rPr lang="de-DE" sz="2000" dirty="0" err="1"/>
              <a:t>than</a:t>
            </a:r>
            <a:r>
              <a:rPr lang="de-DE" sz="2000" dirty="0"/>
              <a:t> </a:t>
            </a:r>
            <a:r>
              <a:rPr lang="de-DE" sz="2000" dirty="0" err="1"/>
              <a:t>consumption</a:t>
            </a: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Clearest</a:t>
            </a:r>
            <a:r>
              <a:rPr lang="de-DE" sz="2000" dirty="0"/>
              <a:t> </a:t>
            </a:r>
            <a:r>
              <a:rPr lang="de-DE" sz="2000" dirty="0" err="1"/>
              <a:t>relationships</a:t>
            </a:r>
            <a:r>
              <a:rPr lang="de-DE" sz="2000" dirty="0"/>
              <a:t> </a:t>
            </a:r>
            <a:r>
              <a:rPr lang="de-DE" sz="2000" dirty="0" err="1"/>
              <a:t>appear</a:t>
            </a:r>
            <a:r>
              <a:rPr lang="de-DE" sz="2000" dirty="0"/>
              <a:t> </a:t>
            </a:r>
            <a:r>
              <a:rPr lang="de-DE" sz="2000" dirty="0" err="1"/>
              <a:t>for</a:t>
            </a:r>
            <a:r>
              <a:rPr lang="de-DE" sz="2000" dirty="0"/>
              <a:t> wind and solar power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This </a:t>
            </a:r>
            <a:r>
              <a:rPr lang="de-DE" sz="2000" dirty="0" err="1"/>
              <a:t>shows</a:t>
            </a:r>
            <a:r>
              <a:rPr lang="de-DE" sz="2000" dirty="0"/>
              <a:t> </a:t>
            </a:r>
            <a:r>
              <a:rPr lang="de-DE" sz="2000" dirty="0" err="1"/>
              <a:t>that</a:t>
            </a:r>
            <a:r>
              <a:rPr lang="de-DE" sz="2000" dirty="0"/>
              <a:t> </a:t>
            </a:r>
            <a:r>
              <a:rPr lang="de-DE" sz="2000" dirty="0" err="1"/>
              <a:t>renewable</a:t>
            </a:r>
            <a:r>
              <a:rPr lang="de-DE" sz="2000" dirty="0"/>
              <a:t> </a:t>
            </a:r>
            <a:r>
              <a:rPr lang="de-DE" sz="2000" dirty="0" err="1"/>
              <a:t>generation</a:t>
            </a:r>
            <a:r>
              <a:rPr lang="de-DE" sz="2000" dirty="0"/>
              <a:t> </a:t>
            </a:r>
            <a:r>
              <a:rPr lang="de-DE" sz="2000" dirty="0" err="1"/>
              <a:t>depends</a:t>
            </a:r>
            <a:r>
              <a:rPr lang="de-DE" sz="2000" dirty="0"/>
              <a:t> </a:t>
            </a:r>
            <a:r>
              <a:rPr lang="de-DE" sz="2000" dirty="0" err="1"/>
              <a:t>strongly</a:t>
            </a:r>
            <a:r>
              <a:rPr lang="de-DE" sz="2000" dirty="0"/>
              <a:t> on </a:t>
            </a:r>
            <a:r>
              <a:rPr lang="de-DE" sz="2000" dirty="0" err="1"/>
              <a:t>natural</a:t>
            </a:r>
            <a:r>
              <a:rPr lang="de-DE" sz="2000" dirty="0"/>
              <a:t> </a:t>
            </a:r>
            <a:r>
              <a:rPr lang="de-DE" sz="2000" dirty="0" err="1"/>
              <a:t>conditions</a:t>
            </a:r>
            <a:endParaRPr lang="de-DE" sz="2000" dirty="0"/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1FD1F261-0632-1044-53DF-C54F5A90ED39}"/>
              </a:ext>
            </a:extLst>
          </p:cNvPr>
          <p:cNvSpPr txBox="1">
            <a:spLocks/>
          </p:cNvSpPr>
          <p:nvPr/>
        </p:nvSpPr>
        <p:spPr>
          <a:xfrm>
            <a:off x="-8213122" y="563769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sz="2400" dirty="0"/>
              <a:t>How </a:t>
            </a:r>
            <a:r>
              <a:rPr lang="de-DE" sz="2400" dirty="0" err="1"/>
              <a:t>strongly</a:t>
            </a:r>
            <a:r>
              <a:rPr lang="de-DE" sz="2400" dirty="0"/>
              <a:t> do </a:t>
            </a:r>
            <a:r>
              <a:rPr lang="de-DE" sz="2400" dirty="0" err="1"/>
              <a:t>weather</a:t>
            </a:r>
            <a:r>
              <a:rPr lang="de-DE" sz="2400" dirty="0"/>
              <a:t> </a:t>
            </a:r>
            <a:r>
              <a:rPr lang="de-DE" sz="2400" dirty="0" err="1"/>
              <a:t>conditions</a:t>
            </a:r>
            <a:r>
              <a:rPr lang="de-DE" sz="2400" dirty="0"/>
              <a:t> </a:t>
            </a:r>
            <a:r>
              <a:rPr lang="de-DE" sz="2400" dirty="0" err="1"/>
              <a:t>explain</a:t>
            </a:r>
            <a:r>
              <a:rPr lang="de-DE" sz="2400" dirty="0"/>
              <a:t> </a:t>
            </a:r>
            <a:r>
              <a:rPr lang="de-DE" sz="2400" dirty="0" err="1"/>
              <a:t>renewable</a:t>
            </a:r>
            <a:r>
              <a:rPr lang="de-DE" sz="2400" dirty="0"/>
              <a:t> </a:t>
            </a:r>
            <a:r>
              <a:rPr lang="de-DE" sz="2400" dirty="0" err="1"/>
              <a:t>electricity</a:t>
            </a:r>
            <a:r>
              <a:rPr lang="de-DE" sz="2400" dirty="0"/>
              <a:t> </a:t>
            </a:r>
            <a:r>
              <a:rPr lang="de-DE" sz="2400" dirty="0" err="1"/>
              <a:t>generation</a:t>
            </a:r>
            <a:r>
              <a:rPr lang="de-DE" sz="2400" dirty="0"/>
              <a:t> in Germany?</a:t>
            </a:r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BC7C0CFF-AEFE-985C-48E7-22EBDCE9DD74}"/>
              </a:ext>
            </a:extLst>
          </p:cNvPr>
          <p:cNvSpPr txBox="1">
            <a:spLocks/>
          </p:cNvSpPr>
          <p:nvPr/>
        </p:nvSpPr>
        <p:spPr>
          <a:xfrm>
            <a:off x="-41244" y="-2307155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/>
              <a:t>Main </a:t>
            </a:r>
            <a:r>
              <a:rPr lang="de-DE" dirty="0" err="1"/>
              <a:t>Finding</a:t>
            </a:r>
            <a:r>
              <a:rPr lang="de-DE" dirty="0"/>
              <a:t> 2: </a:t>
            </a:r>
            <a:r>
              <a:rPr lang="de-DE" dirty="0" err="1"/>
              <a:t>Weather</a:t>
            </a:r>
            <a:endParaRPr lang="de-DE" dirty="0"/>
          </a:p>
          <a:p>
            <a:pPr algn="l"/>
            <a:r>
              <a:rPr lang="de-DE" dirty="0"/>
              <a:t>And Generation</a:t>
            </a:r>
          </a:p>
        </p:txBody>
      </p:sp>
      <p:sp>
        <p:nvSpPr>
          <p:cNvPr id="16" name="Titel 1">
            <a:extLst>
              <a:ext uri="{FF2B5EF4-FFF2-40B4-BE49-F238E27FC236}">
                <a16:creationId xmlns:a16="http://schemas.microsoft.com/office/drawing/2014/main" id="{80610588-FE0D-777A-5C20-3B36BAA451B0}"/>
              </a:ext>
            </a:extLst>
          </p:cNvPr>
          <p:cNvSpPr txBox="1">
            <a:spLocks/>
          </p:cNvSpPr>
          <p:nvPr/>
        </p:nvSpPr>
        <p:spPr>
          <a:xfrm>
            <a:off x="4883727" y="1416794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>
                <a:hlinkClick r:id="rId4" action="ppaction://hlinkfile"/>
              </a:rPr>
              <a:t>Website</a:t>
            </a:r>
            <a:endParaRPr lang="de-DE" dirty="0"/>
          </a:p>
        </p:txBody>
      </p:sp>
      <p:pic>
        <p:nvPicPr>
          <p:cNvPr id="17" name="Picture 2" descr="Bad Storm Stickers - Find &amp; Share on GIPHY">
            <a:extLst>
              <a:ext uri="{FF2B5EF4-FFF2-40B4-BE49-F238E27FC236}">
                <a16:creationId xmlns:a16="http://schemas.microsoft.com/office/drawing/2014/main" id="{C2B3ADC3-629B-8AD9-22E0-606A00E909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9436" y="-3452564"/>
            <a:ext cx="3452564" cy="3452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53622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6FC5E9-890D-E307-EF19-3AF97AE65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12C80597-0481-88D5-952A-6799AFD45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71D6CD5C-04AE-315E-5F07-A3E3C61B8B1B}"/>
              </a:ext>
            </a:extLst>
          </p:cNvPr>
          <p:cNvSpPr txBox="1">
            <a:spLocks/>
          </p:cNvSpPr>
          <p:nvPr/>
        </p:nvSpPr>
        <p:spPr>
          <a:xfrm>
            <a:off x="-104503" y="-2360552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/>
              <a:t>Research Goal</a:t>
            </a:r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9D7C87E2-B2D2-A78A-4D46-909637EC6CCA}"/>
              </a:ext>
            </a:extLst>
          </p:cNvPr>
          <p:cNvSpPr txBox="1">
            <a:spLocks/>
          </p:cNvSpPr>
          <p:nvPr/>
        </p:nvSpPr>
        <p:spPr>
          <a:xfrm>
            <a:off x="-104503" y="-2413949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/>
              <a:t>Data Sources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A5E73FE9-B9C9-AC0B-8902-A23B0A2C8270}"/>
              </a:ext>
            </a:extLst>
          </p:cNvPr>
          <p:cNvSpPr txBox="1">
            <a:spLocks/>
          </p:cNvSpPr>
          <p:nvPr/>
        </p:nvSpPr>
        <p:spPr>
          <a:xfrm>
            <a:off x="40051" y="-2295152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/>
              <a:t>Method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F02FB5EC-9E31-6449-0B76-D98C190B2E35}"/>
              </a:ext>
            </a:extLst>
          </p:cNvPr>
          <p:cNvSpPr txBox="1"/>
          <p:nvPr/>
        </p:nvSpPr>
        <p:spPr>
          <a:xfrm>
            <a:off x="-12153645" y="1797224"/>
            <a:ext cx="1193593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All </a:t>
            </a:r>
            <a:r>
              <a:rPr lang="de-DE" sz="2000" dirty="0" err="1"/>
              <a:t>datasets</a:t>
            </a:r>
            <a:r>
              <a:rPr lang="de-DE" sz="2000" dirty="0"/>
              <a:t> </a:t>
            </a:r>
            <a:r>
              <a:rPr lang="de-DE" sz="2000" dirty="0" err="1"/>
              <a:t>were</a:t>
            </a:r>
            <a:r>
              <a:rPr lang="de-DE" sz="2000" dirty="0"/>
              <a:t> </a:t>
            </a:r>
            <a:r>
              <a:rPr lang="de-DE" sz="2000" dirty="0" err="1"/>
              <a:t>converted</a:t>
            </a:r>
            <a:r>
              <a:rPr lang="de-DE" sz="2000" dirty="0"/>
              <a:t> </a:t>
            </a:r>
            <a:r>
              <a:rPr lang="de-DE" sz="2000" dirty="0" err="1"/>
              <a:t>to</a:t>
            </a:r>
            <a:r>
              <a:rPr lang="de-DE" sz="2000" dirty="0"/>
              <a:t> </a:t>
            </a:r>
            <a:r>
              <a:rPr lang="de-DE" sz="2000" dirty="0" err="1"/>
              <a:t>daily</a:t>
            </a:r>
            <a:r>
              <a:rPr lang="de-DE" sz="2000" dirty="0"/>
              <a:t> </a:t>
            </a:r>
            <a:r>
              <a:rPr lang="de-DE" sz="2000" dirty="0" err="1"/>
              <a:t>level</a:t>
            </a:r>
            <a:r>
              <a:rPr lang="de-DE" sz="2000" dirty="0"/>
              <a:t> and </a:t>
            </a:r>
            <a:r>
              <a:rPr lang="de-DE" sz="2000" dirty="0" err="1"/>
              <a:t>merged</a:t>
            </a:r>
            <a:r>
              <a:rPr lang="de-DE" sz="2000" dirty="0"/>
              <a:t> </a:t>
            </a:r>
            <a:r>
              <a:rPr lang="de-DE" sz="2000" dirty="0" err="1"/>
              <a:t>by</a:t>
            </a:r>
            <a:r>
              <a:rPr lang="de-DE" sz="2000" dirty="0"/>
              <a:t> date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For</a:t>
            </a:r>
            <a:r>
              <a:rPr lang="de-DE" sz="2000" dirty="0"/>
              <a:t> </a:t>
            </a:r>
            <a:r>
              <a:rPr lang="de-DE" sz="2000" dirty="0" err="1"/>
              <a:t>electricity</a:t>
            </a:r>
            <a:r>
              <a:rPr lang="de-DE" sz="2000" dirty="0"/>
              <a:t> </a:t>
            </a:r>
            <a:r>
              <a:rPr lang="de-DE" sz="2000" dirty="0" err="1"/>
              <a:t>consumption</a:t>
            </a:r>
            <a:r>
              <a:rPr lang="de-DE" sz="2000" dirty="0"/>
              <a:t>, </a:t>
            </a:r>
            <a:r>
              <a:rPr lang="de-DE" sz="2000" dirty="0" err="1"/>
              <a:t>we</a:t>
            </a:r>
            <a:r>
              <a:rPr lang="de-DE" sz="2000" dirty="0"/>
              <a:t> </a:t>
            </a:r>
            <a:r>
              <a:rPr lang="de-DE" sz="2000" dirty="0" err="1"/>
              <a:t>compared</a:t>
            </a:r>
            <a:r>
              <a:rPr lang="de-DE" sz="2000" dirty="0"/>
              <a:t> </a:t>
            </a:r>
            <a:r>
              <a:rPr lang="de-DE" sz="2000" dirty="0" err="1"/>
              <a:t>three</a:t>
            </a:r>
            <a:r>
              <a:rPr lang="de-DE" sz="2000" dirty="0"/>
              <a:t> </a:t>
            </a:r>
            <a:r>
              <a:rPr lang="de-DE" sz="2000" dirty="0" err="1"/>
              <a:t>day</a:t>
            </a:r>
            <a:r>
              <a:rPr lang="de-DE" sz="2000" dirty="0"/>
              <a:t> type: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000" dirty="0"/>
              <a:t>Regular Days, </a:t>
            </a:r>
            <a:r>
              <a:rPr lang="de-DE" sz="2000" dirty="0" err="1"/>
              <a:t>Sundays</a:t>
            </a:r>
            <a:r>
              <a:rPr lang="de-DE" sz="2000" dirty="0"/>
              <a:t> and Holidays</a:t>
            </a:r>
          </a:p>
          <a:p>
            <a:pPr lvl="1"/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For</a:t>
            </a:r>
            <a:r>
              <a:rPr lang="de-DE" sz="2000" dirty="0"/>
              <a:t> </a:t>
            </a:r>
            <a:r>
              <a:rPr lang="de-DE" sz="2000" dirty="0" err="1"/>
              <a:t>electricity</a:t>
            </a:r>
            <a:r>
              <a:rPr lang="de-DE" sz="2000" dirty="0"/>
              <a:t> </a:t>
            </a:r>
            <a:r>
              <a:rPr lang="de-DE" sz="2000" dirty="0" err="1"/>
              <a:t>generation</a:t>
            </a:r>
            <a:r>
              <a:rPr lang="de-DE" sz="2000" dirty="0"/>
              <a:t>, </a:t>
            </a:r>
            <a:r>
              <a:rPr lang="de-DE" sz="2000" dirty="0" err="1"/>
              <a:t>we</a:t>
            </a:r>
            <a:r>
              <a:rPr lang="de-DE" sz="2000" dirty="0"/>
              <a:t> </a:t>
            </a:r>
            <a:r>
              <a:rPr lang="de-DE" sz="2000" dirty="0" err="1"/>
              <a:t>examined</a:t>
            </a:r>
            <a:r>
              <a:rPr lang="de-DE" sz="2000" dirty="0"/>
              <a:t> </a:t>
            </a:r>
            <a:r>
              <a:rPr lang="de-DE" sz="2000" dirty="0" err="1"/>
              <a:t>correlations</a:t>
            </a:r>
            <a:r>
              <a:rPr lang="de-DE" sz="2000" dirty="0"/>
              <a:t> </a:t>
            </a:r>
            <a:r>
              <a:rPr lang="de-DE" sz="2000" dirty="0" err="1"/>
              <a:t>between</a:t>
            </a:r>
            <a:r>
              <a:rPr lang="de-DE" sz="2000" dirty="0"/>
              <a:t> </a:t>
            </a:r>
            <a:r>
              <a:rPr lang="de-DE" sz="2000" dirty="0" err="1"/>
              <a:t>weather</a:t>
            </a:r>
            <a:r>
              <a:rPr lang="de-DE" sz="2000" dirty="0"/>
              <a:t> variables and </a:t>
            </a:r>
            <a:r>
              <a:rPr lang="de-DE" sz="2000" dirty="0" err="1"/>
              <a:t>renewable</a:t>
            </a:r>
            <a:r>
              <a:rPr lang="de-DE" sz="2000" dirty="0"/>
              <a:t> </a:t>
            </a:r>
            <a:r>
              <a:rPr lang="de-DE" sz="2000" dirty="0" err="1"/>
              <a:t>generation</a:t>
            </a:r>
            <a:r>
              <a:rPr lang="de-DE" sz="2000" dirty="0"/>
              <a:t>, </a:t>
            </a:r>
            <a:r>
              <a:rPr lang="de-DE" sz="2000" dirty="0" err="1"/>
              <a:t>especially</a:t>
            </a:r>
            <a:r>
              <a:rPr lang="de-DE" sz="20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000" dirty="0"/>
              <a:t>wind </a:t>
            </a:r>
            <a:r>
              <a:rPr lang="de-DE" sz="2000" dirty="0" err="1"/>
              <a:t>speed</a:t>
            </a:r>
            <a:r>
              <a:rPr lang="de-DE" sz="2000" dirty="0"/>
              <a:t> – wind </a:t>
            </a:r>
            <a:r>
              <a:rPr lang="de-DE" sz="2000" dirty="0" err="1"/>
              <a:t>generation</a:t>
            </a:r>
            <a:r>
              <a:rPr lang="de-DE" sz="20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Temperature</a:t>
            </a:r>
            <a:r>
              <a:rPr lang="de-DE" sz="2000" dirty="0"/>
              <a:t> / </a:t>
            </a:r>
            <a:r>
              <a:rPr lang="de-DE" sz="2000" dirty="0" err="1"/>
              <a:t>seasonal</a:t>
            </a:r>
            <a:r>
              <a:rPr lang="de-DE" sz="2000" dirty="0"/>
              <a:t> </a:t>
            </a:r>
            <a:r>
              <a:rPr lang="de-DE" sz="2000" dirty="0" err="1"/>
              <a:t>conditions</a:t>
            </a:r>
            <a:r>
              <a:rPr lang="de-DE" sz="2000" dirty="0"/>
              <a:t> – solar </a:t>
            </a:r>
            <a:r>
              <a:rPr lang="de-DE" sz="2000" dirty="0" err="1"/>
              <a:t>generation</a:t>
            </a:r>
            <a:endParaRPr lang="de-DE" sz="2000" dirty="0"/>
          </a:p>
          <a:p>
            <a:pPr lvl="1"/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We</a:t>
            </a:r>
            <a:r>
              <a:rPr lang="de-DE" sz="2000" dirty="0"/>
              <a:t> also </a:t>
            </a:r>
            <a:r>
              <a:rPr lang="de-DE" sz="2000" dirty="0" err="1"/>
              <a:t>conducted</a:t>
            </a:r>
            <a:r>
              <a:rPr lang="de-DE" sz="2000" dirty="0"/>
              <a:t> a regional </a:t>
            </a:r>
            <a:r>
              <a:rPr lang="de-DE" sz="2000" dirty="0" err="1"/>
              <a:t>comparison</a:t>
            </a:r>
            <a:r>
              <a:rPr lang="de-DE" sz="2000" dirty="0"/>
              <a:t> </a:t>
            </a:r>
            <a:r>
              <a:rPr lang="de-DE" sz="2000" dirty="0" err="1"/>
              <a:t>across</a:t>
            </a:r>
            <a:r>
              <a:rPr lang="de-DE" sz="2000" dirty="0"/>
              <a:t> TSO </a:t>
            </a:r>
            <a:r>
              <a:rPr lang="de-DE" sz="2000" dirty="0" err="1"/>
              <a:t>zones</a:t>
            </a:r>
            <a:r>
              <a:rPr lang="de-DE" sz="20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000" dirty="0"/>
              <a:t>50Hertz, Amprion, TenneT and TransnetBW</a:t>
            </a:r>
          </a:p>
        </p:txBody>
      </p:sp>
      <p:pic>
        <p:nvPicPr>
          <p:cNvPr id="5123" name="Picture 3">
            <a:extLst>
              <a:ext uri="{FF2B5EF4-FFF2-40B4-BE49-F238E27FC236}">
                <a16:creationId xmlns:a16="http://schemas.microsoft.com/office/drawing/2014/main" id="{8CB52346-F9A0-7D1D-12DD-30CF747FA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73382" y="7243792"/>
            <a:ext cx="2809978" cy="2241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el 1">
            <a:extLst>
              <a:ext uri="{FF2B5EF4-FFF2-40B4-BE49-F238E27FC236}">
                <a16:creationId xmlns:a16="http://schemas.microsoft.com/office/drawing/2014/main" id="{6AAA3C46-319E-DE29-2792-CA45FC7F7710}"/>
              </a:ext>
            </a:extLst>
          </p:cNvPr>
          <p:cNvSpPr txBox="1">
            <a:spLocks/>
          </p:cNvSpPr>
          <p:nvPr/>
        </p:nvSpPr>
        <p:spPr>
          <a:xfrm>
            <a:off x="40051" y="-2176355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/>
              <a:t>TSO </a:t>
            </a:r>
            <a:r>
              <a:rPr lang="de-DE" dirty="0" err="1"/>
              <a:t>Zones</a:t>
            </a:r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167E58C-FBD7-08CB-F92B-22A8441AFC4C}"/>
              </a:ext>
            </a:extLst>
          </p:cNvPr>
          <p:cNvSpPr txBox="1">
            <a:spLocks/>
          </p:cNvSpPr>
          <p:nvPr/>
        </p:nvSpPr>
        <p:spPr>
          <a:xfrm>
            <a:off x="-185798" y="-2446649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/>
              <a:t>Main </a:t>
            </a:r>
            <a:r>
              <a:rPr lang="de-DE" dirty="0" err="1"/>
              <a:t>Finding</a:t>
            </a:r>
            <a:r>
              <a:rPr lang="de-DE" dirty="0"/>
              <a:t> 1: Holidays and </a:t>
            </a:r>
            <a:r>
              <a:rPr lang="de-DE" dirty="0" err="1"/>
              <a:t>Consumption</a:t>
            </a:r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B68C6206-7ED1-E016-B79F-268EDD5943B1}"/>
              </a:ext>
            </a:extLst>
          </p:cNvPr>
          <p:cNvSpPr txBox="1"/>
          <p:nvPr/>
        </p:nvSpPr>
        <p:spPr>
          <a:xfrm>
            <a:off x="-9236880" y="3962735"/>
            <a:ext cx="1193593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Electricity</a:t>
            </a:r>
            <a:r>
              <a:rPr lang="de-DE" sz="2000" dirty="0"/>
              <a:t> </a:t>
            </a:r>
            <a:r>
              <a:rPr lang="de-DE" sz="2000" dirty="0" err="1"/>
              <a:t>consumption</a:t>
            </a:r>
            <a:r>
              <a:rPr lang="de-DE" sz="2000" dirty="0"/>
              <a:t> </a:t>
            </a:r>
            <a:r>
              <a:rPr lang="de-DE" sz="2000" dirty="0" err="1"/>
              <a:t>lowest</a:t>
            </a:r>
            <a:r>
              <a:rPr lang="de-DE" sz="2000" dirty="0"/>
              <a:t> on </a:t>
            </a:r>
            <a:r>
              <a:rPr lang="de-DE" sz="2000" dirty="0" err="1"/>
              <a:t>holiday-period</a:t>
            </a:r>
            <a:r>
              <a:rPr lang="de-DE" sz="2000" dirty="0"/>
              <a:t> </a:t>
            </a:r>
            <a:r>
              <a:rPr lang="de-DE" sz="2000" dirty="0" err="1"/>
              <a:t>days</a:t>
            </a: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Regular </a:t>
            </a:r>
            <a:r>
              <a:rPr lang="de-DE" sz="2000" dirty="0" err="1"/>
              <a:t>working</a:t>
            </a:r>
            <a:r>
              <a:rPr lang="de-DE" sz="2000" dirty="0"/>
              <a:t> </a:t>
            </a:r>
            <a:r>
              <a:rPr lang="de-DE" sz="2000" dirty="0" err="1"/>
              <a:t>days</a:t>
            </a:r>
            <a:r>
              <a:rPr lang="de-DE" sz="2000" dirty="0"/>
              <a:t> </a:t>
            </a:r>
            <a:r>
              <a:rPr lang="de-DE" sz="2000" dirty="0" err="1"/>
              <a:t>show</a:t>
            </a:r>
            <a:r>
              <a:rPr lang="de-DE" sz="2000" dirty="0"/>
              <a:t> </a:t>
            </a:r>
            <a:r>
              <a:rPr lang="de-DE" sz="2000" dirty="0" err="1"/>
              <a:t>higher</a:t>
            </a:r>
            <a:r>
              <a:rPr lang="de-DE" sz="2000" dirty="0"/>
              <a:t> </a:t>
            </a:r>
            <a:r>
              <a:rPr lang="de-DE" sz="2000" dirty="0" err="1"/>
              <a:t>average</a:t>
            </a:r>
            <a:r>
              <a:rPr lang="de-DE" sz="2000" dirty="0"/>
              <a:t> </a:t>
            </a:r>
            <a:r>
              <a:rPr lang="de-DE" sz="2000" dirty="0" err="1"/>
              <a:t>consumption</a:t>
            </a: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Sundays</a:t>
            </a:r>
            <a:r>
              <a:rPr lang="de-DE" sz="2000" dirty="0"/>
              <a:t> </a:t>
            </a:r>
            <a:r>
              <a:rPr lang="de-DE" sz="2000" dirty="0" err="1"/>
              <a:t>are</a:t>
            </a:r>
            <a:r>
              <a:rPr lang="de-DE" sz="2000" dirty="0"/>
              <a:t> also </a:t>
            </a:r>
            <a:r>
              <a:rPr lang="de-DE" sz="2000" dirty="0" err="1"/>
              <a:t>lower</a:t>
            </a:r>
            <a:r>
              <a:rPr lang="de-DE" sz="2000" dirty="0"/>
              <a:t> </a:t>
            </a:r>
            <a:r>
              <a:rPr lang="de-DE" sz="2000" dirty="0" err="1"/>
              <a:t>than</a:t>
            </a:r>
            <a:r>
              <a:rPr lang="de-DE" sz="2000" dirty="0"/>
              <a:t> </a:t>
            </a:r>
            <a:r>
              <a:rPr lang="de-DE" sz="2000" dirty="0" err="1"/>
              <a:t>regular</a:t>
            </a:r>
            <a:r>
              <a:rPr lang="de-DE" sz="2000" dirty="0"/>
              <a:t> </a:t>
            </a:r>
            <a:r>
              <a:rPr lang="de-DE" sz="2000" dirty="0" err="1"/>
              <a:t>days</a:t>
            </a:r>
            <a:r>
              <a:rPr lang="de-DE" sz="2000" dirty="0"/>
              <a:t>,                                                                                           but in </a:t>
            </a:r>
            <a:r>
              <a:rPr lang="de-DE" sz="2000" dirty="0" err="1"/>
              <a:t>our</a:t>
            </a:r>
            <a:r>
              <a:rPr lang="de-DE" sz="2000" dirty="0"/>
              <a:t> </a:t>
            </a:r>
            <a:r>
              <a:rPr lang="de-DE" sz="2000" dirty="0" err="1"/>
              <a:t>data</a:t>
            </a:r>
            <a:r>
              <a:rPr lang="de-DE" sz="2000" dirty="0"/>
              <a:t> </a:t>
            </a:r>
            <a:r>
              <a:rPr lang="de-DE" sz="2000" dirty="0" err="1"/>
              <a:t>the</a:t>
            </a:r>
            <a:r>
              <a:rPr lang="de-DE" sz="2000" dirty="0"/>
              <a:t> </a:t>
            </a:r>
            <a:r>
              <a:rPr lang="de-DE" sz="2000" dirty="0" err="1"/>
              <a:t>strongest</a:t>
            </a:r>
            <a:r>
              <a:rPr lang="de-DE" sz="2000" dirty="0"/>
              <a:t> </a:t>
            </a:r>
            <a:r>
              <a:rPr lang="de-DE" sz="2000" dirty="0" err="1"/>
              <a:t>reduction</a:t>
            </a:r>
            <a:r>
              <a:rPr lang="de-DE" sz="2000" dirty="0"/>
              <a:t> </a:t>
            </a:r>
            <a:r>
              <a:rPr lang="de-DE" sz="2000" dirty="0" err="1"/>
              <a:t>appears</a:t>
            </a:r>
            <a:r>
              <a:rPr lang="de-DE" sz="2000" dirty="0"/>
              <a:t> </a:t>
            </a:r>
            <a:r>
              <a:rPr lang="de-DE" sz="2000" dirty="0" err="1"/>
              <a:t>during</a:t>
            </a:r>
            <a:r>
              <a:rPr lang="de-DE" sz="2000" dirty="0"/>
              <a:t> </a:t>
            </a:r>
            <a:r>
              <a:rPr lang="de-DE" sz="2000" dirty="0" err="1"/>
              <a:t>holiday</a:t>
            </a:r>
            <a:r>
              <a:rPr lang="de-DE" sz="2000" dirty="0"/>
              <a:t> </a:t>
            </a:r>
            <a:r>
              <a:rPr lang="de-DE" sz="2000" dirty="0" err="1"/>
              <a:t>periods</a:t>
            </a: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This </a:t>
            </a:r>
            <a:r>
              <a:rPr lang="de-DE" sz="2000" dirty="0" err="1"/>
              <a:t>suggests</a:t>
            </a:r>
            <a:r>
              <a:rPr lang="de-DE" sz="2000" dirty="0"/>
              <a:t> </a:t>
            </a:r>
            <a:r>
              <a:rPr lang="de-DE" sz="2000" dirty="0" err="1"/>
              <a:t>that</a:t>
            </a:r>
            <a:r>
              <a:rPr lang="de-DE" sz="2000" dirty="0"/>
              <a:t> </a:t>
            </a:r>
            <a:r>
              <a:rPr lang="de-DE" sz="2000" dirty="0" err="1"/>
              <a:t>changes</a:t>
            </a:r>
            <a:r>
              <a:rPr lang="de-DE" sz="2000" dirty="0"/>
              <a:t> in </a:t>
            </a:r>
            <a:r>
              <a:rPr lang="de-DE" sz="2000" dirty="0" err="1"/>
              <a:t>routines</a:t>
            </a:r>
            <a:r>
              <a:rPr lang="de-DE" sz="2000" dirty="0"/>
              <a:t>, </a:t>
            </a:r>
            <a:r>
              <a:rPr lang="de-DE" sz="2000" dirty="0" err="1"/>
              <a:t>mobility</a:t>
            </a:r>
            <a:r>
              <a:rPr lang="de-DE" sz="2000" dirty="0"/>
              <a:t> and </a:t>
            </a:r>
            <a:r>
              <a:rPr lang="de-DE" sz="2000" dirty="0" err="1"/>
              <a:t>economic</a:t>
            </a:r>
            <a:r>
              <a:rPr lang="de-DE" sz="2000" dirty="0"/>
              <a:t>                                                       </a:t>
            </a:r>
            <a:r>
              <a:rPr lang="de-DE" sz="2000" dirty="0" err="1"/>
              <a:t>activity</a:t>
            </a:r>
            <a:r>
              <a:rPr lang="de-DE" sz="2000" dirty="0"/>
              <a:t> </a:t>
            </a:r>
            <a:r>
              <a:rPr lang="de-DE" sz="2000" dirty="0" err="1"/>
              <a:t>influence</a:t>
            </a:r>
            <a:r>
              <a:rPr lang="de-DE" sz="2000" dirty="0"/>
              <a:t> </a:t>
            </a:r>
            <a:r>
              <a:rPr lang="de-DE" sz="2000" dirty="0" err="1"/>
              <a:t>electricity</a:t>
            </a:r>
            <a:r>
              <a:rPr lang="de-DE" sz="2000" dirty="0"/>
              <a:t> </a:t>
            </a:r>
            <a:r>
              <a:rPr lang="de-DE" sz="2000" dirty="0" err="1"/>
              <a:t>demand</a:t>
            </a:r>
            <a:endParaRPr lang="de-DE" sz="2000" dirty="0"/>
          </a:p>
        </p:txBody>
      </p:sp>
      <p:pic>
        <p:nvPicPr>
          <p:cNvPr id="6148" name="Picture 4" descr="Boy Sleeping GIFs | Tenor">
            <a:extLst>
              <a:ext uri="{FF2B5EF4-FFF2-40B4-BE49-F238E27FC236}">
                <a16:creationId xmlns:a16="http://schemas.microsoft.com/office/drawing/2014/main" id="{87594E6E-A79B-07F8-B294-6208E22E77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5078" y="-1425814"/>
            <a:ext cx="1307017" cy="1307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el 1">
            <a:extLst>
              <a:ext uri="{FF2B5EF4-FFF2-40B4-BE49-F238E27FC236}">
                <a16:creationId xmlns:a16="http://schemas.microsoft.com/office/drawing/2014/main" id="{B83874E3-1FB7-FD07-D4D3-C2E67230CB9F}"/>
              </a:ext>
            </a:extLst>
          </p:cNvPr>
          <p:cNvSpPr txBox="1">
            <a:spLocks/>
          </p:cNvSpPr>
          <p:nvPr/>
        </p:nvSpPr>
        <p:spPr>
          <a:xfrm>
            <a:off x="-7740719" y="-669686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/>
              <a:t>Main </a:t>
            </a:r>
            <a:r>
              <a:rPr lang="de-DE" dirty="0" err="1"/>
              <a:t>Finding</a:t>
            </a:r>
            <a:r>
              <a:rPr lang="de-DE" dirty="0"/>
              <a:t> 1: Holidays and </a:t>
            </a:r>
            <a:r>
              <a:rPr lang="de-DE" dirty="0" err="1"/>
              <a:t>Consumption</a:t>
            </a:r>
            <a:endParaRPr lang="de-DE" dirty="0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13A484A6-A885-8750-1B3C-1ADA920C8CD1}"/>
              </a:ext>
            </a:extLst>
          </p:cNvPr>
          <p:cNvSpPr txBox="1">
            <a:spLocks/>
          </p:cNvSpPr>
          <p:nvPr/>
        </p:nvSpPr>
        <p:spPr>
          <a:xfrm>
            <a:off x="-7740719" y="2241755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sz="2400" dirty="0" err="1"/>
              <a:t>To</a:t>
            </a:r>
            <a:r>
              <a:rPr lang="de-DE" sz="2400" dirty="0"/>
              <a:t> </a:t>
            </a:r>
            <a:r>
              <a:rPr lang="de-DE" sz="2400" dirty="0" err="1"/>
              <a:t>what</a:t>
            </a:r>
            <a:r>
              <a:rPr lang="de-DE" sz="2400" dirty="0"/>
              <a:t> </a:t>
            </a:r>
            <a:r>
              <a:rPr lang="de-DE" sz="2400" dirty="0" err="1"/>
              <a:t>extent</a:t>
            </a:r>
            <a:r>
              <a:rPr lang="de-DE" sz="2400" dirty="0"/>
              <a:t> do </a:t>
            </a:r>
            <a:r>
              <a:rPr lang="de-DE" sz="2400" dirty="0" err="1"/>
              <a:t>holiday</a:t>
            </a:r>
            <a:r>
              <a:rPr lang="de-DE" sz="2400" dirty="0"/>
              <a:t> </a:t>
            </a:r>
            <a:r>
              <a:rPr lang="de-DE" sz="2400" dirty="0" err="1"/>
              <a:t>periods</a:t>
            </a:r>
            <a:r>
              <a:rPr lang="de-DE" sz="2400" dirty="0"/>
              <a:t> </a:t>
            </a:r>
            <a:r>
              <a:rPr lang="de-DE" sz="2400" dirty="0" err="1"/>
              <a:t>influence</a:t>
            </a:r>
            <a:r>
              <a:rPr lang="de-DE" sz="2400" dirty="0"/>
              <a:t> </a:t>
            </a:r>
            <a:r>
              <a:rPr lang="de-DE" sz="2400" dirty="0" err="1"/>
              <a:t>daily</a:t>
            </a:r>
            <a:r>
              <a:rPr lang="de-DE" sz="2400" dirty="0"/>
              <a:t> </a:t>
            </a:r>
            <a:r>
              <a:rPr lang="de-DE" sz="2400" dirty="0" err="1"/>
              <a:t>electricity</a:t>
            </a:r>
            <a:r>
              <a:rPr lang="de-DE" sz="2400" dirty="0"/>
              <a:t> </a:t>
            </a:r>
            <a:r>
              <a:rPr lang="de-DE" sz="2400" dirty="0" err="1"/>
              <a:t>consumption</a:t>
            </a:r>
            <a:r>
              <a:rPr lang="de-DE" sz="2400" dirty="0"/>
              <a:t> in </a:t>
            </a:r>
            <a:r>
              <a:rPr lang="de-DE" sz="2400" dirty="0" err="1"/>
              <a:t>germany</a:t>
            </a:r>
            <a:r>
              <a:rPr lang="de-DE" sz="2400" dirty="0"/>
              <a:t>?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7F8026A4-6F37-7A2E-4CBF-0CD4EE1E6B3F}"/>
              </a:ext>
            </a:extLst>
          </p:cNvPr>
          <p:cNvSpPr txBox="1">
            <a:spLocks/>
          </p:cNvSpPr>
          <p:nvPr/>
        </p:nvSpPr>
        <p:spPr>
          <a:xfrm>
            <a:off x="4675224" y="-2176356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/>
              <a:t>Website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69CB0DC1-6181-D047-4253-3C40E70E1387}"/>
              </a:ext>
            </a:extLst>
          </p:cNvPr>
          <p:cNvSpPr txBox="1">
            <a:spLocks/>
          </p:cNvSpPr>
          <p:nvPr/>
        </p:nvSpPr>
        <p:spPr>
          <a:xfrm>
            <a:off x="113211" y="-788483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/>
              <a:t>Main </a:t>
            </a:r>
            <a:r>
              <a:rPr lang="de-DE" dirty="0" err="1"/>
              <a:t>Finding</a:t>
            </a:r>
            <a:r>
              <a:rPr lang="de-DE" dirty="0"/>
              <a:t> 2: </a:t>
            </a:r>
            <a:r>
              <a:rPr lang="de-DE" dirty="0" err="1"/>
              <a:t>Weather</a:t>
            </a:r>
            <a:endParaRPr lang="de-DE" dirty="0"/>
          </a:p>
          <a:p>
            <a:pPr algn="l"/>
            <a:r>
              <a:rPr lang="de-DE" dirty="0"/>
              <a:t>And Generation</a:t>
            </a:r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D6DFA263-0CD4-7C42-338E-B0F76B1DEF91}"/>
              </a:ext>
            </a:extLst>
          </p:cNvPr>
          <p:cNvSpPr txBox="1">
            <a:spLocks/>
          </p:cNvSpPr>
          <p:nvPr/>
        </p:nvSpPr>
        <p:spPr>
          <a:xfrm>
            <a:off x="169817" y="680950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sz="2400" dirty="0"/>
              <a:t>How </a:t>
            </a:r>
            <a:r>
              <a:rPr lang="de-DE" sz="2400" dirty="0" err="1"/>
              <a:t>strongly</a:t>
            </a:r>
            <a:r>
              <a:rPr lang="de-DE" sz="2400" dirty="0"/>
              <a:t> do </a:t>
            </a:r>
            <a:r>
              <a:rPr lang="de-DE" sz="2400" dirty="0" err="1"/>
              <a:t>weather</a:t>
            </a:r>
            <a:r>
              <a:rPr lang="de-DE" sz="2400" dirty="0"/>
              <a:t> </a:t>
            </a:r>
            <a:r>
              <a:rPr lang="de-DE" sz="2400" dirty="0" err="1"/>
              <a:t>conditions</a:t>
            </a:r>
            <a:r>
              <a:rPr lang="de-DE" sz="2400" dirty="0"/>
              <a:t> </a:t>
            </a:r>
            <a:r>
              <a:rPr lang="de-DE" sz="2400" dirty="0" err="1"/>
              <a:t>explain</a:t>
            </a:r>
            <a:r>
              <a:rPr lang="de-DE" sz="2400" dirty="0"/>
              <a:t> </a:t>
            </a:r>
            <a:r>
              <a:rPr lang="de-DE" sz="2400" dirty="0" err="1"/>
              <a:t>renewable</a:t>
            </a:r>
            <a:r>
              <a:rPr lang="de-DE" sz="2400" dirty="0"/>
              <a:t> </a:t>
            </a:r>
            <a:r>
              <a:rPr lang="de-DE" sz="2400" dirty="0" err="1"/>
              <a:t>electricity</a:t>
            </a:r>
            <a:r>
              <a:rPr lang="de-DE" sz="2400" dirty="0"/>
              <a:t> </a:t>
            </a:r>
            <a:r>
              <a:rPr lang="de-DE" sz="2400" dirty="0" err="1"/>
              <a:t>generation</a:t>
            </a:r>
            <a:r>
              <a:rPr lang="de-DE" sz="2400" dirty="0"/>
              <a:t> in Germany?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F9903C08-2E6E-1A06-551B-2598D7BB9AE6}"/>
              </a:ext>
            </a:extLst>
          </p:cNvPr>
          <p:cNvSpPr txBox="1"/>
          <p:nvPr/>
        </p:nvSpPr>
        <p:spPr>
          <a:xfrm>
            <a:off x="128034" y="3197535"/>
            <a:ext cx="1193593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Weather</a:t>
            </a:r>
            <a:r>
              <a:rPr lang="de-DE" sz="2000" dirty="0"/>
              <a:t> </a:t>
            </a:r>
            <a:r>
              <a:rPr lang="de-DE" sz="2000" dirty="0" err="1"/>
              <a:t>has</a:t>
            </a:r>
            <a:r>
              <a:rPr lang="de-DE" sz="2000" dirty="0"/>
              <a:t> a </a:t>
            </a:r>
            <a:r>
              <a:rPr lang="de-DE" sz="2000" dirty="0" err="1"/>
              <a:t>clear</a:t>
            </a:r>
            <a:r>
              <a:rPr lang="de-DE" sz="2000" dirty="0"/>
              <a:t> </a:t>
            </a:r>
            <a:r>
              <a:rPr lang="de-DE" sz="2000" dirty="0" err="1"/>
              <a:t>influence</a:t>
            </a:r>
            <a:r>
              <a:rPr lang="de-DE" sz="2000" dirty="0"/>
              <a:t> on </a:t>
            </a:r>
            <a:r>
              <a:rPr lang="de-DE" sz="2000" dirty="0" err="1"/>
              <a:t>renewable</a:t>
            </a:r>
            <a:r>
              <a:rPr lang="de-DE" sz="2000" dirty="0"/>
              <a:t> </a:t>
            </a:r>
            <a:r>
              <a:rPr lang="de-DE" sz="2000" dirty="0" err="1"/>
              <a:t>electricity</a:t>
            </a:r>
            <a:r>
              <a:rPr lang="de-DE" sz="2000" dirty="0"/>
              <a:t> </a:t>
            </a:r>
            <a:r>
              <a:rPr lang="de-DE" sz="2000" dirty="0" err="1"/>
              <a:t>genarations</a:t>
            </a:r>
            <a:endParaRPr lang="de-DE" sz="2000" dirty="0"/>
          </a:p>
          <a:p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Higher wind </a:t>
            </a:r>
            <a:r>
              <a:rPr lang="de-DE" sz="2000" dirty="0" err="1"/>
              <a:t>speed</a:t>
            </a:r>
            <a:r>
              <a:rPr lang="de-DE" sz="2000" dirty="0"/>
              <a:t> = </a:t>
            </a:r>
            <a:r>
              <a:rPr lang="de-DE" sz="2000" dirty="0" err="1"/>
              <a:t>higher</a:t>
            </a:r>
            <a:r>
              <a:rPr lang="de-DE" sz="2000" dirty="0"/>
              <a:t> wind power </a:t>
            </a:r>
            <a:r>
              <a:rPr lang="de-DE" sz="2000" dirty="0" err="1"/>
              <a:t>generation</a:t>
            </a: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Higher </a:t>
            </a:r>
            <a:r>
              <a:rPr lang="de-DE" sz="2000" dirty="0" err="1"/>
              <a:t>temperatures</a:t>
            </a:r>
            <a:r>
              <a:rPr lang="de-DE" sz="2000" dirty="0"/>
              <a:t> / </a:t>
            </a:r>
            <a:r>
              <a:rPr lang="de-DE" sz="2000" dirty="0" err="1"/>
              <a:t>sunnier</a:t>
            </a:r>
            <a:r>
              <a:rPr lang="de-DE" sz="2000" dirty="0"/>
              <a:t> </a:t>
            </a:r>
            <a:r>
              <a:rPr lang="de-DE" sz="2000" dirty="0" err="1"/>
              <a:t>conditions</a:t>
            </a:r>
            <a:r>
              <a:rPr lang="de-DE" sz="2000" dirty="0"/>
              <a:t> = </a:t>
            </a:r>
            <a:r>
              <a:rPr lang="de-DE" sz="2000" dirty="0" err="1"/>
              <a:t>higher</a:t>
            </a:r>
            <a:r>
              <a:rPr lang="de-DE" sz="2000" dirty="0"/>
              <a:t> solar </a:t>
            </a:r>
            <a:r>
              <a:rPr lang="de-DE" sz="2000" dirty="0" err="1"/>
              <a:t>generation</a:t>
            </a: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Weather</a:t>
            </a:r>
            <a:r>
              <a:rPr lang="de-DE" sz="2000" dirty="0"/>
              <a:t> </a:t>
            </a:r>
            <a:r>
              <a:rPr lang="de-DE" sz="2000" dirty="0" err="1"/>
              <a:t>effects</a:t>
            </a:r>
            <a:r>
              <a:rPr lang="de-DE" sz="2000" dirty="0"/>
              <a:t> </a:t>
            </a:r>
            <a:r>
              <a:rPr lang="de-DE" sz="2000" dirty="0" err="1"/>
              <a:t>are</a:t>
            </a:r>
            <a:r>
              <a:rPr lang="de-DE" sz="2000" dirty="0"/>
              <a:t> </a:t>
            </a:r>
            <a:r>
              <a:rPr lang="de-DE" sz="2000" dirty="0" err="1"/>
              <a:t>stronger</a:t>
            </a:r>
            <a:r>
              <a:rPr lang="de-DE" sz="2000" dirty="0"/>
              <a:t> </a:t>
            </a:r>
            <a:r>
              <a:rPr lang="de-DE" sz="2000" dirty="0" err="1"/>
              <a:t>for</a:t>
            </a:r>
            <a:r>
              <a:rPr lang="de-DE" sz="2000" dirty="0"/>
              <a:t> </a:t>
            </a:r>
            <a:r>
              <a:rPr lang="de-DE" sz="2000" dirty="0" err="1"/>
              <a:t>generation</a:t>
            </a:r>
            <a:r>
              <a:rPr lang="de-DE" sz="2000" dirty="0"/>
              <a:t> </a:t>
            </a:r>
            <a:r>
              <a:rPr lang="de-DE" sz="2000" dirty="0" err="1"/>
              <a:t>than</a:t>
            </a:r>
            <a:r>
              <a:rPr lang="de-DE" sz="2000" dirty="0"/>
              <a:t> </a:t>
            </a:r>
            <a:r>
              <a:rPr lang="de-DE" sz="2000" dirty="0" err="1"/>
              <a:t>consumption</a:t>
            </a: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Clearest</a:t>
            </a:r>
            <a:r>
              <a:rPr lang="de-DE" sz="2000" dirty="0"/>
              <a:t> </a:t>
            </a:r>
            <a:r>
              <a:rPr lang="de-DE" sz="2000" dirty="0" err="1"/>
              <a:t>relationships</a:t>
            </a:r>
            <a:r>
              <a:rPr lang="de-DE" sz="2000" dirty="0"/>
              <a:t> </a:t>
            </a:r>
            <a:r>
              <a:rPr lang="de-DE" sz="2000" dirty="0" err="1"/>
              <a:t>appear</a:t>
            </a:r>
            <a:r>
              <a:rPr lang="de-DE" sz="2000" dirty="0"/>
              <a:t> </a:t>
            </a:r>
            <a:r>
              <a:rPr lang="de-DE" sz="2000" dirty="0" err="1"/>
              <a:t>for</a:t>
            </a:r>
            <a:r>
              <a:rPr lang="de-DE" sz="2000" dirty="0"/>
              <a:t> wind and solar power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This </a:t>
            </a:r>
            <a:r>
              <a:rPr lang="de-DE" sz="2000" dirty="0" err="1"/>
              <a:t>shows</a:t>
            </a:r>
            <a:r>
              <a:rPr lang="de-DE" sz="2000" dirty="0"/>
              <a:t> </a:t>
            </a:r>
            <a:r>
              <a:rPr lang="de-DE" sz="2000" dirty="0" err="1"/>
              <a:t>that</a:t>
            </a:r>
            <a:r>
              <a:rPr lang="de-DE" sz="2000" dirty="0"/>
              <a:t> </a:t>
            </a:r>
            <a:r>
              <a:rPr lang="de-DE" sz="2000" dirty="0" err="1"/>
              <a:t>renewable</a:t>
            </a:r>
            <a:r>
              <a:rPr lang="de-DE" sz="2000" dirty="0"/>
              <a:t> </a:t>
            </a:r>
            <a:r>
              <a:rPr lang="de-DE" sz="2000" dirty="0" err="1"/>
              <a:t>generation</a:t>
            </a:r>
            <a:r>
              <a:rPr lang="de-DE" sz="2000" dirty="0"/>
              <a:t> </a:t>
            </a:r>
            <a:r>
              <a:rPr lang="de-DE" sz="2000" dirty="0" err="1"/>
              <a:t>depends</a:t>
            </a:r>
            <a:r>
              <a:rPr lang="de-DE" sz="2000" dirty="0"/>
              <a:t> </a:t>
            </a:r>
            <a:r>
              <a:rPr lang="de-DE" sz="2000" dirty="0" err="1"/>
              <a:t>strongly</a:t>
            </a:r>
            <a:r>
              <a:rPr lang="de-DE" sz="2000" dirty="0"/>
              <a:t> on </a:t>
            </a:r>
            <a:r>
              <a:rPr lang="de-DE" sz="2000" dirty="0" err="1"/>
              <a:t>natural</a:t>
            </a:r>
            <a:r>
              <a:rPr lang="de-DE" sz="2000" dirty="0"/>
              <a:t> </a:t>
            </a:r>
            <a:r>
              <a:rPr lang="de-DE" sz="2000" dirty="0" err="1"/>
              <a:t>conditions</a:t>
            </a:r>
            <a:endParaRPr lang="de-DE" sz="2000" dirty="0"/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04CE4CC4-F880-A4EB-6233-7D1ECAC75229}"/>
              </a:ext>
            </a:extLst>
          </p:cNvPr>
          <p:cNvSpPr txBox="1">
            <a:spLocks/>
          </p:cNvSpPr>
          <p:nvPr/>
        </p:nvSpPr>
        <p:spPr>
          <a:xfrm>
            <a:off x="4156936" y="-2569982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>
                <a:hlinkClick r:id="rId4" action="ppaction://hlinkfile"/>
              </a:rPr>
              <a:t>Website</a:t>
            </a:r>
            <a:endParaRPr lang="de-DE" dirty="0"/>
          </a:p>
        </p:txBody>
      </p:sp>
      <p:pic>
        <p:nvPicPr>
          <p:cNvPr id="1026" name="Picture 2" descr="Bad Storm Stickers - Find &amp; Share on GIPHY">
            <a:extLst>
              <a:ext uri="{FF2B5EF4-FFF2-40B4-BE49-F238E27FC236}">
                <a16:creationId xmlns:a16="http://schemas.microsoft.com/office/drawing/2014/main" id="{14D84751-0024-6E16-3A6C-F8BE00439D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4323" y="65399"/>
            <a:ext cx="3452564" cy="3452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53088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C5D613-7062-D3AB-A13B-3863ADEBC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D1A840F5-7D91-C2FA-3D35-8A6EE75B06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B50042AB-E38F-EFE2-2311-65FFD597063F}"/>
              </a:ext>
            </a:extLst>
          </p:cNvPr>
          <p:cNvSpPr txBox="1">
            <a:spLocks/>
          </p:cNvSpPr>
          <p:nvPr/>
        </p:nvSpPr>
        <p:spPr>
          <a:xfrm>
            <a:off x="-104503" y="-2360552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/>
              <a:t>Research Goal</a:t>
            </a:r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CC5F182A-3F8C-2895-0326-577395ACC052}"/>
              </a:ext>
            </a:extLst>
          </p:cNvPr>
          <p:cNvSpPr txBox="1">
            <a:spLocks/>
          </p:cNvSpPr>
          <p:nvPr/>
        </p:nvSpPr>
        <p:spPr>
          <a:xfrm>
            <a:off x="-104503" y="-2413949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/>
              <a:t>Data Sources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82A36C8B-F71F-BF96-B0BB-DAE3BE94AF9D}"/>
              </a:ext>
            </a:extLst>
          </p:cNvPr>
          <p:cNvSpPr txBox="1">
            <a:spLocks/>
          </p:cNvSpPr>
          <p:nvPr/>
        </p:nvSpPr>
        <p:spPr>
          <a:xfrm>
            <a:off x="40051" y="-2295152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/>
              <a:t>Method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D7923B86-1111-29B5-627B-962821DA6BF8}"/>
              </a:ext>
            </a:extLst>
          </p:cNvPr>
          <p:cNvSpPr txBox="1"/>
          <p:nvPr/>
        </p:nvSpPr>
        <p:spPr>
          <a:xfrm>
            <a:off x="-12153645" y="1797224"/>
            <a:ext cx="1193593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All </a:t>
            </a:r>
            <a:r>
              <a:rPr lang="de-DE" sz="2000" dirty="0" err="1"/>
              <a:t>datasets</a:t>
            </a:r>
            <a:r>
              <a:rPr lang="de-DE" sz="2000" dirty="0"/>
              <a:t> </a:t>
            </a:r>
            <a:r>
              <a:rPr lang="de-DE" sz="2000" dirty="0" err="1"/>
              <a:t>were</a:t>
            </a:r>
            <a:r>
              <a:rPr lang="de-DE" sz="2000" dirty="0"/>
              <a:t> </a:t>
            </a:r>
            <a:r>
              <a:rPr lang="de-DE" sz="2000" dirty="0" err="1"/>
              <a:t>converted</a:t>
            </a:r>
            <a:r>
              <a:rPr lang="de-DE" sz="2000" dirty="0"/>
              <a:t> </a:t>
            </a:r>
            <a:r>
              <a:rPr lang="de-DE" sz="2000" dirty="0" err="1"/>
              <a:t>to</a:t>
            </a:r>
            <a:r>
              <a:rPr lang="de-DE" sz="2000" dirty="0"/>
              <a:t> </a:t>
            </a:r>
            <a:r>
              <a:rPr lang="de-DE" sz="2000" dirty="0" err="1"/>
              <a:t>daily</a:t>
            </a:r>
            <a:r>
              <a:rPr lang="de-DE" sz="2000" dirty="0"/>
              <a:t> </a:t>
            </a:r>
            <a:r>
              <a:rPr lang="de-DE" sz="2000" dirty="0" err="1"/>
              <a:t>level</a:t>
            </a:r>
            <a:r>
              <a:rPr lang="de-DE" sz="2000" dirty="0"/>
              <a:t> and </a:t>
            </a:r>
            <a:r>
              <a:rPr lang="de-DE" sz="2000" dirty="0" err="1"/>
              <a:t>merged</a:t>
            </a:r>
            <a:r>
              <a:rPr lang="de-DE" sz="2000" dirty="0"/>
              <a:t> </a:t>
            </a:r>
            <a:r>
              <a:rPr lang="de-DE" sz="2000" dirty="0" err="1"/>
              <a:t>by</a:t>
            </a:r>
            <a:r>
              <a:rPr lang="de-DE" sz="2000" dirty="0"/>
              <a:t> date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For</a:t>
            </a:r>
            <a:r>
              <a:rPr lang="de-DE" sz="2000" dirty="0"/>
              <a:t> </a:t>
            </a:r>
            <a:r>
              <a:rPr lang="de-DE" sz="2000" dirty="0" err="1"/>
              <a:t>electricity</a:t>
            </a:r>
            <a:r>
              <a:rPr lang="de-DE" sz="2000" dirty="0"/>
              <a:t> </a:t>
            </a:r>
            <a:r>
              <a:rPr lang="de-DE" sz="2000" dirty="0" err="1"/>
              <a:t>consumption</a:t>
            </a:r>
            <a:r>
              <a:rPr lang="de-DE" sz="2000" dirty="0"/>
              <a:t>, </a:t>
            </a:r>
            <a:r>
              <a:rPr lang="de-DE" sz="2000" dirty="0" err="1"/>
              <a:t>we</a:t>
            </a:r>
            <a:r>
              <a:rPr lang="de-DE" sz="2000" dirty="0"/>
              <a:t> </a:t>
            </a:r>
            <a:r>
              <a:rPr lang="de-DE" sz="2000" dirty="0" err="1"/>
              <a:t>compared</a:t>
            </a:r>
            <a:r>
              <a:rPr lang="de-DE" sz="2000" dirty="0"/>
              <a:t> </a:t>
            </a:r>
            <a:r>
              <a:rPr lang="de-DE" sz="2000" dirty="0" err="1"/>
              <a:t>three</a:t>
            </a:r>
            <a:r>
              <a:rPr lang="de-DE" sz="2000" dirty="0"/>
              <a:t> </a:t>
            </a:r>
            <a:r>
              <a:rPr lang="de-DE" sz="2000" dirty="0" err="1"/>
              <a:t>day</a:t>
            </a:r>
            <a:r>
              <a:rPr lang="de-DE" sz="2000" dirty="0"/>
              <a:t> type: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000" dirty="0"/>
              <a:t>Regular Days, </a:t>
            </a:r>
            <a:r>
              <a:rPr lang="de-DE" sz="2000" dirty="0" err="1"/>
              <a:t>Sundays</a:t>
            </a:r>
            <a:r>
              <a:rPr lang="de-DE" sz="2000" dirty="0"/>
              <a:t> and Holidays</a:t>
            </a:r>
          </a:p>
          <a:p>
            <a:pPr lvl="1"/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For</a:t>
            </a:r>
            <a:r>
              <a:rPr lang="de-DE" sz="2000" dirty="0"/>
              <a:t> </a:t>
            </a:r>
            <a:r>
              <a:rPr lang="de-DE" sz="2000" dirty="0" err="1"/>
              <a:t>electricity</a:t>
            </a:r>
            <a:r>
              <a:rPr lang="de-DE" sz="2000" dirty="0"/>
              <a:t> </a:t>
            </a:r>
            <a:r>
              <a:rPr lang="de-DE" sz="2000" dirty="0" err="1"/>
              <a:t>generation</a:t>
            </a:r>
            <a:r>
              <a:rPr lang="de-DE" sz="2000" dirty="0"/>
              <a:t>, </a:t>
            </a:r>
            <a:r>
              <a:rPr lang="de-DE" sz="2000" dirty="0" err="1"/>
              <a:t>we</a:t>
            </a:r>
            <a:r>
              <a:rPr lang="de-DE" sz="2000" dirty="0"/>
              <a:t> </a:t>
            </a:r>
            <a:r>
              <a:rPr lang="de-DE" sz="2000" dirty="0" err="1"/>
              <a:t>examined</a:t>
            </a:r>
            <a:r>
              <a:rPr lang="de-DE" sz="2000" dirty="0"/>
              <a:t> </a:t>
            </a:r>
            <a:r>
              <a:rPr lang="de-DE" sz="2000" dirty="0" err="1"/>
              <a:t>correlations</a:t>
            </a:r>
            <a:r>
              <a:rPr lang="de-DE" sz="2000" dirty="0"/>
              <a:t> </a:t>
            </a:r>
            <a:r>
              <a:rPr lang="de-DE" sz="2000" dirty="0" err="1"/>
              <a:t>between</a:t>
            </a:r>
            <a:r>
              <a:rPr lang="de-DE" sz="2000" dirty="0"/>
              <a:t> </a:t>
            </a:r>
            <a:r>
              <a:rPr lang="de-DE" sz="2000" dirty="0" err="1"/>
              <a:t>weather</a:t>
            </a:r>
            <a:r>
              <a:rPr lang="de-DE" sz="2000" dirty="0"/>
              <a:t> variables and </a:t>
            </a:r>
            <a:r>
              <a:rPr lang="de-DE" sz="2000" dirty="0" err="1"/>
              <a:t>renewable</a:t>
            </a:r>
            <a:r>
              <a:rPr lang="de-DE" sz="2000" dirty="0"/>
              <a:t> </a:t>
            </a:r>
            <a:r>
              <a:rPr lang="de-DE" sz="2000" dirty="0" err="1"/>
              <a:t>generation</a:t>
            </a:r>
            <a:r>
              <a:rPr lang="de-DE" sz="2000" dirty="0"/>
              <a:t>, </a:t>
            </a:r>
            <a:r>
              <a:rPr lang="de-DE" sz="2000" dirty="0" err="1"/>
              <a:t>especially</a:t>
            </a:r>
            <a:r>
              <a:rPr lang="de-DE" sz="20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000" dirty="0"/>
              <a:t>wind </a:t>
            </a:r>
            <a:r>
              <a:rPr lang="de-DE" sz="2000" dirty="0" err="1"/>
              <a:t>speed</a:t>
            </a:r>
            <a:r>
              <a:rPr lang="de-DE" sz="2000" dirty="0"/>
              <a:t> – wind </a:t>
            </a:r>
            <a:r>
              <a:rPr lang="de-DE" sz="2000" dirty="0" err="1"/>
              <a:t>generation</a:t>
            </a:r>
            <a:r>
              <a:rPr lang="de-DE" sz="20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Temperature</a:t>
            </a:r>
            <a:r>
              <a:rPr lang="de-DE" sz="2000" dirty="0"/>
              <a:t> / </a:t>
            </a:r>
            <a:r>
              <a:rPr lang="de-DE" sz="2000" dirty="0" err="1"/>
              <a:t>seasonal</a:t>
            </a:r>
            <a:r>
              <a:rPr lang="de-DE" sz="2000" dirty="0"/>
              <a:t> </a:t>
            </a:r>
            <a:r>
              <a:rPr lang="de-DE" sz="2000" dirty="0" err="1"/>
              <a:t>conditions</a:t>
            </a:r>
            <a:r>
              <a:rPr lang="de-DE" sz="2000" dirty="0"/>
              <a:t> – solar </a:t>
            </a:r>
            <a:r>
              <a:rPr lang="de-DE" sz="2000" dirty="0" err="1"/>
              <a:t>generation</a:t>
            </a:r>
            <a:endParaRPr lang="de-DE" sz="2000" dirty="0"/>
          </a:p>
          <a:p>
            <a:pPr lvl="1"/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We</a:t>
            </a:r>
            <a:r>
              <a:rPr lang="de-DE" sz="2000" dirty="0"/>
              <a:t> also </a:t>
            </a:r>
            <a:r>
              <a:rPr lang="de-DE" sz="2000" dirty="0" err="1"/>
              <a:t>conducted</a:t>
            </a:r>
            <a:r>
              <a:rPr lang="de-DE" sz="2000" dirty="0"/>
              <a:t> a regional </a:t>
            </a:r>
            <a:r>
              <a:rPr lang="de-DE" sz="2000" dirty="0" err="1"/>
              <a:t>comparison</a:t>
            </a:r>
            <a:r>
              <a:rPr lang="de-DE" sz="2000" dirty="0"/>
              <a:t> </a:t>
            </a:r>
            <a:r>
              <a:rPr lang="de-DE" sz="2000" dirty="0" err="1"/>
              <a:t>across</a:t>
            </a:r>
            <a:r>
              <a:rPr lang="de-DE" sz="2000" dirty="0"/>
              <a:t> TSO </a:t>
            </a:r>
            <a:r>
              <a:rPr lang="de-DE" sz="2000" dirty="0" err="1"/>
              <a:t>zones</a:t>
            </a:r>
            <a:r>
              <a:rPr lang="de-DE" sz="20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000" dirty="0"/>
              <a:t>50Hertz, Amprion, TenneT and TransnetBW</a:t>
            </a:r>
          </a:p>
        </p:txBody>
      </p:sp>
      <p:pic>
        <p:nvPicPr>
          <p:cNvPr id="5123" name="Picture 3">
            <a:extLst>
              <a:ext uri="{FF2B5EF4-FFF2-40B4-BE49-F238E27FC236}">
                <a16:creationId xmlns:a16="http://schemas.microsoft.com/office/drawing/2014/main" id="{1EEBEBAD-3EB3-6441-1ADC-680FA3647D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73382" y="7243792"/>
            <a:ext cx="2809978" cy="2241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el 1">
            <a:extLst>
              <a:ext uri="{FF2B5EF4-FFF2-40B4-BE49-F238E27FC236}">
                <a16:creationId xmlns:a16="http://schemas.microsoft.com/office/drawing/2014/main" id="{F55ADFEE-F004-2F24-9A0F-F24B7F3E9116}"/>
              </a:ext>
            </a:extLst>
          </p:cNvPr>
          <p:cNvSpPr txBox="1">
            <a:spLocks/>
          </p:cNvSpPr>
          <p:nvPr/>
        </p:nvSpPr>
        <p:spPr>
          <a:xfrm>
            <a:off x="40051" y="-2176355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/>
              <a:t>TSO </a:t>
            </a:r>
            <a:r>
              <a:rPr lang="de-DE" dirty="0" err="1"/>
              <a:t>Zones</a:t>
            </a:r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26C5838-D2A3-EC0F-15BA-6FC14A7B2804}"/>
              </a:ext>
            </a:extLst>
          </p:cNvPr>
          <p:cNvSpPr txBox="1">
            <a:spLocks/>
          </p:cNvSpPr>
          <p:nvPr/>
        </p:nvSpPr>
        <p:spPr>
          <a:xfrm>
            <a:off x="-185798" y="-2446649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/>
              <a:t>Main </a:t>
            </a:r>
            <a:r>
              <a:rPr lang="de-DE" dirty="0" err="1"/>
              <a:t>Finding</a:t>
            </a:r>
            <a:r>
              <a:rPr lang="de-DE" dirty="0"/>
              <a:t> 1: Holidays and </a:t>
            </a:r>
            <a:r>
              <a:rPr lang="de-DE" dirty="0" err="1"/>
              <a:t>Consumption</a:t>
            </a:r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04455286-733E-42F4-0944-6B7FCAB58E19}"/>
              </a:ext>
            </a:extLst>
          </p:cNvPr>
          <p:cNvSpPr txBox="1"/>
          <p:nvPr/>
        </p:nvSpPr>
        <p:spPr>
          <a:xfrm>
            <a:off x="-9236880" y="3962735"/>
            <a:ext cx="1193593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Electricity</a:t>
            </a:r>
            <a:r>
              <a:rPr lang="de-DE" sz="2000" dirty="0"/>
              <a:t> </a:t>
            </a:r>
            <a:r>
              <a:rPr lang="de-DE" sz="2000" dirty="0" err="1"/>
              <a:t>consumption</a:t>
            </a:r>
            <a:r>
              <a:rPr lang="de-DE" sz="2000" dirty="0"/>
              <a:t> </a:t>
            </a:r>
            <a:r>
              <a:rPr lang="de-DE" sz="2000" dirty="0" err="1"/>
              <a:t>lowest</a:t>
            </a:r>
            <a:r>
              <a:rPr lang="de-DE" sz="2000" dirty="0"/>
              <a:t> on </a:t>
            </a:r>
            <a:r>
              <a:rPr lang="de-DE" sz="2000" dirty="0" err="1"/>
              <a:t>holiday-period</a:t>
            </a:r>
            <a:r>
              <a:rPr lang="de-DE" sz="2000" dirty="0"/>
              <a:t> </a:t>
            </a:r>
            <a:r>
              <a:rPr lang="de-DE" sz="2000" dirty="0" err="1"/>
              <a:t>days</a:t>
            </a: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Regular </a:t>
            </a:r>
            <a:r>
              <a:rPr lang="de-DE" sz="2000" dirty="0" err="1"/>
              <a:t>working</a:t>
            </a:r>
            <a:r>
              <a:rPr lang="de-DE" sz="2000" dirty="0"/>
              <a:t> </a:t>
            </a:r>
            <a:r>
              <a:rPr lang="de-DE" sz="2000" dirty="0" err="1"/>
              <a:t>days</a:t>
            </a:r>
            <a:r>
              <a:rPr lang="de-DE" sz="2000" dirty="0"/>
              <a:t> </a:t>
            </a:r>
            <a:r>
              <a:rPr lang="de-DE" sz="2000" dirty="0" err="1"/>
              <a:t>show</a:t>
            </a:r>
            <a:r>
              <a:rPr lang="de-DE" sz="2000" dirty="0"/>
              <a:t> </a:t>
            </a:r>
            <a:r>
              <a:rPr lang="de-DE" sz="2000" dirty="0" err="1"/>
              <a:t>higher</a:t>
            </a:r>
            <a:r>
              <a:rPr lang="de-DE" sz="2000" dirty="0"/>
              <a:t> </a:t>
            </a:r>
            <a:r>
              <a:rPr lang="de-DE" sz="2000" dirty="0" err="1"/>
              <a:t>average</a:t>
            </a:r>
            <a:r>
              <a:rPr lang="de-DE" sz="2000" dirty="0"/>
              <a:t> </a:t>
            </a:r>
            <a:r>
              <a:rPr lang="de-DE" sz="2000" dirty="0" err="1"/>
              <a:t>consumption</a:t>
            </a: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Sundays</a:t>
            </a:r>
            <a:r>
              <a:rPr lang="de-DE" sz="2000" dirty="0"/>
              <a:t> </a:t>
            </a:r>
            <a:r>
              <a:rPr lang="de-DE" sz="2000" dirty="0" err="1"/>
              <a:t>are</a:t>
            </a:r>
            <a:r>
              <a:rPr lang="de-DE" sz="2000" dirty="0"/>
              <a:t> also </a:t>
            </a:r>
            <a:r>
              <a:rPr lang="de-DE" sz="2000" dirty="0" err="1"/>
              <a:t>lower</a:t>
            </a:r>
            <a:r>
              <a:rPr lang="de-DE" sz="2000" dirty="0"/>
              <a:t> </a:t>
            </a:r>
            <a:r>
              <a:rPr lang="de-DE" sz="2000" dirty="0" err="1"/>
              <a:t>than</a:t>
            </a:r>
            <a:r>
              <a:rPr lang="de-DE" sz="2000" dirty="0"/>
              <a:t> </a:t>
            </a:r>
            <a:r>
              <a:rPr lang="de-DE" sz="2000" dirty="0" err="1"/>
              <a:t>regular</a:t>
            </a:r>
            <a:r>
              <a:rPr lang="de-DE" sz="2000" dirty="0"/>
              <a:t> </a:t>
            </a:r>
            <a:r>
              <a:rPr lang="de-DE" sz="2000" dirty="0" err="1"/>
              <a:t>days</a:t>
            </a:r>
            <a:r>
              <a:rPr lang="de-DE" sz="2000" dirty="0"/>
              <a:t>,                                                                                           but in </a:t>
            </a:r>
            <a:r>
              <a:rPr lang="de-DE" sz="2000" dirty="0" err="1"/>
              <a:t>our</a:t>
            </a:r>
            <a:r>
              <a:rPr lang="de-DE" sz="2000" dirty="0"/>
              <a:t> </a:t>
            </a:r>
            <a:r>
              <a:rPr lang="de-DE" sz="2000" dirty="0" err="1"/>
              <a:t>data</a:t>
            </a:r>
            <a:r>
              <a:rPr lang="de-DE" sz="2000" dirty="0"/>
              <a:t> </a:t>
            </a:r>
            <a:r>
              <a:rPr lang="de-DE" sz="2000" dirty="0" err="1"/>
              <a:t>the</a:t>
            </a:r>
            <a:r>
              <a:rPr lang="de-DE" sz="2000" dirty="0"/>
              <a:t> </a:t>
            </a:r>
            <a:r>
              <a:rPr lang="de-DE" sz="2000" dirty="0" err="1"/>
              <a:t>strongest</a:t>
            </a:r>
            <a:r>
              <a:rPr lang="de-DE" sz="2000" dirty="0"/>
              <a:t> </a:t>
            </a:r>
            <a:r>
              <a:rPr lang="de-DE" sz="2000" dirty="0" err="1"/>
              <a:t>reduction</a:t>
            </a:r>
            <a:r>
              <a:rPr lang="de-DE" sz="2000" dirty="0"/>
              <a:t> </a:t>
            </a:r>
            <a:r>
              <a:rPr lang="de-DE" sz="2000" dirty="0" err="1"/>
              <a:t>appears</a:t>
            </a:r>
            <a:r>
              <a:rPr lang="de-DE" sz="2000" dirty="0"/>
              <a:t> </a:t>
            </a:r>
            <a:r>
              <a:rPr lang="de-DE" sz="2000" dirty="0" err="1"/>
              <a:t>during</a:t>
            </a:r>
            <a:r>
              <a:rPr lang="de-DE" sz="2000" dirty="0"/>
              <a:t> </a:t>
            </a:r>
            <a:r>
              <a:rPr lang="de-DE" sz="2000" dirty="0" err="1"/>
              <a:t>holiday</a:t>
            </a:r>
            <a:r>
              <a:rPr lang="de-DE" sz="2000" dirty="0"/>
              <a:t> </a:t>
            </a:r>
            <a:r>
              <a:rPr lang="de-DE" sz="2000" dirty="0" err="1"/>
              <a:t>periods</a:t>
            </a: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This </a:t>
            </a:r>
            <a:r>
              <a:rPr lang="de-DE" sz="2000" dirty="0" err="1"/>
              <a:t>suggests</a:t>
            </a:r>
            <a:r>
              <a:rPr lang="de-DE" sz="2000" dirty="0"/>
              <a:t> </a:t>
            </a:r>
            <a:r>
              <a:rPr lang="de-DE" sz="2000" dirty="0" err="1"/>
              <a:t>that</a:t>
            </a:r>
            <a:r>
              <a:rPr lang="de-DE" sz="2000" dirty="0"/>
              <a:t> </a:t>
            </a:r>
            <a:r>
              <a:rPr lang="de-DE" sz="2000" dirty="0" err="1"/>
              <a:t>changes</a:t>
            </a:r>
            <a:r>
              <a:rPr lang="de-DE" sz="2000" dirty="0"/>
              <a:t> in </a:t>
            </a:r>
            <a:r>
              <a:rPr lang="de-DE" sz="2000" dirty="0" err="1"/>
              <a:t>routines</a:t>
            </a:r>
            <a:r>
              <a:rPr lang="de-DE" sz="2000" dirty="0"/>
              <a:t>, </a:t>
            </a:r>
            <a:r>
              <a:rPr lang="de-DE" sz="2000" dirty="0" err="1"/>
              <a:t>mobility</a:t>
            </a:r>
            <a:r>
              <a:rPr lang="de-DE" sz="2000" dirty="0"/>
              <a:t> and </a:t>
            </a:r>
            <a:r>
              <a:rPr lang="de-DE" sz="2000" dirty="0" err="1"/>
              <a:t>economic</a:t>
            </a:r>
            <a:r>
              <a:rPr lang="de-DE" sz="2000" dirty="0"/>
              <a:t>                                                       </a:t>
            </a:r>
            <a:r>
              <a:rPr lang="de-DE" sz="2000" dirty="0" err="1"/>
              <a:t>activity</a:t>
            </a:r>
            <a:r>
              <a:rPr lang="de-DE" sz="2000" dirty="0"/>
              <a:t> </a:t>
            </a:r>
            <a:r>
              <a:rPr lang="de-DE" sz="2000" dirty="0" err="1"/>
              <a:t>influence</a:t>
            </a:r>
            <a:r>
              <a:rPr lang="de-DE" sz="2000" dirty="0"/>
              <a:t> </a:t>
            </a:r>
            <a:r>
              <a:rPr lang="de-DE" sz="2000" dirty="0" err="1"/>
              <a:t>electricity</a:t>
            </a:r>
            <a:r>
              <a:rPr lang="de-DE" sz="2000" dirty="0"/>
              <a:t> </a:t>
            </a:r>
            <a:r>
              <a:rPr lang="de-DE" sz="2000" dirty="0" err="1"/>
              <a:t>demand</a:t>
            </a:r>
            <a:endParaRPr lang="de-DE" sz="2000" dirty="0"/>
          </a:p>
        </p:txBody>
      </p:sp>
      <p:pic>
        <p:nvPicPr>
          <p:cNvPr id="6148" name="Picture 4" descr="Boy Sleeping GIFs | Tenor">
            <a:extLst>
              <a:ext uri="{FF2B5EF4-FFF2-40B4-BE49-F238E27FC236}">
                <a16:creationId xmlns:a16="http://schemas.microsoft.com/office/drawing/2014/main" id="{C79D2522-9201-8C42-DF51-040B9A551E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5078" y="-1425814"/>
            <a:ext cx="1307017" cy="1307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el 1">
            <a:extLst>
              <a:ext uri="{FF2B5EF4-FFF2-40B4-BE49-F238E27FC236}">
                <a16:creationId xmlns:a16="http://schemas.microsoft.com/office/drawing/2014/main" id="{B31C33CF-0F5D-E179-C405-FC3878C2EA30}"/>
              </a:ext>
            </a:extLst>
          </p:cNvPr>
          <p:cNvSpPr txBox="1">
            <a:spLocks/>
          </p:cNvSpPr>
          <p:nvPr/>
        </p:nvSpPr>
        <p:spPr>
          <a:xfrm>
            <a:off x="-7740719" y="-669686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/>
              <a:t>Main </a:t>
            </a:r>
            <a:r>
              <a:rPr lang="de-DE" dirty="0" err="1"/>
              <a:t>Finding</a:t>
            </a:r>
            <a:r>
              <a:rPr lang="de-DE" dirty="0"/>
              <a:t> 1: Holidays and </a:t>
            </a:r>
            <a:r>
              <a:rPr lang="de-DE" dirty="0" err="1"/>
              <a:t>Consumption</a:t>
            </a:r>
            <a:endParaRPr lang="de-DE" dirty="0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740B907A-0A74-A71C-CEF4-35CBCD295882}"/>
              </a:ext>
            </a:extLst>
          </p:cNvPr>
          <p:cNvSpPr txBox="1">
            <a:spLocks/>
          </p:cNvSpPr>
          <p:nvPr/>
        </p:nvSpPr>
        <p:spPr>
          <a:xfrm>
            <a:off x="-7740719" y="2241755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sz="2400" dirty="0" err="1"/>
              <a:t>To</a:t>
            </a:r>
            <a:r>
              <a:rPr lang="de-DE" sz="2400" dirty="0"/>
              <a:t> </a:t>
            </a:r>
            <a:r>
              <a:rPr lang="de-DE" sz="2400" dirty="0" err="1"/>
              <a:t>what</a:t>
            </a:r>
            <a:r>
              <a:rPr lang="de-DE" sz="2400" dirty="0"/>
              <a:t> </a:t>
            </a:r>
            <a:r>
              <a:rPr lang="de-DE" sz="2400" dirty="0" err="1"/>
              <a:t>extent</a:t>
            </a:r>
            <a:r>
              <a:rPr lang="de-DE" sz="2400" dirty="0"/>
              <a:t> do </a:t>
            </a:r>
            <a:r>
              <a:rPr lang="de-DE" sz="2400" dirty="0" err="1"/>
              <a:t>holiday</a:t>
            </a:r>
            <a:r>
              <a:rPr lang="de-DE" sz="2400" dirty="0"/>
              <a:t> </a:t>
            </a:r>
            <a:r>
              <a:rPr lang="de-DE" sz="2400" dirty="0" err="1"/>
              <a:t>periods</a:t>
            </a:r>
            <a:r>
              <a:rPr lang="de-DE" sz="2400" dirty="0"/>
              <a:t> </a:t>
            </a:r>
            <a:r>
              <a:rPr lang="de-DE" sz="2400" dirty="0" err="1"/>
              <a:t>influence</a:t>
            </a:r>
            <a:r>
              <a:rPr lang="de-DE" sz="2400" dirty="0"/>
              <a:t> </a:t>
            </a:r>
            <a:r>
              <a:rPr lang="de-DE" sz="2400" dirty="0" err="1"/>
              <a:t>daily</a:t>
            </a:r>
            <a:r>
              <a:rPr lang="de-DE" sz="2400" dirty="0"/>
              <a:t> </a:t>
            </a:r>
            <a:r>
              <a:rPr lang="de-DE" sz="2400" dirty="0" err="1"/>
              <a:t>electricity</a:t>
            </a:r>
            <a:r>
              <a:rPr lang="de-DE" sz="2400" dirty="0"/>
              <a:t> </a:t>
            </a:r>
            <a:r>
              <a:rPr lang="de-DE" sz="2400" dirty="0" err="1"/>
              <a:t>consumption</a:t>
            </a:r>
            <a:r>
              <a:rPr lang="de-DE" sz="2400" dirty="0"/>
              <a:t> in </a:t>
            </a:r>
            <a:r>
              <a:rPr lang="de-DE" sz="2400" dirty="0" err="1"/>
              <a:t>germany</a:t>
            </a:r>
            <a:r>
              <a:rPr lang="de-DE" sz="2400" dirty="0"/>
              <a:t>?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1EEAB3B9-4B08-67AD-EFA2-7E9380C6278B}"/>
              </a:ext>
            </a:extLst>
          </p:cNvPr>
          <p:cNvSpPr txBox="1">
            <a:spLocks/>
          </p:cNvSpPr>
          <p:nvPr/>
        </p:nvSpPr>
        <p:spPr>
          <a:xfrm>
            <a:off x="4675224" y="-2176356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/>
              <a:t>Website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5C970003-A76B-0589-1CD7-EA25C633C1AB}"/>
              </a:ext>
            </a:extLst>
          </p:cNvPr>
          <p:cNvSpPr txBox="1">
            <a:spLocks/>
          </p:cNvSpPr>
          <p:nvPr/>
        </p:nvSpPr>
        <p:spPr>
          <a:xfrm>
            <a:off x="113211" y="-2274698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/>
              <a:t>Main </a:t>
            </a:r>
            <a:r>
              <a:rPr lang="de-DE" dirty="0" err="1"/>
              <a:t>Finding</a:t>
            </a:r>
            <a:r>
              <a:rPr lang="de-DE" dirty="0"/>
              <a:t> 2: </a:t>
            </a:r>
            <a:r>
              <a:rPr lang="de-DE" dirty="0" err="1"/>
              <a:t>Weather</a:t>
            </a:r>
            <a:endParaRPr lang="de-DE" dirty="0"/>
          </a:p>
          <a:p>
            <a:pPr algn="l"/>
            <a:r>
              <a:rPr lang="de-DE" dirty="0"/>
              <a:t>And Generation</a:t>
            </a:r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B7FAEB30-FC97-2D4D-3B7E-E101DACE7E2B}"/>
              </a:ext>
            </a:extLst>
          </p:cNvPr>
          <p:cNvSpPr txBox="1">
            <a:spLocks/>
          </p:cNvSpPr>
          <p:nvPr/>
        </p:nvSpPr>
        <p:spPr>
          <a:xfrm>
            <a:off x="-8336507" y="573404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sz="2400" dirty="0"/>
              <a:t>How </a:t>
            </a:r>
            <a:r>
              <a:rPr lang="de-DE" sz="2400" dirty="0" err="1"/>
              <a:t>strongly</a:t>
            </a:r>
            <a:r>
              <a:rPr lang="de-DE" sz="2400" dirty="0"/>
              <a:t> do </a:t>
            </a:r>
            <a:r>
              <a:rPr lang="de-DE" sz="2400" dirty="0" err="1"/>
              <a:t>weather</a:t>
            </a:r>
            <a:r>
              <a:rPr lang="de-DE" sz="2400" dirty="0"/>
              <a:t> </a:t>
            </a:r>
            <a:r>
              <a:rPr lang="de-DE" sz="2400" dirty="0" err="1"/>
              <a:t>conditions</a:t>
            </a:r>
            <a:r>
              <a:rPr lang="de-DE" sz="2400" dirty="0"/>
              <a:t> </a:t>
            </a:r>
            <a:r>
              <a:rPr lang="de-DE" sz="2400" dirty="0" err="1"/>
              <a:t>explain</a:t>
            </a:r>
            <a:r>
              <a:rPr lang="de-DE" sz="2400" dirty="0"/>
              <a:t> </a:t>
            </a:r>
            <a:r>
              <a:rPr lang="de-DE" sz="2400" dirty="0" err="1"/>
              <a:t>renewable</a:t>
            </a:r>
            <a:r>
              <a:rPr lang="de-DE" sz="2400" dirty="0"/>
              <a:t> </a:t>
            </a:r>
            <a:r>
              <a:rPr lang="de-DE" sz="2400" dirty="0" err="1"/>
              <a:t>electricity</a:t>
            </a:r>
            <a:r>
              <a:rPr lang="de-DE" sz="2400" dirty="0"/>
              <a:t> </a:t>
            </a:r>
            <a:r>
              <a:rPr lang="de-DE" sz="2400" dirty="0" err="1"/>
              <a:t>generation</a:t>
            </a:r>
            <a:r>
              <a:rPr lang="de-DE" sz="2400" dirty="0"/>
              <a:t> in Germany?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711193AB-3A57-BE2F-0FF0-6FC23B705E36}"/>
              </a:ext>
            </a:extLst>
          </p:cNvPr>
          <p:cNvSpPr txBox="1"/>
          <p:nvPr/>
        </p:nvSpPr>
        <p:spPr>
          <a:xfrm>
            <a:off x="0" y="6807099"/>
            <a:ext cx="1193593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Weather</a:t>
            </a:r>
            <a:r>
              <a:rPr lang="de-DE" sz="2000" dirty="0"/>
              <a:t> </a:t>
            </a:r>
            <a:r>
              <a:rPr lang="de-DE" sz="2000" dirty="0" err="1"/>
              <a:t>has</a:t>
            </a:r>
            <a:r>
              <a:rPr lang="de-DE" sz="2000" dirty="0"/>
              <a:t> a </a:t>
            </a:r>
            <a:r>
              <a:rPr lang="de-DE" sz="2000" dirty="0" err="1"/>
              <a:t>clear</a:t>
            </a:r>
            <a:r>
              <a:rPr lang="de-DE" sz="2000" dirty="0"/>
              <a:t> </a:t>
            </a:r>
            <a:r>
              <a:rPr lang="de-DE" sz="2000" dirty="0" err="1"/>
              <a:t>influence</a:t>
            </a:r>
            <a:r>
              <a:rPr lang="de-DE" sz="2000" dirty="0"/>
              <a:t> on </a:t>
            </a:r>
            <a:r>
              <a:rPr lang="de-DE" sz="2000" dirty="0" err="1"/>
              <a:t>renewable</a:t>
            </a:r>
            <a:r>
              <a:rPr lang="de-DE" sz="2000" dirty="0"/>
              <a:t> </a:t>
            </a:r>
            <a:r>
              <a:rPr lang="de-DE" sz="2000" dirty="0" err="1"/>
              <a:t>electricity</a:t>
            </a:r>
            <a:r>
              <a:rPr lang="de-DE" sz="2000" dirty="0"/>
              <a:t> </a:t>
            </a:r>
            <a:r>
              <a:rPr lang="de-DE" sz="2000" dirty="0" err="1"/>
              <a:t>genarations</a:t>
            </a:r>
            <a:endParaRPr lang="de-DE" sz="2000" dirty="0"/>
          </a:p>
          <a:p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Higher wind </a:t>
            </a:r>
            <a:r>
              <a:rPr lang="de-DE" sz="2000" dirty="0" err="1"/>
              <a:t>speed</a:t>
            </a:r>
            <a:r>
              <a:rPr lang="de-DE" sz="2000" dirty="0"/>
              <a:t> = </a:t>
            </a:r>
            <a:r>
              <a:rPr lang="de-DE" sz="2000" dirty="0" err="1"/>
              <a:t>higher</a:t>
            </a:r>
            <a:r>
              <a:rPr lang="de-DE" sz="2000" dirty="0"/>
              <a:t> wind power </a:t>
            </a:r>
            <a:r>
              <a:rPr lang="de-DE" sz="2000" dirty="0" err="1"/>
              <a:t>generation</a:t>
            </a: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Higher </a:t>
            </a:r>
            <a:r>
              <a:rPr lang="de-DE" sz="2000" dirty="0" err="1"/>
              <a:t>temperatures</a:t>
            </a:r>
            <a:r>
              <a:rPr lang="de-DE" sz="2000" dirty="0"/>
              <a:t> / </a:t>
            </a:r>
            <a:r>
              <a:rPr lang="de-DE" sz="2000" dirty="0" err="1"/>
              <a:t>sunnier</a:t>
            </a:r>
            <a:r>
              <a:rPr lang="de-DE" sz="2000" dirty="0"/>
              <a:t> </a:t>
            </a:r>
            <a:r>
              <a:rPr lang="de-DE" sz="2000" dirty="0" err="1"/>
              <a:t>conditions</a:t>
            </a:r>
            <a:r>
              <a:rPr lang="de-DE" sz="2000" dirty="0"/>
              <a:t> = </a:t>
            </a:r>
            <a:r>
              <a:rPr lang="de-DE" sz="2000" dirty="0" err="1"/>
              <a:t>higher</a:t>
            </a:r>
            <a:r>
              <a:rPr lang="de-DE" sz="2000" dirty="0"/>
              <a:t> solar </a:t>
            </a:r>
            <a:r>
              <a:rPr lang="de-DE" sz="2000" dirty="0" err="1"/>
              <a:t>generation</a:t>
            </a: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Weather</a:t>
            </a:r>
            <a:r>
              <a:rPr lang="de-DE" sz="2000" dirty="0"/>
              <a:t> </a:t>
            </a:r>
            <a:r>
              <a:rPr lang="de-DE" sz="2000" dirty="0" err="1"/>
              <a:t>effects</a:t>
            </a:r>
            <a:r>
              <a:rPr lang="de-DE" sz="2000" dirty="0"/>
              <a:t> </a:t>
            </a:r>
            <a:r>
              <a:rPr lang="de-DE" sz="2000" dirty="0" err="1"/>
              <a:t>are</a:t>
            </a:r>
            <a:r>
              <a:rPr lang="de-DE" sz="2000" dirty="0"/>
              <a:t> </a:t>
            </a:r>
            <a:r>
              <a:rPr lang="de-DE" sz="2000" dirty="0" err="1"/>
              <a:t>stronger</a:t>
            </a:r>
            <a:r>
              <a:rPr lang="de-DE" sz="2000" dirty="0"/>
              <a:t> </a:t>
            </a:r>
            <a:r>
              <a:rPr lang="de-DE" sz="2000" dirty="0" err="1"/>
              <a:t>for</a:t>
            </a:r>
            <a:r>
              <a:rPr lang="de-DE" sz="2000" dirty="0"/>
              <a:t> </a:t>
            </a:r>
            <a:r>
              <a:rPr lang="de-DE" sz="2000" dirty="0" err="1"/>
              <a:t>generation</a:t>
            </a:r>
            <a:r>
              <a:rPr lang="de-DE" sz="2000" dirty="0"/>
              <a:t> </a:t>
            </a:r>
            <a:r>
              <a:rPr lang="de-DE" sz="2000" dirty="0" err="1"/>
              <a:t>than</a:t>
            </a:r>
            <a:r>
              <a:rPr lang="de-DE" sz="2000" dirty="0"/>
              <a:t> </a:t>
            </a:r>
            <a:r>
              <a:rPr lang="de-DE" sz="2000" dirty="0" err="1"/>
              <a:t>consumption</a:t>
            </a: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Clearest</a:t>
            </a:r>
            <a:r>
              <a:rPr lang="de-DE" sz="2000" dirty="0"/>
              <a:t> </a:t>
            </a:r>
            <a:r>
              <a:rPr lang="de-DE" sz="2000" dirty="0" err="1"/>
              <a:t>relationships</a:t>
            </a:r>
            <a:r>
              <a:rPr lang="de-DE" sz="2000" dirty="0"/>
              <a:t> </a:t>
            </a:r>
            <a:r>
              <a:rPr lang="de-DE" sz="2000" dirty="0" err="1"/>
              <a:t>appear</a:t>
            </a:r>
            <a:r>
              <a:rPr lang="de-DE" sz="2000" dirty="0"/>
              <a:t> </a:t>
            </a:r>
            <a:r>
              <a:rPr lang="de-DE" sz="2000" dirty="0" err="1"/>
              <a:t>for</a:t>
            </a:r>
            <a:r>
              <a:rPr lang="de-DE" sz="2000" dirty="0"/>
              <a:t> wind and solar power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This </a:t>
            </a:r>
            <a:r>
              <a:rPr lang="de-DE" sz="2000" dirty="0" err="1"/>
              <a:t>shows</a:t>
            </a:r>
            <a:r>
              <a:rPr lang="de-DE" sz="2000" dirty="0"/>
              <a:t> </a:t>
            </a:r>
            <a:r>
              <a:rPr lang="de-DE" sz="2000" dirty="0" err="1"/>
              <a:t>that</a:t>
            </a:r>
            <a:r>
              <a:rPr lang="de-DE" sz="2000" dirty="0"/>
              <a:t> </a:t>
            </a:r>
            <a:r>
              <a:rPr lang="de-DE" sz="2000" dirty="0" err="1"/>
              <a:t>renewable</a:t>
            </a:r>
            <a:r>
              <a:rPr lang="de-DE" sz="2000" dirty="0"/>
              <a:t> </a:t>
            </a:r>
            <a:r>
              <a:rPr lang="de-DE" sz="2000" dirty="0" err="1"/>
              <a:t>generation</a:t>
            </a:r>
            <a:r>
              <a:rPr lang="de-DE" sz="2000" dirty="0"/>
              <a:t> </a:t>
            </a:r>
            <a:r>
              <a:rPr lang="de-DE" sz="2000" dirty="0" err="1"/>
              <a:t>depends</a:t>
            </a:r>
            <a:r>
              <a:rPr lang="de-DE" sz="2000" dirty="0"/>
              <a:t> </a:t>
            </a:r>
            <a:r>
              <a:rPr lang="de-DE" sz="2000" dirty="0" err="1"/>
              <a:t>strongly</a:t>
            </a:r>
            <a:r>
              <a:rPr lang="de-DE" sz="2000" dirty="0"/>
              <a:t> on </a:t>
            </a:r>
            <a:r>
              <a:rPr lang="de-DE" sz="2000" dirty="0" err="1"/>
              <a:t>natural</a:t>
            </a:r>
            <a:r>
              <a:rPr lang="de-DE" sz="2000" dirty="0"/>
              <a:t> </a:t>
            </a:r>
            <a:r>
              <a:rPr lang="de-DE" sz="2000" dirty="0" err="1"/>
              <a:t>conditions</a:t>
            </a:r>
            <a:endParaRPr lang="de-DE" sz="2000" dirty="0"/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F32D12E9-F051-DF25-CC37-BFB78FF21A44}"/>
              </a:ext>
            </a:extLst>
          </p:cNvPr>
          <p:cNvSpPr txBox="1">
            <a:spLocks/>
          </p:cNvSpPr>
          <p:nvPr/>
        </p:nvSpPr>
        <p:spPr>
          <a:xfrm>
            <a:off x="4883727" y="1416794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>
                <a:hlinkClick r:id="rId4" action="ppaction://hlinkfile"/>
              </a:rPr>
              <a:t>Website</a:t>
            </a:r>
            <a:endParaRPr lang="de-DE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C5ED58A9-679A-3642-0E97-753BEAFA5F93}"/>
              </a:ext>
            </a:extLst>
          </p:cNvPr>
          <p:cNvSpPr txBox="1"/>
          <p:nvPr/>
        </p:nvSpPr>
        <p:spPr>
          <a:xfrm>
            <a:off x="0" y="6968954"/>
            <a:ext cx="1193593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Clear </a:t>
            </a:r>
            <a:r>
              <a:rPr lang="de-DE" sz="2000" dirty="0" err="1"/>
              <a:t>differences</a:t>
            </a:r>
            <a:r>
              <a:rPr lang="de-DE" sz="2000" dirty="0"/>
              <a:t> </a:t>
            </a:r>
            <a:r>
              <a:rPr lang="de-DE" sz="2000" dirty="0" err="1"/>
              <a:t>accros</a:t>
            </a:r>
            <a:r>
              <a:rPr lang="de-DE" sz="2000" dirty="0"/>
              <a:t> </a:t>
            </a:r>
            <a:r>
              <a:rPr lang="de-DE" sz="2000" dirty="0" err="1"/>
              <a:t>the</a:t>
            </a:r>
            <a:r>
              <a:rPr lang="de-DE" sz="2000" dirty="0"/>
              <a:t> </a:t>
            </a:r>
            <a:r>
              <a:rPr lang="de-DE" sz="2000" dirty="0" err="1"/>
              <a:t>four</a:t>
            </a:r>
            <a:r>
              <a:rPr lang="de-DE" sz="2000" dirty="0"/>
              <a:t> TSO </a:t>
            </a:r>
            <a:r>
              <a:rPr lang="de-DE" sz="2000" dirty="0" err="1"/>
              <a:t>zones</a:t>
            </a:r>
            <a:endParaRPr lang="de-DE" sz="2000" dirty="0"/>
          </a:p>
          <a:p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Amprion and Tennet </a:t>
            </a:r>
            <a:r>
              <a:rPr lang="de-DE" sz="2000" dirty="0" err="1"/>
              <a:t>have</a:t>
            </a:r>
            <a:r>
              <a:rPr lang="de-DE" sz="2000" dirty="0"/>
              <a:t> </a:t>
            </a:r>
            <a:r>
              <a:rPr lang="de-DE" sz="2000" dirty="0" err="1"/>
              <a:t>higher</a:t>
            </a:r>
            <a:r>
              <a:rPr lang="de-DE" sz="2000" dirty="0"/>
              <a:t> </a:t>
            </a:r>
            <a:r>
              <a:rPr lang="de-DE" sz="2000" dirty="0" err="1"/>
              <a:t>average</a:t>
            </a:r>
            <a:r>
              <a:rPr lang="de-DE" sz="2000" dirty="0"/>
              <a:t> </a:t>
            </a:r>
            <a:r>
              <a:rPr lang="de-DE" sz="2000" dirty="0" err="1"/>
              <a:t>consumption</a:t>
            </a:r>
            <a:endParaRPr lang="de-DE" sz="2000" dirty="0"/>
          </a:p>
          <a:p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Regional </a:t>
            </a:r>
            <a:r>
              <a:rPr lang="de-DE" sz="2000" dirty="0" err="1"/>
              <a:t>pattern</a:t>
            </a:r>
            <a:r>
              <a:rPr lang="de-DE" sz="2000" dirty="0"/>
              <a:t> </a:t>
            </a:r>
            <a:r>
              <a:rPr lang="de-DE" sz="2000" dirty="0" err="1"/>
              <a:t>reflect</a:t>
            </a:r>
            <a:r>
              <a:rPr lang="de-DE" sz="2000" dirty="0"/>
              <a:t> </a:t>
            </a:r>
            <a:r>
              <a:rPr lang="de-DE" sz="2000" dirty="0" err="1"/>
              <a:t>industry</a:t>
            </a:r>
            <a:r>
              <a:rPr lang="de-DE" sz="2000" dirty="0"/>
              <a:t>, </a:t>
            </a:r>
            <a:r>
              <a:rPr lang="de-DE" sz="2000" dirty="0" err="1"/>
              <a:t>population</a:t>
            </a:r>
            <a:r>
              <a:rPr lang="de-DE" sz="2000" dirty="0"/>
              <a:t> and </a:t>
            </a:r>
            <a:r>
              <a:rPr lang="de-DE" sz="2000" dirty="0" err="1"/>
              <a:t>generation</a:t>
            </a:r>
            <a:r>
              <a:rPr lang="de-DE" sz="2000" dirty="0"/>
              <a:t> mix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Weather</a:t>
            </a:r>
            <a:r>
              <a:rPr lang="de-DE" sz="2000" dirty="0"/>
              <a:t> </a:t>
            </a:r>
            <a:r>
              <a:rPr lang="de-DE" sz="2000" dirty="0" err="1"/>
              <a:t>effects</a:t>
            </a:r>
            <a:r>
              <a:rPr lang="de-DE" sz="2000" dirty="0"/>
              <a:t> </a:t>
            </a:r>
            <a:r>
              <a:rPr lang="de-DE" sz="2000" dirty="0" err="1"/>
              <a:t>exist</a:t>
            </a:r>
            <a:r>
              <a:rPr lang="de-DE" sz="2000" dirty="0"/>
              <a:t> in all </a:t>
            </a:r>
            <a:r>
              <a:rPr lang="de-DE" sz="2000" dirty="0" err="1"/>
              <a:t>zones</a:t>
            </a:r>
            <a:r>
              <a:rPr lang="de-DE" sz="2000" dirty="0"/>
              <a:t> but </a:t>
            </a:r>
            <a:r>
              <a:rPr lang="de-DE" sz="2000" dirty="0" err="1"/>
              <a:t>with</a:t>
            </a:r>
            <a:r>
              <a:rPr lang="de-DE" sz="2000" dirty="0"/>
              <a:t> different </a:t>
            </a:r>
            <a:r>
              <a:rPr lang="de-DE" sz="2000" dirty="0" err="1"/>
              <a:t>intensities</a:t>
            </a:r>
            <a:endParaRPr lang="de-DE" sz="2000" dirty="0"/>
          </a:p>
        </p:txBody>
      </p:sp>
      <p:sp>
        <p:nvSpPr>
          <p:cNvPr id="17" name="Titel 1">
            <a:extLst>
              <a:ext uri="{FF2B5EF4-FFF2-40B4-BE49-F238E27FC236}">
                <a16:creationId xmlns:a16="http://schemas.microsoft.com/office/drawing/2014/main" id="{573B8B4F-4265-69F8-6CD6-8152275CDC1C}"/>
              </a:ext>
            </a:extLst>
          </p:cNvPr>
          <p:cNvSpPr txBox="1">
            <a:spLocks/>
          </p:cNvSpPr>
          <p:nvPr/>
        </p:nvSpPr>
        <p:spPr>
          <a:xfrm>
            <a:off x="-8369538" y="745798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sz="2400" dirty="0"/>
              <a:t>How do </a:t>
            </a:r>
            <a:r>
              <a:rPr lang="de-DE" sz="2400" dirty="0" err="1"/>
              <a:t>these</a:t>
            </a:r>
            <a:r>
              <a:rPr lang="de-DE" sz="2400" dirty="0"/>
              <a:t> </a:t>
            </a:r>
            <a:r>
              <a:rPr lang="de-DE" sz="2400" dirty="0" err="1"/>
              <a:t>effects</a:t>
            </a:r>
            <a:r>
              <a:rPr lang="de-DE" sz="2400" dirty="0"/>
              <a:t> </a:t>
            </a:r>
            <a:r>
              <a:rPr lang="de-DE" sz="2400" dirty="0" err="1"/>
              <a:t>differ</a:t>
            </a:r>
            <a:r>
              <a:rPr lang="de-DE" sz="2400" dirty="0"/>
              <a:t> </a:t>
            </a:r>
            <a:r>
              <a:rPr lang="de-DE" sz="2400" dirty="0" err="1"/>
              <a:t>across</a:t>
            </a:r>
            <a:r>
              <a:rPr lang="de-DE" sz="2400" dirty="0"/>
              <a:t> German TSO </a:t>
            </a:r>
            <a:r>
              <a:rPr lang="de-DE" sz="2400" dirty="0" err="1"/>
              <a:t>zones</a:t>
            </a:r>
            <a:r>
              <a:rPr lang="de-DE" sz="2400" dirty="0"/>
              <a:t>?</a:t>
            </a:r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073414F2-F3CC-9008-90CC-7CC01A3DC088}"/>
              </a:ext>
            </a:extLst>
          </p:cNvPr>
          <p:cNvSpPr txBox="1">
            <a:spLocks/>
          </p:cNvSpPr>
          <p:nvPr/>
        </p:nvSpPr>
        <p:spPr>
          <a:xfrm>
            <a:off x="0" y="-2268454"/>
            <a:ext cx="11634841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/>
              <a:t>Main </a:t>
            </a:r>
            <a:r>
              <a:rPr lang="de-DE" dirty="0" err="1"/>
              <a:t>Finding</a:t>
            </a:r>
            <a:r>
              <a:rPr lang="de-DE" dirty="0"/>
              <a:t> 3: Regional </a:t>
            </a:r>
            <a:r>
              <a:rPr lang="de-DE" dirty="0" err="1"/>
              <a:t>Differences</a:t>
            </a:r>
            <a:r>
              <a:rPr lang="de-DE" dirty="0"/>
              <a:t> </a:t>
            </a:r>
            <a:r>
              <a:rPr lang="de-DE" dirty="0" err="1"/>
              <a:t>across</a:t>
            </a:r>
            <a:endParaRPr lang="de-DE" dirty="0"/>
          </a:p>
          <a:p>
            <a:pPr algn="l"/>
            <a:r>
              <a:rPr lang="de-DE" dirty="0"/>
              <a:t>TSO </a:t>
            </a:r>
            <a:r>
              <a:rPr lang="de-DE" dirty="0" err="1"/>
              <a:t>Zones</a:t>
            </a:r>
            <a:endParaRPr lang="de-DE" dirty="0"/>
          </a:p>
        </p:txBody>
      </p:sp>
      <p:pic>
        <p:nvPicPr>
          <p:cNvPr id="20" name="Picture 2">
            <a:extLst>
              <a:ext uri="{FF2B5EF4-FFF2-40B4-BE49-F238E27FC236}">
                <a16:creationId xmlns:a16="http://schemas.microsoft.com/office/drawing/2014/main" id="{AFF224D6-0B12-D09B-7C1A-9BB594D572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7987" y="6884699"/>
            <a:ext cx="2862048" cy="3872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" descr="Bad Storm Stickers - Find &amp; Share on GIPHY">
            <a:extLst>
              <a:ext uri="{FF2B5EF4-FFF2-40B4-BE49-F238E27FC236}">
                <a16:creationId xmlns:a16="http://schemas.microsoft.com/office/drawing/2014/main" id="{8B411A73-4799-551D-50B7-B1B850F688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7483" y="-3339357"/>
            <a:ext cx="3452564" cy="3452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17915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92E978-6D40-6887-45C6-7B47268C7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8B20CFAF-3605-8564-66D2-AAEC3D304E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CAB72A70-0A26-59CB-5827-6518EB956663}"/>
              </a:ext>
            </a:extLst>
          </p:cNvPr>
          <p:cNvSpPr txBox="1">
            <a:spLocks/>
          </p:cNvSpPr>
          <p:nvPr/>
        </p:nvSpPr>
        <p:spPr>
          <a:xfrm>
            <a:off x="-104503" y="-2360552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/>
              <a:t>Research Goal</a:t>
            </a:r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562B08F7-55FE-7428-8CED-19EF800895DD}"/>
              </a:ext>
            </a:extLst>
          </p:cNvPr>
          <p:cNvSpPr txBox="1">
            <a:spLocks/>
          </p:cNvSpPr>
          <p:nvPr/>
        </p:nvSpPr>
        <p:spPr>
          <a:xfrm>
            <a:off x="-104503" y="-2413949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/>
              <a:t>Data Sources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412327D6-0308-BEA5-B650-3E6E127F6C86}"/>
              </a:ext>
            </a:extLst>
          </p:cNvPr>
          <p:cNvSpPr txBox="1">
            <a:spLocks/>
          </p:cNvSpPr>
          <p:nvPr/>
        </p:nvSpPr>
        <p:spPr>
          <a:xfrm>
            <a:off x="40051" y="-2295152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/>
              <a:t>Method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68060CF-B2AB-5A39-DA9E-02DE832B87A8}"/>
              </a:ext>
            </a:extLst>
          </p:cNvPr>
          <p:cNvSpPr txBox="1"/>
          <p:nvPr/>
        </p:nvSpPr>
        <p:spPr>
          <a:xfrm>
            <a:off x="-12153645" y="1797224"/>
            <a:ext cx="1193593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All </a:t>
            </a:r>
            <a:r>
              <a:rPr lang="de-DE" sz="2000" dirty="0" err="1"/>
              <a:t>datasets</a:t>
            </a:r>
            <a:r>
              <a:rPr lang="de-DE" sz="2000" dirty="0"/>
              <a:t> </a:t>
            </a:r>
            <a:r>
              <a:rPr lang="de-DE" sz="2000" dirty="0" err="1"/>
              <a:t>were</a:t>
            </a:r>
            <a:r>
              <a:rPr lang="de-DE" sz="2000" dirty="0"/>
              <a:t> </a:t>
            </a:r>
            <a:r>
              <a:rPr lang="de-DE" sz="2000" dirty="0" err="1"/>
              <a:t>converted</a:t>
            </a:r>
            <a:r>
              <a:rPr lang="de-DE" sz="2000" dirty="0"/>
              <a:t> </a:t>
            </a:r>
            <a:r>
              <a:rPr lang="de-DE" sz="2000" dirty="0" err="1"/>
              <a:t>to</a:t>
            </a:r>
            <a:r>
              <a:rPr lang="de-DE" sz="2000" dirty="0"/>
              <a:t> </a:t>
            </a:r>
            <a:r>
              <a:rPr lang="de-DE" sz="2000" dirty="0" err="1"/>
              <a:t>daily</a:t>
            </a:r>
            <a:r>
              <a:rPr lang="de-DE" sz="2000" dirty="0"/>
              <a:t> </a:t>
            </a:r>
            <a:r>
              <a:rPr lang="de-DE" sz="2000" dirty="0" err="1"/>
              <a:t>level</a:t>
            </a:r>
            <a:r>
              <a:rPr lang="de-DE" sz="2000" dirty="0"/>
              <a:t> and </a:t>
            </a:r>
            <a:r>
              <a:rPr lang="de-DE" sz="2000" dirty="0" err="1"/>
              <a:t>merged</a:t>
            </a:r>
            <a:r>
              <a:rPr lang="de-DE" sz="2000" dirty="0"/>
              <a:t> </a:t>
            </a:r>
            <a:r>
              <a:rPr lang="de-DE" sz="2000" dirty="0" err="1"/>
              <a:t>by</a:t>
            </a:r>
            <a:r>
              <a:rPr lang="de-DE" sz="2000" dirty="0"/>
              <a:t> date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For</a:t>
            </a:r>
            <a:r>
              <a:rPr lang="de-DE" sz="2000" dirty="0"/>
              <a:t> </a:t>
            </a:r>
            <a:r>
              <a:rPr lang="de-DE" sz="2000" dirty="0" err="1"/>
              <a:t>electricity</a:t>
            </a:r>
            <a:r>
              <a:rPr lang="de-DE" sz="2000" dirty="0"/>
              <a:t> </a:t>
            </a:r>
            <a:r>
              <a:rPr lang="de-DE" sz="2000" dirty="0" err="1"/>
              <a:t>consumption</a:t>
            </a:r>
            <a:r>
              <a:rPr lang="de-DE" sz="2000" dirty="0"/>
              <a:t>, </a:t>
            </a:r>
            <a:r>
              <a:rPr lang="de-DE" sz="2000" dirty="0" err="1"/>
              <a:t>we</a:t>
            </a:r>
            <a:r>
              <a:rPr lang="de-DE" sz="2000" dirty="0"/>
              <a:t> </a:t>
            </a:r>
            <a:r>
              <a:rPr lang="de-DE" sz="2000" dirty="0" err="1"/>
              <a:t>compared</a:t>
            </a:r>
            <a:r>
              <a:rPr lang="de-DE" sz="2000" dirty="0"/>
              <a:t> </a:t>
            </a:r>
            <a:r>
              <a:rPr lang="de-DE" sz="2000" dirty="0" err="1"/>
              <a:t>three</a:t>
            </a:r>
            <a:r>
              <a:rPr lang="de-DE" sz="2000" dirty="0"/>
              <a:t> </a:t>
            </a:r>
            <a:r>
              <a:rPr lang="de-DE" sz="2000" dirty="0" err="1"/>
              <a:t>day</a:t>
            </a:r>
            <a:r>
              <a:rPr lang="de-DE" sz="2000" dirty="0"/>
              <a:t> type: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000" dirty="0"/>
              <a:t>Regular Days, </a:t>
            </a:r>
            <a:r>
              <a:rPr lang="de-DE" sz="2000" dirty="0" err="1"/>
              <a:t>Sundays</a:t>
            </a:r>
            <a:r>
              <a:rPr lang="de-DE" sz="2000" dirty="0"/>
              <a:t> and Holidays</a:t>
            </a:r>
          </a:p>
          <a:p>
            <a:pPr lvl="1"/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For</a:t>
            </a:r>
            <a:r>
              <a:rPr lang="de-DE" sz="2000" dirty="0"/>
              <a:t> </a:t>
            </a:r>
            <a:r>
              <a:rPr lang="de-DE" sz="2000" dirty="0" err="1"/>
              <a:t>electricity</a:t>
            </a:r>
            <a:r>
              <a:rPr lang="de-DE" sz="2000" dirty="0"/>
              <a:t> </a:t>
            </a:r>
            <a:r>
              <a:rPr lang="de-DE" sz="2000" dirty="0" err="1"/>
              <a:t>generation</a:t>
            </a:r>
            <a:r>
              <a:rPr lang="de-DE" sz="2000" dirty="0"/>
              <a:t>, </a:t>
            </a:r>
            <a:r>
              <a:rPr lang="de-DE" sz="2000" dirty="0" err="1"/>
              <a:t>we</a:t>
            </a:r>
            <a:r>
              <a:rPr lang="de-DE" sz="2000" dirty="0"/>
              <a:t> </a:t>
            </a:r>
            <a:r>
              <a:rPr lang="de-DE" sz="2000" dirty="0" err="1"/>
              <a:t>examined</a:t>
            </a:r>
            <a:r>
              <a:rPr lang="de-DE" sz="2000" dirty="0"/>
              <a:t> </a:t>
            </a:r>
            <a:r>
              <a:rPr lang="de-DE" sz="2000" dirty="0" err="1"/>
              <a:t>correlations</a:t>
            </a:r>
            <a:r>
              <a:rPr lang="de-DE" sz="2000" dirty="0"/>
              <a:t> </a:t>
            </a:r>
            <a:r>
              <a:rPr lang="de-DE" sz="2000" dirty="0" err="1"/>
              <a:t>between</a:t>
            </a:r>
            <a:r>
              <a:rPr lang="de-DE" sz="2000" dirty="0"/>
              <a:t> </a:t>
            </a:r>
            <a:r>
              <a:rPr lang="de-DE" sz="2000" dirty="0" err="1"/>
              <a:t>weather</a:t>
            </a:r>
            <a:r>
              <a:rPr lang="de-DE" sz="2000" dirty="0"/>
              <a:t> variables and </a:t>
            </a:r>
            <a:r>
              <a:rPr lang="de-DE" sz="2000" dirty="0" err="1"/>
              <a:t>renewable</a:t>
            </a:r>
            <a:r>
              <a:rPr lang="de-DE" sz="2000" dirty="0"/>
              <a:t> </a:t>
            </a:r>
            <a:r>
              <a:rPr lang="de-DE" sz="2000" dirty="0" err="1"/>
              <a:t>generation</a:t>
            </a:r>
            <a:r>
              <a:rPr lang="de-DE" sz="2000" dirty="0"/>
              <a:t>, </a:t>
            </a:r>
            <a:r>
              <a:rPr lang="de-DE" sz="2000" dirty="0" err="1"/>
              <a:t>especially</a:t>
            </a:r>
            <a:r>
              <a:rPr lang="de-DE" sz="20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000" dirty="0"/>
              <a:t>wind </a:t>
            </a:r>
            <a:r>
              <a:rPr lang="de-DE" sz="2000" dirty="0" err="1"/>
              <a:t>speed</a:t>
            </a:r>
            <a:r>
              <a:rPr lang="de-DE" sz="2000" dirty="0"/>
              <a:t> – wind </a:t>
            </a:r>
            <a:r>
              <a:rPr lang="de-DE" sz="2000" dirty="0" err="1"/>
              <a:t>generation</a:t>
            </a:r>
            <a:r>
              <a:rPr lang="de-DE" sz="20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Temperature</a:t>
            </a:r>
            <a:r>
              <a:rPr lang="de-DE" sz="2000" dirty="0"/>
              <a:t> / </a:t>
            </a:r>
            <a:r>
              <a:rPr lang="de-DE" sz="2000" dirty="0" err="1"/>
              <a:t>seasonal</a:t>
            </a:r>
            <a:r>
              <a:rPr lang="de-DE" sz="2000" dirty="0"/>
              <a:t> </a:t>
            </a:r>
            <a:r>
              <a:rPr lang="de-DE" sz="2000" dirty="0" err="1"/>
              <a:t>conditions</a:t>
            </a:r>
            <a:r>
              <a:rPr lang="de-DE" sz="2000" dirty="0"/>
              <a:t> – solar </a:t>
            </a:r>
            <a:r>
              <a:rPr lang="de-DE" sz="2000" dirty="0" err="1"/>
              <a:t>generation</a:t>
            </a:r>
            <a:endParaRPr lang="de-DE" sz="2000" dirty="0"/>
          </a:p>
          <a:p>
            <a:pPr lvl="1"/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We</a:t>
            </a:r>
            <a:r>
              <a:rPr lang="de-DE" sz="2000" dirty="0"/>
              <a:t> also </a:t>
            </a:r>
            <a:r>
              <a:rPr lang="de-DE" sz="2000" dirty="0" err="1"/>
              <a:t>conducted</a:t>
            </a:r>
            <a:r>
              <a:rPr lang="de-DE" sz="2000" dirty="0"/>
              <a:t> a regional </a:t>
            </a:r>
            <a:r>
              <a:rPr lang="de-DE" sz="2000" dirty="0" err="1"/>
              <a:t>comparison</a:t>
            </a:r>
            <a:r>
              <a:rPr lang="de-DE" sz="2000" dirty="0"/>
              <a:t> </a:t>
            </a:r>
            <a:r>
              <a:rPr lang="de-DE" sz="2000" dirty="0" err="1"/>
              <a:t>across</a:t>
            </a:r>
            <a:r>
              <a:rPr lang="de-DE" sz="2000" dirty="0"/>
              <a:t> TSO </a:t>
            </a:r>
            <a:r>
              <a:rPr lang="de-DE" sz="2000" dirty="0" err="1"/>
              <a:t>zones</a:t>
            </a:r>
            <a:r>
              <a:rPr lang="de-DE" sz="20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000" dirty="0"/>
              <a:t>50Hertz, Amprion, TenneT and TransnetBW</a:t>
            </a:r>
          </a:p>
        </p:txBody>
      </p:sp>
      <p:pic>
        <p:nvPicPr>
          <p:cNvPr id="5123" name="Picture 3">
            <a:extLst>
              <a:ext uri="{FF2B5EF4-FFF2-40B4-BE49-F238E27FC236}">
                <a16:creationId xmlns:a16="http://schemas.microsoft.com/office/drawing/2014/main" id="{7E588EA3-8B3B-0E7F-0989-467C9B782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73382" y="7243792"/>
            <a:ext cx="2809978" cy="2241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el 1">
            <a:extLst>
              <a:ext uri="{FF2B5EF4-FFF2-40B4-BE49-F238E27FC236}">
                <a16:creationId xmlns:a16="http://schemas.microsoft.com/office/drawing/2014/main" id="{4DA32001-E1C7-B030-D769-474979F44E98}"/>
              </a:ext>
            </a:extLst>
          </p:cNvPr>
          <p:cNvSpPr txBox="1">
            <a:spLocks/>
          </p:cNvSpPr>
          <p:nvPr/>
        </p:nvSpPr>
        <p:spPr>
          <a:xfrm>
            <a:off x="40051" y="-2176355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/>
              <a:t>TSO </a:t>
            </a:r>
            <a:r>
              <a:rPr lang="de-DE" dirty="0" err="1"/>
              <a:t>Zones</a:t>
            </a:r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2E9A5DB-C6F1-D018-BF27-B1D0539C59C8}"/>
              </a:ext>
            </a:extLst>
          </p:cNvPr>
          <p:cNvSpPr txBox="1">
            <a:spLocks/>
          </p:cNvSpPr>
          <p:nvPr/>
        </p:nvSpPr>
        <p:spPr>
          <a:xfrm>
            <a:off x="-185798" y="-2446649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/>
              <a:t>Main </a:t>
            </a:r>
            <a:r>
              <a:rPr lang="de-DE" dirty="0" err="1"/>
              <a:t>Finding</a:t>
            </a:r>
            <a:r>
              <a:rPr lang="de-DE" dirty="0"/>
              <a:t> 1: Holidays and </a:t>
            </a:r>
            <a:r>
              <a:rPr lang="de-DE" dirty="0" err="1"/>
              <a:t>Consumption</a:t>
            </a:r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C4C7C0AC-3BC6-4C70-C7AC-494D25B0D9E7}"/>
              </a:ext>
            </a:extLst>
          </p:cNvPr>
          <p:cNvSpPr txBox="1"/>
          <p:nvPr/>
        </p:nvSpPr>
        <p:spPr>
          <a:xfrm>
            <a:off x="-9236880" y="3962735"/>
            <a:ext cx="1193593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Electricity</a:t>
            </a:r>
            <a:r>
              <a:rPr lang="de-DE" sz="2000" dirty="0"/>
              <a:t> </a:t>
            </a:r>
            <a:r>
              <a:rPr lang="de-DE" sz="2000" dirty="0" err="1"/>
              <a:t>consumption</a:t>
            </a:r>
            <a:r>
              <a:rPr lang="de-DE" sz="2000" dirty="0"/>
              <a:t> </a:t>
            </a:r>
            <a:r>
              <a:rPr lang="de-DE" sz="2000" dirty="0" err="1"/>
              <a:t>lowest</a:t>
            </a:r>
            <a:r>
              <a:rPr lang="de-DE" sz="2000" dirty="0"/>
              <a:t> on </a:t>
            </a:r>
            <a:r>
              <a:rPr lang="de-DE" sz="2000" dirty="0" err="1"/>
              <a:t>holiday-period</a:t>
            </a:r>
            <a:r>
              <a:rPr lang="de-DE" sz="2000" dirty="0"/>
              <a:t> </a:t>
            </a:r>
            <a:r>
              <a:rPr lang="de-DE" sz="2000" dirty="0" err="1"/>
              <a:t>days</a:t>
            </a: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Regular </a:t>
            </a:r>
            <a:r>
              <a:rPr lang="de-DE" sz="2000" dirty="0" err="1"/>
              <a:t>working</a:t>
            </a:r>
            <a:r>
              <a:rPr lang="de-DE" sz="2000" dirty="0"/>
              <a:t> </a:t>
            </a:r>
            <a:r>
              <a:rPr lang="de-DE" sz="2000" dirty="0" err="1"/>
              <a:t>days</a:t>
            </a:r>
            <a:r>
              <a:rPr lang="de-DE" sz="2000" dirty="0"/>
              <a:t> </a:t>
            </a:r>
            <a:r>
              <a:rPr lang="de-DE" sz="2000" dirty="0" err="1"/>
              <a:t>show</a:t>
            </a:r>
            <a:r>
              <a:rPr lang="de-DE" sz="2000" dirty="0"/>
              <a:t> </a:t>
            </a:r>
            <a:r>
              <a:rPr lang="de-DE" sz="2000" dirty="0" err="1"/>
              <a:t>higher</a:t>
            </a:r>
            <a:r>
              <a:rPr lang="de-DE" sz="2000" dirty="0"/>
              <a:t> </a:t>
            </a:r>
            <a:r>
              <a:rPr lang="de-DE" sz="2000" dirty="0" err="1"/>
              <a:t>average</a:t>
            </a:r>
            <a:r>
              <a:rPr lang="de-DE" sz="2000" dirty="0"/>
              <a:t> </a:t>
            </a:r>
            <a:r>
              <a:rPr lang="de-DE" sz="2000" dirty="0" err="1"/>
              <a:t>consumption</a:t>
            </a: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Sundays</a:t>
            </a:r>
            <a:r>
              <a:rPr lang="de-DE" sz="2000" dirty="0"/>
              <a:t> </a:t>
            </a:r>
            <a:r>
              <a:rPr lang="de-DE" sz="2000" dirty="0" err="1"/>
              <a:t>are</a:t>
            </a:r>
            <a:r>
              <a:rPr lang="de-DE" sz="2000" dirty="0"/>
              <a:t> also </a:t>
            </a:r>
            <a:r>
              <a:rPr lang="de-DE" sz="2000" dirty="0" err="1"/>
              <a:t>lower</a:t>
            </a:r>
            <a:r>
              <a:rPr lang="de-DE" sz="2000" dirty="0"/>
              <a:t> </a:t>
            </a:r>
            <a:r>
              <a:rPr lang="de-DE" sz="2000" dirty="0" err="1"/>
              <a:t>than</a:t>
            </a:r>
            <a:r>
              <a:rPr lang="de-DE" sz="2000" dirty="0"/>
              <a:t> </a:t>
            </a:r>
            <a:r>
              <a:rPr lang="de-DE" sz="2000" dirty="0" err="1"/>
              <a:t>regular</a:t>
            </a:r>
            <a:r>
              <a:rPr lang="de-DE" sz="2000" dirty="0"/>
              <a:t> </a:t>
            </a:r>
            <a:r>
              <a:rPr lang="de-DE" sz="2000" dirty="0" err="1"/>
              <a:t>days</a:t>
            </a:r>
            <a:r>
              <a:rPr lang="de-DE" sz="2000" dirty="0"/>
              <a:t>,                                                                                           but in </a:t>
            </a:r>
            <a:r>
              <a:rPr lang="de-DE" sz="2000" dirty="0" err="1"/>
              <a:t>our</a:t>
            </a:r>
            <a:r>
              <a:rPr lang="de-DE" sz="2000" dirty="0"/>
              <a:t> </a:t>
            </a:r>
            <a:r>
              <a:rPr lang="de-DE" sz="2000" dirty="0" err="1"/>
              <a:t>data</a:t>
            </a:r>
            <a:r>
              <a:rPr lang="de-DE" sz="2000" dirty="0"/>
              <a:t> </a:t>
            </a:r>
            <a:r>
              <a:rPr lang="de-DE" sz="2000" dirty="0" err="1"/>
              <a:t>the</a:t>
            </a:r>
            <a:r>
              <a:rPr lang="de-DE" sz="2000" dirty="0"/>
              <a:t> </a:t>
            </a:r>
            <a:r>
              <a:rPr lang="de-DE" sz="2000" dirty="0" err="1"/>
              <a:t>strongest</a:t>
            </a:r>
            <a:r>
              <a:rPr lang="de-DE" sz="2000" dirty="0"/>
              <a:t> </a:t>
            </a:r>
            <a:r>
              <a:rPr lang="de-DE" sz="2000" dirty="0" err="1"/>
              <a:t>reduction</a:t>
            </a:r>
            <a:r>
              <a:rPr lang="de-DE" sz="2000" dirty="0"/>
              <a:t> </a:t>
            </a:r>
            <a:r>
              <a:rPr lang="de-DE" sz="2000" dirty="0" err="1"/>
              <a:t>appears</a:t>
            </a:r>
            <a:r>
              <a:rPr lang="de-DE" sz="2000" dirty="0"/>
              <a:t> </a:t>
            </a:r>
            <a:r>
              <a:rPr lang="de-DE" sz="2000" dirty="0" err="1"/>
              <a:t>during</a:t>
            </a:r>
            <a:r>
              <a:rPr lang="de-DE" sz="2000" dirty="0"/>
              <a:t> </a:t>
            </a:r>
            <a:r>
              <a:rPr lang="de-DE" sz="2000" dirty="0" err="1"/>
              <a:t>holiday</a:t>
            </a:r>
            <a:r>
              <a:rPr lang="de-DE" sz="2000" dirty="0"/>
              <a:t> </a:t>
            </a:r>
            <a:r>
              <a:rPr lang="de-DE" sz="2000" dirty="0" err="1"/>
              <a:t>periods</a:t>
            </a: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This </a:t>
            </a:r>
            <a:r>
              <a:rPr lang="de-DE" sz="2000" dirty="0" err="1"/>
              <a:t>suggests</a:t>
            </a:r>
            <a:r>
              <a:rPr lang="de-DE" sz="2000" dirty="0"/>
              <a:t> </a:t>
            </a:r>
            <a:r>
              <a:rPr lang="de-DE" sz="2000" dirty="0" err="1"/>
              <a:t>that</a:t>
            </a:r>
            <a:r>
              <a:rPr lang="de-DE" sz="2000" dirty="0"/>
              <a:t> </a:t>
            </a:r>
            <a:r>
              <a:rPr lang="de-DE" sz="2000" dirty="0" err="1"/>
              <a:t>changes</a:t>
            </a:r>
            <a:r>
              <a:rPr lang="de-DE" sz="2000" dirty="0"/>
              <a:t> in </a:t>
            </a:r>
            <a:r>
              <a:rPr lang="de-DE" sz="2000" dirty="0" err="1"/>
              <a:t>routines</a:t>
            </a:r>
            <a:r>
              <a:rPr lang="de-DE" sz="2000" dirty="0"/>
              <a:t>, </a:t>
            </a:r>
            <a:r>
              <a:rPr lang="de-DE" sz="2000" dirty="0" err="1"/>
              <a:t>mobility</a:t>
            </a:r>
            <a:r>
              <a:rPr lang="de-DE" sz="2000" dirty="0"/>
              <a:t> and </a:t>
            </a:r>
            <a:r>
              <a:rPr lang="de-DE" sz="2000" dirty="0" err="1"/>
              <a:t>economic</a:t>
            </a:r>
            <a:r>
              <a:rPr lang="de-DE" sz="2000" dirty="0"/>
              <a:t>                                                       </a:t>
            </a:r>
            <a:r>
              <a:rPr lang="de-DE" sz="2000" dirty="0" err="1"/>
              <a:t>activity</a:t>
            </a:r>
            <a:r>
              <a:rPr lang="de-DE" sz="2000" dirty="0"/>
              <a:t> </a:t>
            </a:r>
            <a:r>
              <a:rPr lang="de-DE" sz="2000" dirty="0" err="1"/>
              <a:t>influence</a:t>
            </a:r>
            <a:r>
              <a:rPr lang="de-DE" sz="2000" dirty="0"/>
              <a:t> </a:t>
            </a:r>
            <a:r>
              <a:rPr lang="de-DE" sz="2000" dirty="0" err="1"/>
              <a:t>electricity</a:t>
            </a:r>
            <a:r>
              <a:rPr lang="de-DE" sz="2000" dirty="0"/>
              <a:t> </a:t>
            </a:r>
            <a:r>
              <a:rPr lang="de-DE" sz="2000" dirty="0" err="1"/>
              <a:t>demand</a:t>
            </a:r>
            <a:endParaRPr lang="de-DE" sz="2000" dirty="0"/>
          </a:p>
        </p:txBody>
      </p:sp>
      <p:pic>
        <p:nvPicPr>
          <p:cNvPr id="6148" name="Picture 4" descr="Boy Sleeping GIFs | Tenor">
            <a:extLst>
              <a:ext uri="{FF2B5EF4-FFF2-40B4-BE49-F238E27FC236}">
                <a16:creationId xmlns:a16="http://schemas.microsoft.com/office/drawing/2014/main" id="{BC046E6C-CA5D-C6AC-D111-A27891A8DB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5078" y="-1425814"/>
            <a:ext cx="1307017" cy="1307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el 1">
            <a:extLst>
              <a:ext uri="{FF2B5EF4-FFF2-40B4-BE49-F238E27FC236}">
                <a16:creationId xmlns:a16="http://schemas.microsoft.com/office/drawing/2014/main" id="{6533B242-2119-48B7-D0AE-B2ABFF4A3FE0}"/>
              </a:ext>
            </a:extLst>
          </p:cNvPr>
          <p:cNvSpPr txBox="1">
            <a:spLocks/>
          </p:cNvSpPr>
          <p:nvPr/>
        </p:nvSpPr>
        <p:spPr>
          <a:xfrm>
            <a:off x="-7740719" y="-669686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/>
              <a:t>Main </a:t>
            </a:r>
            <a:r>
              <a:rPr lang="de-DE" dirty="0" err="1"/>
              <a:t>Finding</a:t>
            </a:r>
            <a:r>
              <a:rPr lang="de-DE" dirty="0"/>
              <a:t> 1: Holidays and </a:t>
            </a:r>
            <a:r>
              <a:rPr lang="de-DE" dirty="0" err="1"/>
              <a:t>Consumption</a:t>
            </a:r>
            <a:endParaRPr lang="de-DE" dirty="0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4F2933A9-8DCB-70A3-CEA0-A5A332D8358D}"/>
              </a:ext>
            </a:extLst>
          </p:cNvPr>
          <p:cNvSpPr txBox="1">
            <a:spLocks/>
          </p:cNvSpPr>
          <p:nvPr/>
        </p:nvSpPr>
        <p:spPr>
          <a:xfrm>
            <a:off x="-7740719" y="2241755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sz="2400" dirty="0" err="1"/>
              <a:t>To</a:t>
            </a:r>
            <a:r>
              <a:rPr lang="de-DE" sz="2400" dirty="0"/>
              <a:t> </a:t>
            </a:r>
            <a:r>
              <a:rPr lang="de-DE" sz="2400" dirty="0" err="1"/>
              <a:t>what</a:t>
            </a:r>
            <a:r>
              <a:rPr lang="de-DE" sz="2400" dirty="0"/>
              <a:t> </a:t>
            </a:r>
            <a:r>
              <a:rPr lang="de-DE" sz="2400" dirty="0" err="1"/>
              <a:t>extent</a:t>
            </a:r>
            <a:r>
              <a:rPr lang="de-DE" sz="2400" dirty="0"/>
              <a:t> do </a:t>
            </a:r>
            <a:r>
              <a:rPr lang="de-DE" sz="2400" dirty="0" err="1"/>
              <a:t>holiday</a:t>
            </a:r>
            <a:r>
              <a:rPr lang="de-DE" sz="2400" dirty="0"/>
              <a:t> </a:t>
            </a:r>
            <a:r>
              <a:rPr lang="de-DE" sz="2400" dirty="0" err="1"/>
              <a:t>periods</a:t>
            </a:r>
            <a:r>
              <a:rPr lang="de-DE" sz="2400" dirty="0"/>
              <a:t> </a:t>
            </a:r>
            <a:r>
              <a:rPr lang="de-DE" sz="2400" dirty="0" err="1"/>
              <a:t>influence</a:t>
            </a:r>
            <a:r>
              <a:rPr lang="de-DE" sz="2400" dirty="0"/>
              <a:t> </a:t>
            </a:r>
            <a:r>
              <a:rPr lang="de-DE" sz="2400" dirty="0" err="1"/>
              <a:t>daily</a:t>
            </a:r>
            <a:r>
              <a:rPr lang="de-DE" sz="2400" dirty="0"/>
              <a:t> </a:t>
            </a:r>
            <a:r>
              <a:rPr lang="de-DE" sz="2400" dirty="0" err="1"/>
              <a:t>electricity</a:t>
            </a:r>
            <a:r>
              <a:rPr lang="de-DE" sz="2400" dirty="0"/>
              <a:t> </a:t>
            </a:r>
            <a:r>
              <a:rPr lang="de-DE" sz="2400" dirty="0" err="1"/>
              <a:t>consumption</a:t>
            </a:r>
            <a:r>
              <a:rPr lang="de-DE" sz="2400" dirty="0"/>
              <a:t> in </a:t>
            </a:r>
            <a:r>
              <a:rPr lang="de-DE" sz="2400" dirty="0" err="1"/>
              <a:t>germany</a:t>
            </a:r>
            <a:r>
              <a:rPr lang="de-DE" sz="2400" dirty="0"/>
              <a:t>?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C44AC2CD-D2FE-FA28-25D6-0575FD068304}"/>
              </a:ext>
            </a:extLst>
          </p:cNvPr>
          <p:cNvSpPr txBox="1">
            <a:spLocks/>
          </p:cNvSpPr>
          <p:nvPr/>
        </p:nvSpPr>
        <p:spPr>
          <a:xfrm>
            <a:off x="4675224" y="-2176356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/>
              <a:t>Website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69A657F9-633D-1C37-92DC-19A79261086F}"/>
              </a:ext>
            </a:extLst>
          </p:cNvPr>
          <p:cNvSpPr txBox="1">
            <a:spLocks/>
          </p:cNvSpPr>
          <p:nvPr/>
        </p:nvSpPr>
        <p:spPr>
          <a:xfrm>
            <a:off x="113210" y="-788483"/>
            <a:ext cx="11634841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/>
              <a:t>Main </a:t>
            </a:r>
            <a:r>
              <a:rPr lang="de-DE" dirty="0" err="1"/>
              <a:t>Finding</a:t>
            </a:r>
            <a:r>
              <a:rPr lang="de-DE" dirty="0"/>
              <a:t> 3: Regional </a:t>
            </a:r>
            <a:r>
              <a:rPr lang="de-DE" dirty="0" err="1"/>
              <a:t>Differences</a:t>
            </a:r>
            <a:r>
              <a:rPr lang="de-DE" dirty="0"/>
              <a:t> </a:t>
            </a:r>
            <a:r>
              <a:rPr lang="de-DE" dirty="0" err="1"/>
              <a:t>across</a:t>
            </a:r>
            <a:endParaRPr lang="de-DE" dirty="0"/>
          </a:p>
          <a:p>
            <a:pPr algn="l"/>
            <a:r>
              <a:rPr lang="de-DE" dirty="0"/>
              <a:t>TSO </a:t>
            </a:r>
            <a:r>
              <a:rPr lang="de-DE" dirty="0" err="1"/>
              <a:t>Zones</a:t>
            </a:r>
            <a:endParaRPr lang="de-DE" dirty="0"/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CC213A0F-DD71-FD2C-C748-EE600CD23E13}"/>
              </a:ext>
            </a:extLst>
          </p:cNvPr>
          <p:cNvSpPr txBox="1">
            <a:spLocks/>
          </p:cNvSpPr>
          <p:nvPr/>
        </p:nvSpPr>
        <p:spPr>
          <a:xfrm>
            <a:off x="169817" y="680950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sz="2400" dirty="0"/>
              <a:t>How do </a:t>
            </a:r>
            <a:r>
              <a:rPr lang="de-DE" sz="2400" dirty="0" err="1"/>
              <a:t>these</a:t>
            </a:r>
            <a:r>
              <a:rPr lang="de-DE" sz="2400" dirty="0"/>
              <a:t> </a:t>
            </a:r>
            <a:r>
              <a:rPr lang="de-DE" sz="2400" dirty="0" err="1"/>
              <a:t>effects</a:t>
            </a:r>
            <a:r>
              <a:rPr lang="de-DE" sz="2400" dirty="0"/>
              <a:t> </a:t>
            </a:r>
            <a:r>
              <a:rPr lang="de-DE" sz="2400" dirty="0" err="1"/>
              <a:t>differ</a:t>
            </a:r>
            <a:r>
              <a:rPr lang="de-DE" sz="2400" dirty="0"/>
              <a:t> </a:t>
            </a:r>
            <a:r>
              <a:rPr lang="de-DE" sz="2400" dirty="0" err="1"/>
              <a:t>across</a:t>
            </a:r>
            <a:r>
              <a:rPr lang="de-DE" sz="2400" dirty="0"/>
              <a:t> German TSO </a:t>
            </a:r>
            <a:r>
              <a:rPr lang="de-DE" sz="2400" dirty="0" err="1"/>
              <a:t>zones</a:t>
            </a:r>
            <a:r>
              <a:rPr lang="de-DE" sz="2400" dirty="0"/>
              <a:t>?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8DE2C7A1-0E79-494E-BA35-4BA095921AD6}"/>
              </a:ext>
            </a:extLst>
          </p:cNvPr>
          <p:cNvSpPr txBox="1"/>
          <p:nvPr/>
        </p:nvSpPr>
        <p:spPr>
          <a:xfrm>
            <a:off x="128034" y="3197535"/>
            <a:ext cx="1193593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Clear </a:t>
            </a:r>
            <a:r>
              <a:rPr lang="de-DE" sz="2000" dirty="0" err="1"/>
              <a:t>differences</a:t>
            </a:r>
            <a:r>
              <a:rPr lang="de-DE" sz="2000" dirty="0"/>
              <a:t> </a:t>
            </a:r>
            <a:r>
              <a:rPr lang="de-DE" sz="2000" dirty="0" err="1"/>
              <a:t>accros</a:t>
            </a:r>
            <a:r>
              <a:rPr lang="de-DE" sz="2000" dirty="0"/>
              <a:t> </a:t>
            </a:r>
            <a:r>
              <a:rPr lang="de-DE" sz="2000" dirty="0" err="1"/>
              <a:t>the</a:t>
            </a:r>
            <a:r>
              <a:rPr lang="de-DE" sz="2000" dirty="0"/>
              <a:t> </a:t>
            </a:r>
            <a:r>
              <a:rPr lang="de-DE" sz="2000" dirty="0" err="1"/>
              <a:t>four</a:t>
            </a:r>
            <a:r>
              <a:rPr lang="de-DE" sz="2000" dirty="0"/>
              <a:t> TSO </a:t>
            </a:r>
            <a:r>
              <a:rPr lang="de-DE" sz="2000" dirty="0" err="1"/>
              <a:t>zones</a:t>
            </a:r>
            <a:endParaRPr lang="de-DE" sz="2000" dirty="0"/>
          </a:p>
          <a:p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Amprion and Tennet </a:t>
            </a:r>
            <a:r>
              <a:rPr lang="de-DE" sz="2000" dirty="0" err="1"/>
              <a:t>have</a:t>
            </a:r>
            <a:r>
              <a:rPr lang="de-DE" sz="2000" dirty="0"/>
              <a:t> </a:t>
            </a:r>
            <a:r>
              <a:rPr lang="de-DE" sz="2000" dirty="0" err="1"/>
              <a:t>higher</a:t>
            </a:r>
            <a:r>
              <a:rPr lang="de-DE" sz="2000" dirty="0"/>
              <a:t> </a:t>
            </a:r>
            <a:r>
              <a:rPr lang="de-DE" sz="2000" dirty="0" err="1"/>
              <a:t>average</a:t>
            </a:r>
            <a:r>
              <a:rPr lang="de-DE" sz="2000" dirty="0"/>
              <a:t> </a:t>
            </a:r>
            <a:r>
              <a:rPr lang="de-DE" sz="2000" dirty="0" err="1"/>
              <a:t>consumption</a:t>
            </a:r>
            <a:endParaRPr lang="de-DE" sz="2000" dirty="0"/>
          </a:p>
          <a:p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Regional </a:t>
            </a:r>
            <a:r>
              <a:rPr lang="de-DE" sz="2000" dirty="0" err="1"/>
              <a:t>pattern</a:t>
            </a:r>
            <a:r>
              <a:rPr lang="de-DE" sz="2000" dirty="0"/>
              <a:t> </a:t>
            </a:r>
            <a:r>
              <a:rPr lang="de-DE" sz="2000" dirty="0" err="1"/>
              <a:t>reflect</a:t>
            </a:r>
            <a:r>
              <a:rPr lang="de-DE" sz="2000" dirty="0"/>
              <a:t> </a:t>
            </a:r>
            <a:r>
              <a:rPr lang="de-DE" sz="2000" dirty="0" err="1"/>
              <a:t>industry</a:t>
            </a:r>
            <a:r>
              <a:rPr lang="de-DE" sz="2000" dirty="0"/>
              <a:t>, </a:t>
            </a:r>
            <a:r>
              <a:rPr lang="de-DE" sz="2000" dirty="0" err="1"/>
              <a:t>population</a:t>
            </a:r>
            <a:r>
              <a:rPr lang="de-DE" sz="2000" dirty="0"/>
              <a:t> and </a:t>
            </a:r>
            <a:r>
              <a:rPr lang="de-DE" sz="2000" dirty="0" err="1"/>
              <a:t>generation</a:t>
            </a:r>
            <a:r>
              <a:rPr lang="de-DE" sz="2000" dirty="0"/>
              <a:t> mix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Weather</a:t>
            </a:r>
            <a:r>
              <a:rPr lang="de-DE" sz="2000" dirty="0"/>
              <a:t> </a:t>
            </a:r>
            <a:r>
              <a:rPr lang="de-DE" sz="2000" dirty="0" err="1"/>
              <a:t>effects</a:t>
            </a:r>
            <a:r>
              <a:rPr lang="de-DE" sz="2000" dirty="0"/>
              <a:t> </a:t>
            </a:r>
            <a:r>
              <a:rPr lang="de-DE" sz="2000" dirty="0" err="1"/>
              <a:t>exist</a:t>
            </a:r>
            <a:r>
              <a:rPr lang="de-DE" sz="2000" dirty="0"/>
              <a:t> in all </a:t>
            </a:r>
            <a:r>
              <a:rPr lang="de-DE" sz="2000" dirty="0" err="1"/>
              <a:t>zones</a:t>
            </a:r>
            <a:r>
              <a:rPr lang="de-DE" sz="2000" dirty="0"/>
              <a:t> but </a:t>
            </a:r>
            <a:r>
              <a:rPr lang="de-DE" sz="2000" dirty="0" err="1"/>
              <a:t>with</a:t>
            </a:r>
            <a:r>
              <a:rPr lang="de-DE" sz="2000" dirty="0"/>
              <a:t> different </a:t>
            </a:r>
            <a:r>
              <a:rPr lang="de-DE" sz="2000" dirty="0" err="1"/>
              <a:t>intensities</a:t>
            </a:r>
            <a:endParaRPr lang="de-DE" sz="2000" dirty="0"/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9E8AECE3-6E5C-7952-77C7-F07408EB244F}"/>
              </a:ext>
            </a:extLst>
          </p:cNvPr>
          <p:cNvSpPr txBox="1">
            <a:spLocks/>
          </p:cNvSpPr>
          <p:nvPr/>
        </p:nvSpPr>
        <p:spPr>
          <a:xfrm>
            <a:off x="12248607" y="1797224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>
                <a:hlinkClick r:id="rId4" action="ppaction://hlinkfile"/>
              </a:rPr>
              <a:t>Website</a:t>
            </a:r>
            <a:endParaRPr lang="de-DE" dirty="0"/>
          </a:p>
        </p:txBody>
      </p:sp>
      <p:pic>
        <p:nvPicPr>
          <p:cNvPr id="16" name="Picture 2" descr="Bad Storm Stickers - Find &amp; Share on GIPHY">
            <a:extLst>
              <a:ext uri="{FF2B5EF4-FFF2-40B4-BE49-F238E27FC236}">
                <a16:creationId xmlns:a16="http://schemas.microsoft.com/office/drawing/2014/main" id="{943ADCAB-4B82-A401-98B5-DE88D86CB4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9436" y="-3331332"/>
            <a:ext cx="3452564" cy="3452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B0098793-42E9-BC82-A813-9585C5D2C8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8586" y="1797224"/>
            <a:ext cx="2862048" cy="3872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26949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90E507-441A-C587-83F5-4D93AC911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B72AE834-E868-9C5D-379D-EE19C6DA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5952CA45-FAA6-36BE-A505-017580C0A3DB}"/>
              </a:ext>
            </a:extLst>
          </p:cNvPr>
          <p:cNvSpPr txBox="1">
            <a:spLocks/>
          </p:cNvSpPr>
          <p:nvPr/>
        </p:nvSpPr>
        <p:spPr>
          <a:xfrm>
            <a:off x="-104503" y="-2360552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/>
              <a:t>Research Goal</a:t>
            </a:r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F32D24A4-7914-F8D9-29C4-37CF1AEFF1DD}"/>
              </a:ext>
            </a:extLst>
          </p:cNvPr>
          <p:cNvSpPr txBox="1">
            <a:spLocks/>
          </p:cNvSpPr>
          <p:nvPr/>
        </p:nvSpPr>
        <p:spPr>
          <a:xfrm>
            <a:off x="-104503" y="-2413949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/>
              <a:t>Data Sources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B43340CB-7093-02CF-D7D9-E8EADA1BD582}"/>
              </a:ext>
            </a:extLst>
          </p:cNvPr>
          <p:cNvSpPr txBox="1">
            <a:spLocks/>
          </p:cNvSpPr>
          <p:nvPr/>
        </p:nvSpPr>
        <p:spPr>
          <a:xfrm>
            <a:off x="40051" y="-2295152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/>
              <a:t>Method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E8A9A270-4FB5-A959-DAAF-A4D2E3134F6E}"/>
              </a:ext>
            </a:extLst>
          </p:cNvPr>
          <p:cNvSpPr txBox="1"/>
          <p:nvPr/>
        </p:nvSpPr>
        <p:spPr>
          <a:xfrm>
            <a:off x="-12153645" y="1797224"/>
            <a:ext cx="1193593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All </a:t>
            </a:r>
            <a:r>
              <a:rPr lang="de-DE" sz="2000" dirty="0" err="1"/>
              <a:t>datasets</a:t>
            </a:r>
            <a:r>
              <a:rPr lang="de-DE" sz="2000" dirty="0"/>
              <a:t> </a:t>
            </a:r>
            <a:r>
              <a:rPr lang="de-DE" sz="2000" dirty="0" err="1"/>
              <a:t>were</a:t>
            </a:r>
            <a:r>
              <a:rPr lang="de-DE" sz="2000" dirty="0"/>
              <a:t> </a:t>
            </a:r>
            <a:r>
              <a:rPr lang="de-DE" sz="2000" dirty="0" err="1"/>
              <a:t>converted</a:t>
            </a:r>
            <a:r>
              <a:rPr lang="de-DE" sz="2000" dirty="0"/>
              <a:t> </a:t>
            </a:r>
            <a:r>
              <a:rPr lang="de-DE" sz="2000" dirty="0" err="1"/>
              <a:t>to</a:t>
            </a:r>
            <a:r>
              <a:rPr lang="de-DE" sz="2000" dirty="0"/>
              <a:t> </a:t>
            </a:r>
            <a:r>
              <a:rPr lang="de-DE" sz="2000" dirty="0" err="1"/>
              <a:t>daily</a:t>
            </a:r>
            <a:r>
              <a:rPr lang="de-DE" sz="2000" dirty="0"/>
              <a:t> </a:t>
            </a:r>
            <a:r>
              <a:rPr lang="de-DE" sz="2000" dirty="0" err="1"/>
              <a:t>level</a:t>
            </a:r>
            <a:r>
              <a:rPr lang="de-DE" sz="2000" dirty="0"/>
              <a:t> and </a:t>
            </a:r>
            <a:r>
              <a:rPr lang="de-DE" sz="2000" dirty="0" err="1"/>
              <a:t>merged</a:t>
            </a:r>
            <a:r>
              <a:rPr lang="de-DE" sz="2000" dirty="0"/>
              <a:t> </a:t>
            </a:r>
            <a:r>
              <a:rPr lang="de-DE" sz="2000" dirty="0" err="1"/>
              <a:t>by</a:t>
            </a:r>
            <a:r>
              <a:rPr lang="de-DE" sz="2000" dirty="0"/>
              <a:t> date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For</a:t>
            </a:r>
            <a:r>
              <a:rPr lang="de-DE" sz="2000" dirty="0"/>
              <a:t> </a:t>
            </a:r>
            <a:r>
              <a:rPr lang="de-DE" sz="2000" dirty="0" err="1"/>
              <a:t>electricity</a:t>
            </a:r>
            <a:r>
              <a:rPr lang="de-DE" sz="2000" dirty="0"/>
              <a:t> </a:t>
            </a:r>
            <a:r>
              <a:rPr lang="de-DE" sz="2000" dirty="0" err="1"/>
              <a:t>consumption</a:t>
            </a:r>
            <a:r>
              <a:rPr lang="de-DE" sz="2000" dirty="0"/>
              <a:t>, </a:t>
            </a:r>
            <a:r>
              <a:rPr lang="de-DE" sz="2000" dirty="0" err="1"/>
              <a:t>we</a:t>
            </a:r>
            <a:r>
              <a:rPr lang="de-DE" sz="2000" dirty="0"/>
              <a:t> </a:t>
            </a:r>
            <a:r>
              <a:rPr lang="de-DE" sz="2000" dirty="0" err="1"/>
              <a:t>compared</a:t>
            </a:r>
            <a:r>
              <a:rPr lang="de-DE" sz="2000" dirty="0"/>
              <a:t> </a:t>
            </a:r>
            <a:r>
              <a:rPr lang="de-DE" sz="2000" dirty="0" err="1"/>
              <a:t>three</a:t>
            </a:r>
            <a:r>
              <a:rPr lang="de-DE" sz="2000" dirty="0"/>
              <a:t> </a:t>
            </a:r>
            <a:r>
              <a:rPr lang="de-DE" sz="2000" dirty="0" err="1"/>
              <a:t>day</a:t>
            </a:r>
            <a:r>
              <a:rPr lang="de-DE" sz="2000" dirty="0"/>
              <a:t> type: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000" dirty="0"/>
              <a:t>Regular Days, </a:t>
            </a:r>
            <a:r>
              <a:rPr lang="de-DE" sz="2000" dirty="0" err="1"/>
              <a:t>Sundays</a:t>
            </a:r>
            <a:r>
              <a:rPr lang="de-DE" sz="2000" dirty="0"/>
              <a:t> and Holidays</a:t>
            </a:r>
          </a:p>
          <a:p>
            <a:pPr lvl="1"/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For</a:t>
            </a:r>
            <a:r>
              <a:rPr lang="de-DE" sz="2000" dirty="0"/>
              <a:t> </a:t>
            </a:r>
            <a:r>
              <a:rPr lang="de-DE" sz="2000" dirty="0" err="1"/>
              <a:t>electricity</a:t>
            </a:r>
            <a:r>
              <a:rPr lang="de-DE" sz="2000" dirty="0"/>
              <a:t> </a:t>
            </a:r>
            <a:r>
              <a:rPr lang="de-DE" sz="2000" dirty="0" err="1"/>
              <a:t>generation</a:t>
            </a:r>
            <a:r>
              <a:rPr lang="de-DE" sz="2000" dirty="0"/>
              <a:t>, </a:t>
            </a:r>
            <a:r>
              <a:rPr lang="de-DE" sz="2000" dirty="0" err="1"/>
              <a:t>we</a:t>
            </a:r>
            <a:r>
              <a:rPr lang="de-DE" sz="2000" dirty="0"/>
              <a:t> </a:t>
            </a:r>
            <a:r>
              <a:rPr lang="de-DE" sz="2000" dirty="0" err="1"/>
              <a:t>examined</a:t>
            </a:r>
            <a:r>
              <a:rPr lang="de-DE" sz="2000" dirty="0"/>
              <a:t> </a:t>
            </a:r>
            <a:r>
              <a:rPr lang="de-DE" sz="2000" dirty="0" err="1"/>
              <a:t>correlations</a:t>
            </a:r>
            <a:r>
              <a:rPr lang="de-DE" sz="2000" dirty="0"/>
              <a:t> </a:t>
            </a:r>
            <a:r>
              <a:rPr lang="de-DE" sz="2000" dirty="0" err="1"/>
              <a:t>between</a:t>
            </a:r>
            <a:r>
              <a:rPr lang="de-DE" sz="2000" dirty="0"/>
              <a:t> </a:t>
            </a:r>
            <a:r>
              <a:rPr lang="de-DE" sz="2000" dirty="0" err="1"/>
              <a:t>weather</a:t>
            </a:r>
            <a:r>
              <a:rPr lang="de-DE" sz="2000" dirty="0"/>
              <a:t> variables and </a:t>
            </a:r>
            <a:r>
              <a:rPr lang="de-DE" sz="2000" dirty="0" err="1"/>
              <a:t>renewable</a:t>
            </a:r>
            <a:r>
              <a:rPr lang="de-DE" sz="2000" dirty="0"/>
              <a:t> </a:t>
            </a:r>
            <a:r>
              <a:rPr lang="de-DE" sz="2000" dirty="0" err="1"/>
              <a:t>generation</a:t>
            </a:r>
            <a:r>
              <a:rPr lang="de-DE" sz="2000" dirty="0"/>
              <a:t>, </a:t>
            </a:r>
            <a:r>
              <a:rPr lang="de-DE" sz="2000" dirty="0" err="1"/>
              <a:t>especially</a:t>
            </a:r>
            <a:r>
              <a:rPr lang="de-DE" sz="20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000" dirty="0"/>
              <a:t>wind </a:t>
            </a:r>
            <a:r>
              <a:rPr lang="de-DE" sz="2000" dirty="0" err="1"/>
              <a:t>speed</a:t>
            </a:r>
            <a:r>
              <a:rPr lang="de-DE" sz="2000" dirty="0"/>
              <a:t> – wind </a:t>
            </a:r>
            <a:r>
              <a:rPr lang="de-DE" sz="2000" dirty="0" err="1"/>
              <a:t>generation</a:t>
            </a:r>
            <a:r>
              <a:rPr lang="de-DE" sz="20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Temperature</a:t>
            </a:r>
            <a:r>
              <a:rPr lang="de-DE" sz="2000" dirty="0"/>
              <a:t> / </a:t>
            </a:r>
            <a:r>
              <a:rPr lang="de-DE" sz="2000" dirty="0" err="1"/>
              <a:t>seasonal</a:t>
            </a:r>
            <a:r>
              <a:rPr lang="de-DE" sz="2000" dirty="0"/>
              <a:t> </a:t>
            </a:r>
            <a:r>
              <a:rPr lang="de-DE" sz="2000" dirty="0" err="1"/>
              <a:t>conditions</a:t>
            </a:r>
            <a:r>
              <a:rPr lang="de-DE" sz="2000" dirty="0"/>
              <a:t> – solar </a:t>
            </a:r>
            <a:r>
              <a:rPr lang="de-DE" sz="2000" dirty="0" err="1"/>
              <a:t>generation</a:t>
            </a:r>
            <a:endParaRPr lang="de-DE" sz="2000" dirty="0"/>
          </a:p>
          <a:p>
            <a:pPr lvl="1"/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We</a:t>
            </a:r>
            <a:r>
              <a:rPr lang="de-DE" sz="2000" dirty="0"/>
              <a:t> also </a:t>
            </a:r>
            <a:r>
              <a:rPr lang="de-DE" sz="2000" dirty="0" err="1"/>
              <a:t>conducted</a:t>
            </a:r>
            <a:r>
              <a:rPr lang="de-DE" sz="2000" dirty="0"/>
              <a:t> a regional </a:t>
            </a:r>
            <a:r>
              <a:rPr lang="de-DE" sz="2000" dirty="0" err="1"/>
              <a:t>comparison</a:t>
            </a:r>
            <a:r>
              <a:rPr lang="de-DE" sz="2000" dirty="0"/>
              <a:t> </a:t>
            </a:r>
            <a:r>
              <a:rPr lang="de-DE" sz="2000" dirty="0" err="1"/>
              <a:t>across</a:t>
            </a:r>
            <a:r>
              <a:rPr lang="de-DE" sz="2000" dirty="0"/>
              <a:t> TSO </a:t>
            </a:r>
            <a:r>
              <a:rPr lang="de-DE" sz="2000" dirty="0" err="1"/>
              <a:t>zones</a:t>
            </a:r>
            <a:r>
              <a:rPr lang="de-DE" sz="20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000" dirty="0"/>
              <a:t>50Hertz, Amprion, TenneT and TransnetBW</a:t>
            </a:r>
          </a:p>
        </p:txBody>
      </p:sp>
      <p:pic>
        <p:nvPicPr>
          <p:cNvPr id="5123" name="Picture 3">
            <a:extLst>
              <a:ext uri="{FF2B5EF4-FFF2-40B4-BE49-F238E27FC236}">
                <a16:creationId xmlns:a16="http://schemas.microsoft.com/office/drawing/2014/main" id="{41E6F6C5-C85C-B92A-4861-4E0F7BE16C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73382" y="7243792"/>
            <a:ext cx="2809978" cy="2241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el 1">
            <a:extLst>
              <a:ext uri="{FF2B5EF4-FFF2-40B4-BE49-F238E27FC236}">
                <a16:creationId xmlns:a16="http://schemas.microsoft.com/office/drawing/2014/main" id="{F8679FE0-67E6-61BB-80CE-44D59A2C3A25}"/>
              </a:ext>
            </a:extLst>
          </p:cNvPr>
          <p:cNvSpPr txBox="1">
            <a:spLocks/>
          </p:cNvSpPr>
          <p:nvPr/>
        </p:nvSpPr>
        <p:spPr>
          <a:xfrm>
            <a:off x="40051" y="-2176355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/>
              <a:t>TSO </a:t>
            </a:r>
            <a:r>
              <a:rPr lang="de-DE" dirty="0" err="1"/>
              <a:t>Zones</a:t>
            </a:r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1669F21-81E0-993E-C439-D94EB4264617}"/>
              </a:ext>
            </a:extLst>
          </p:cNvPr>
          <p:cNvSpPr txBox="1">
            <a:spLocks/>
          </p:cNvSpPr>
          <p:nvPr/>
        </p:nvSpPr>
        <p:spPr>
          <a:xfrm>
            <a:off x="-185798" y="-2446649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/>
              <a:t>Main </a:t>
            </a:r>
            <a:r>
              <a:rPr lang="de-DE" dirty="0" err="1"/>
              <a:t>Finding</a:t>
            </a:r>
            <a:r>
              <a:rPr lang="de-DE" dirty="0"/>
              <a:t> 1: Holidays and </a:t>
            </a:r>
            <a:r>
              <a:rPr lang="de-DE" dirty="0" err="1"/>
              <a:t>Consumption</a:t>
            </a:r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A9946A30-8EEC-8E69-97D7-0E2571B931DC}"/>
              </a:ext>
            </a:extLst>
          </p:cNvPr>
          <p:cNvSpPr txBox="1"/>
          <p:nvPr/>
        </p:nvSpPr>
        <p:spPr>
          <a:xfrm>
            <a:off x="-9236880" y="3962735"/>
            <a:ext cx="1193593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Electricity</a:t>
            </a:r>
            <a:r>
              <a:rPr lang="de-DE" sz="2000" dirty="0"/>
              <a:t> </a:t>
            </a:r>
            <a:r>
              <a:rPr lang="de-DE" sz="2000" dirty="0" err="1"/>
              <a:t>consumption</a:t>
            </a:r>
            <a:r>
              <a:rPr lang="de-DE" sz="2000" dirty="0"/>
              <a:t> </a:t>
            </a:r>
            <a:r>
              <a:rPr lang="de-DE" sz="2000" dirty="0" err="1"/>
              <a:t>lowest</a:t>
            </a:r>
            <a:r>
              <a:rPr lang="de-DE" sz="2000" dirty="0"/>
              <a:t> on </a:t>
            </a:r>
            <a:r>
              <a:rPr lang="de-DE" sz="2000" dirty="0" err="1"/>
              <a:t>holiday-period</a:t>
            </a:r>
            <a:r>
              <a:rPr lang="de-DE" sz="2000" dirty="0"/>
              <a:t> </a:t>
            </a:r>
            <a:r>
              <a:rPr lang="de-DE" sz="2000" dirty="0" err="1"/>
              <a:t>days</a:t>
            </a: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Regular </a:t>
            </a:r>
            <a:r>
              <a:rPr lang="de-DE" sz="2000" dirty="0" err="1"/>
              <a:t>working</a:t>
            </a:r>
            <a:r>
              <a:rPr lang="de-DE" sz="2000" dirty="0"/>
              <a:t> </a:t>
            </a:r>
            <a:r>
              <a:rPr lang="de-DE" sz="2000" dirty="0" err="1"/>
              <a:t>days</a:t>
            </a:r>
            <a:r>
              <a:rPr lang="de-DE" sz="2000" dirty="0"/>
              <a:t> </a:t>
            </a:r>
            <a:r>
              <a:rPr lang="de-DE" sz="2000" dirty="0" err="1"/>
              <a:t>show</a:t>
            </a:r>
            <a:r>
              <a:rPr lang="de-DE" sz="2000" dirty="0"/>
              <a:t> </a:t>
            </a:r>
            <a:r>
              <a:rPr lang="de-DE" sz="2000" dirty="0" err="1"/>
              <a:t>higher</a:t>
            </a:r>
            <a:r>
              <a:rPr lang="de-DE" sz="2000" dirty="0"/>
              <a:t> </a:t>
            </a:r>
            <a:r>
              <a:rPr lang="de-DE" sz="2000" dirty="0" err="1"/>
              <a:t>average</a:t>
            </a:r>
            <a:r>
              <a:rPr lang="de-DE" sz="2000" dirty="0"/>
              <a:t> </a:t>
            </a:r>
            <a:r>
              <a:rPr lang="de-DE" sz="2000" dirty="0" err="1"/>
              <a:t>consumption</a:t>
            </a: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Sundays</a:t>
            </a:r>
            <a:r>
              <a:rPr lang="de-DE" sz="2000" dirty="0"/>
              <a:t> </a:t>
            </a:r>
            <a:r>
              <a:rPr lang="de-DE" sz="2000" dirty="0" err="1"/>
              <a:t>are</a:t>
            </a:r>
            <a:r>
              <a:rPr lang="de-DE" sz="2000" dirty="0"/>
              <a:t> also </a:t>
            </a:r>
            <a:r>
              <a:rPr lang="de-DE" sz="2000" dirty="0" err="1"/>
              <a:t>lower</a:t>
            </a:r>
            <a:r>
              <a:rPr lang="de-DE" sz="2000" dirty="0"/>
              <a:t> </a:t>
            </a:r>
            <a:r>
              <a:rPr lang="de-DE" sz="2000" dirty="0" err="1"/>
              <a:t>than</a:t>
            </a:r>
            <a:r>
              <a:rPr lang="de-DE" sz="2000" dirty="0"/>
              <a:t> </a:t>
            </a:r>
            <a:r>
              <a:rPr lang="de-DE" sz="2000" dirty="0" err="1"/>
              <a:t>regular</a:t>
            </a:r>
            <a:r>
              <a:rPr lang="de-DE" sz="2000" dirty="0"/>
              <a:t> </a:t>
            </a:r>
            <a:r>
              <a:rPr lang="de-DE" sz="2000" dirty="0" err="1"/>
              <a:t>days</a:t>
            </a:r>
            <a:r>
              <a:rPr lang="de-DE" sz="2000" dirty="0"/>
              <a:t>,                                                                                           but in </a:t>
            </a:r>
            <a:r>
              <a:rPr lang="de-DE" sz="2000" dirty="0" err="1"/>
              <a:t>our</a:t>
            </a:r>
            <a:r>
              <a:rPr lang="de-DE" sz="2000" dirty="0"/>
              <a:t> </a:t>
            </a:r>
            <a:r>
              <a:rPr lang="de-DE" sz="2000" dirty="0" err="1"/>
              <a:t>data</a:t>
            </a:r>
            <a:r>
              <a:rPr lang="de-DE" sz="2000" dirty="0"/>
              <a:t> </a:t>
            </a:r>
            <a:r>
              <a:rPr lang="de-DE" sz="2000" dirty="0" err="1"/>
              <a:t>the</a:t>
            </a:r>
            <a:r>
              <a:rPr lang="de-DE" sz="2000" dirty="0"/>
              <a:t> </a:t>
            </a:r>
            <a:r>
              <a:rPr lang="de-DE" sz="2000" dirty="0" err="1"/>
              <a:t>strongest</a:t>
            </a:r>
            <a:r>
              <a:rPr lang="de-DE" sz="2000" dirty="0"/>
              <a:t> </a:t>
            </a:r>
            <a:r>
              <a:rPr lang="de-DE" sz="2000" dirty="0" err="1"/>
              <a:t>reduction</a:t>
            </a:r>
            <a:r>
              <a:rPr lang="de-DE" sz="2000" dirty="0"/>
              <a:t> </a:t>
            </a:r>
            <a:r>
              <a:rPr lang="de-DE" sz="2000" dirty="0" err="1"/>
              <a:t>appears</a:t>
            </a:r>
            <a:r>
              <a:rPr lang="de-DE" sz="2000" dirty="0"/>
              <a:t> </a:t>
            </a:r>
            <a:r>
              <a:rPr lang="de-DE" sz="2000" dirty="0" err="1"/>
              <a:t>during</a:t>
            </a:r>
            <a:r>
              <a:rPr lang="de-DE" sz="2000" dirty="0"/>
              <a:t> </a:t>
            </a:r>
            <a:r>
              <a:rPr lang="de-DE" sz="2000" dirty="0" err="1"/>
              <a:t>holiday</a:t>
            </a:r>
            <a:r>
              <a:rPr lang="de-DE" sz="2000" dirty="0"/>
              <a:t> </a:t>
            </a:r>
            <a:r>
              <a:rPr lang="de-DE" sz="2000" dirty="0" err="1"/>
              <a:t>periods</a:t>
            </a: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This </a:t>
            </a:r>
            <a:r>
              <a:rPr lang="de-DE" sz="2000" dirty="0" err="1"/>
              <a:t>suggests</a:t>
            </a:r>
            <a:r>
              <a:rPr lang="de-DE" sz="2000" dirty="0"/>
              <a:t> </a:t>
            </a:r>
            <a:r>
              <a:rPr lang="de-DE" sz="2000" dirty="0" err="1"/>
              <a:t>that</a:t>
            </a:r>
            <a:r>
              <a:rPr lang="de-DE" sz="2000" dirty="0"/>
              <a:t> </a:t>
            </a:r>
            <a:r>
              <a:rPr lang="de-DE" sz="2000" dirty="0" err="1"/>
              <a:t>changes</a:t>
            </a:r>
            <a:r>
              <a:rPr lang="de-DE" sz="2000" dirty="0"/>
              <a:t> in </a:t>
            </a:r>
            <a:r>
              <a:rPr lang="de-DE" sz="2000" dirty="0" err="1"/>
              <a:t>routines</a:t>
            </a:r>
            <a:r>
              <a:rPr lang="de-DE" sz="2000" dirty="0"/>
              <a:t>, </a:t>
            </a:r>
            <a:r>
              <a:rPr lang="de-DE" sz="2000" dirty="0" err="1"/>
              <a:t>mobility</a:t>
            </a:r>
            <a:r>
              <a:rPr lang="de-DE" sz="2000" dirty="0"/>
              <a:t> and </a:t>
            </a:r>
            <a:r>
              <a:rPr lang="de-DE" sz="2000" dirty="0" err="1"/>
              <a:t>economic</a:t>
            </a:r>
            <a:r>
              <a:rPr lang="de-DE" sz="2000" dirty="0"/>
              <a:t>                                                       </a:t>
            </a:r>
            <a:r>
              <a:rPr lang="de-DE" sz="2000" dirty="0" err="1"/>
              <a:t>activity</a:t>
            </a:r>
            <a:r>
              <a:rPr lang="de-DE" sz="2000" dirty="0"/>
              <a:t> </a:t>
            </a:r>
            <a:r>
              <a:rPr lang="de-DE" sz="2000" dirty="0" err="1"/>
              <a:t>influence</a:t>
            </a:r>
            <a:r>
              <a:rPr lang="de-DE" sz="2000" dirty="0"/>
              <a:t> </a:t>
            </a:r>
            <a:r>
              <a:rPr lang="de-DE" sz="2000" dirty="0" err="1"/>
              <a:t>electricity</a:t>
            </a:r>
            <a:r>
              <a:rPr lang="de-DE" sz="2000" dirty="0"/>
              <a:t> </a:t>
            </a:r>
            <a:r>
              <a:rPr lang="de-DE" sz="2000" dirty="0" err="1"/>
              <a:t>demand</a:t>
            </a:r>
            <a:endParaRPr lang="de-DE" sz="2000" dirty="0"/>
          </a:p>
        </p:txBody>
      </p:sp>
      <p:pic>
        <p:nvPicPr>
          <p:cNvPr id="6148" name="Picture 4" descr="Boy Sleeping GIFs | Tenor">
            <a:extLst>
              <a:ext uri="{FF2B5EF4-FFF2-40B4-BE49-F238E27FC236}">
                <a16:creationId xmlns:a16="http://schemas.microsoft.com/office/drawing/2014/main" id="{119B1ECC-2799-8323-0EE1-AF57B2BE89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5078" y="-1425814"/>
            <a:ext cx="1307017" cy="1307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el 1">
            <a:extLst>
              <a:ext uri="{FF2B5EF4-FFF2-40B4-BE49-F238E27FC236}">
                <a16:creationId xmlns:a16="http://schemas.microsoft.com/office/drawing/2014/main" id="{D33140EA-1EA8-11F1-51B4-54DDE6DD76A4}"/>
              </a:ext>
            </a:extLst>
          </p:cNvPr>
          <p:cNvSpPr txBox="1">
            <a:spLocks/>
          </p:cNvSpPr>
          <p:nvPr/>
        </p:nvSpPr>
        <p:spPr>
          <a:xfrm>
            <a:off x="-7740719" y="-669686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/>
              <a:t>Main </a:t>
            </a:r>
            <a:r>
              <a:rPr lang="de-DE" dirty="0" err="1"/>
              <a:t>Finding</a:t>
            </a:r>
            <a:r>
              <a:rPr lang="de-DE" dirty="0"/>
              <a:t> 1: Holidays and </a:t>
            </a:r>
            <a:r>
              <a:rPr lang="de-DE" dirty="0" err="1"/>
              <a:t>Consumption</a:t>
            </a:r>
            <a:endParaRPr lang="de-DE" dirty="0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C0638E6D-45C6-2272-23EC-20595AE46F24}"/>
              </a:ext>
            </a:extLst>
          </p:cNvPr>
          <p:cNvSpPr txBox="1">
            <a:spLocks/>
          </p:cNvSpPr>
          <p:nvPr/>
        </p:nvSpPr>
        <p:spPr>
          <a:xfrm>
            <a:off x="-7740719" y="2241755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sz="2400" dirty="0" err="1"/>
              <a:t>To</a:t>
            </a:r>
            <a:r>
              <a:rPr lang="de-DE" sz="2400" dirty="0"/>
              <a:t> </a:t>
            </a:r>
            <a:r>
              <a:rPr lang="de-DE" sz="2400" dirty="0" err="1"/>
              <a:t>what</a:t>
            </a:r>
            <a:r>
              <a:rPr lang="de-DE" sz="2400" dirty="0"/>
              <a:t> </a:t>
            </a:r>
            <a:r>
              <a:rPr lang="de-DE" sz="2400" dirty="0" err="1"/>
              <a:t>extent</a:t>
            </a:r>
            <a:r>
              <a:rPr lang="de-DE" sz="2400" dirty="0"/>
              <a:t> do </a:t>
            </a:r>
            <a:r>
              <a:rPr lang="de-DE" sz="2400" dirty="0" err="1"/>
              <a:t>holiday</a:t>
            </a:r>
            <a:r>
              <a:rPr lang="de-DE" sz="2400" dirty="0"/>
              <a:t> </a:t>
            </a:r>
            <a:r>
              <a:rPr lang="de-DE" sz="2400" dirty="0" err="1"/>
              <a:t>periods</a:t>
            </a:r>
            <a:r>
              <a:rPr lang="de-DE" sz="2400" dirty="0"/>
              <a:t> </a:t>
            </a:r>
            <a:r>
              <a:rPr lang="de-DE" sz="2400" dirty="0" err="1"/>
              <a:t>influence</a:t>
            </a:r>
            <a:r>
              <a:rPr lang="de-DE" sz="2400" dirty="0"/>
              <a:t> </a:t>
            </a:r>
            <a:r>
              <a:rPr lang="de-DE" sz="2400" dirty="0" err="1"/>
              <a:t>daily</a:t>
            </a:r>
            <a:r>
              <a:rPr lang="de-DE" sz="2400" dirty="0"/>
              <a:t> </a:t>
            </a:r>
            <a:r>
              <a:rPr lang="de-DE" sz="2400" dirty="0" err="1"/>
              <a:t>electricity</a:t>
            </a:r>
            <a:r>
              <a:rPr lang="de-DE" sz="2400" dirty="0"/>
              <a:t> </a:t>
            </a:r>
            <a:r>
              <a:rPr lang="de-DE" sz="2400" dirty="0" err="1"/>
              <a:t>consumption</a:t>
            </a:r>
            <a:r>
              <a:rPr lang="de-DE" sz="2400" dirty="0"/>
              <a:t> in </a:t>
            </a:r>
            <a:r>
              <a:rPr lang="de-DE" sz="2400" dirty="0" err="1"/>
              <a:t>germany</a:t>
            </a:r>
            <a:r>
              <a:rPr lang="de-DE" sz="2400" dirty="0"/>
              <a:t>?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97EEE18C-C88E-6505-08A6-980A4372CBC4}"/>
              </a:ext>
            </a:extLst>
          </p:cNvPr>
          <p:cNvSpPr txBox="1">
            <a:spLocks/>
          </p:cNvSpPr>
          <p:nvPr/>
        </p:nvSpPr>
        <p:spPr>
          <a:xfrm>
            <a:off x="4675224" y="-2176356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/>
              <a:t>Website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9A25D503-41A0-38DD-3463-6E33F4FA13B3}"/>
              </a:ext>
            </a:extLst>
          </p:cNvPr>
          <p:cNvSpPr txBox="1">
            <a:spLocks/>
          </p:cNvSpPr>
          <p:nvPr/>
        </p:nvSpPr>
        <p:spPr>
          <a:xfrm>
            <a:off x="113211" y="-2274698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/>
              <a:t>Main </a:t>
            </a:r>
            <a:r>
              <a:rPr lang="de-DE" dirty="0" err="1"/>
              <a:t>Finding</a:t>
            </a:r>
            <a:r>
              <a:rPr lang="de-DE" dirty="0"/>
              <a:t> 2: </a:t>
            </a:r>
            <a:r>
              <a:rPr lang="de-DE" dirty="0" err="1"/>
              <a:t>Weather</a:t>
            </a:r>
            <a:endParaRPr lang="de-DE" dirty="0"/>
          </a:p>
          <a:p>
            <a:pPr algn="l"/>
            <a:r>
              <a:rPr lang="de-DE" dirty="0"/>
              <a:t>And Generation</a:t>
            </a:r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23858450-1488-FFD0-4C66-8F0070A8A43B}"/>
              </a:ext>
            </a:extLst>
          </p:cNvPr>
          <p:cNvSpPr txBox="1">
            <a:spLocks/>
          </p:cNvSpPr>
          <p:nvPr/>
        </p:nvSpPr>
        <p:spPr>
          <a:xfrm>
            <a:off x="-8336507" y="573404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sz="2400" dirty="0"/>
              <a:t>How </a:t>
            </a:r>
            <a:r>
              <a:rPr lang="de-DE" sz="2400" dirty="0" err="1"/>
              <a:t>strongly</a:t>
            </a:r>
            <a:r>
              <a:rPr lang="de-DE" sz="2400" dirty="0"/>
              <a:t> do </a:t>
            </a:r>
            <a:r>
              <a:rPr lang="de-DE" sz="2400" dirty="0" err="1"/>
              <a:t>weather</a:t>
            </a:r>
            <a:r>
              <a:rPr lang="de-DE" sz="2400" dirty="0"/>
              <a:t> </a:t>
            </a:r>
            <a:r>
              <a:rPr lang="de-DE" sz="2400" dirty="0" err="1"/>
              <a:t>conditions</a:t>
            </a:r>
            <a:r>
              <a:rPr lang="de-DE" sz="2400" dirty="0"/>
              <a:t> </a:t>
            </a:r>
            <a:r>
              <a:rPr lang="de-DE" sz="2400" dirty="0" err="1"/>
              <a:t>explain</a:t>
            </a:r>
            <a:r>
              <a:rPr lang="de-DE" sz="2400" dirty="0"/>
              <a:t> </a:t>
            </a:r>
            <a:r>
              <a:rPr lang="de-DE" sz="2400" dirty="0" err="1"/>
              <a:t>renewable</a:t>
            </a:r>
            <a:r>
              <a:rPr lang="de-DE" sz="2400" dirty="0"/>
              <a:t> </a:t>
            </a:r>
            <a:r>
              <a:rPr lang="de-DE" sz="2400" dirty="0" err="1"/>
              <a:t>electricity</a:t>
            </a:r>
            <a:r>
              <a:rPr lang="de-DE" sz="2400" dirty="0"/>
              <a:t> </a:t>
            </a:r>
            <a:r>
              <a:rPr lang="de-DE" sz="2400" dirty="0" err="1"/>
              <a:t>generation</a:t>
            </a:r>
            <a:r>
              <a:rPr lang="de-DE" sz="2400" dirty="0"/>
              <a:t> in Germany?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20FC77A9-EF5D-B7F8-C9A8-4A878E3EDAF5}"/>
              </a:ext>
            </a:extLst>
          </p:cNvPr>
          <p:cNvSpPr txBox="1"/>
          <p:nvPr/>
        </p:nvSpPr>
        <p:spPr>
          <a:xfrm>
            <a:off x="0" y="6807099"/>
            <a:ext cx="1193593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Weather</a:t>
            </a:r>
            <a:r>
              <a:rPr lang="de-DE" sz="2000" dirty="0"/>
              <a:t> </a:t>
            </a:r>
            <a:r>
              <a:rPr lang="de-DE" sz="2000" dirty="0" err="1"/>
              <a:t>has</a:t>
            </a:r>
            <a:r>
              <a:rPr lang="de-DE" sz="2000" dirty="0"/>
              <a:t> a </a:t>
            </a:r>
            <a:r>
              <a:rPr lang="de-DE" sz="2000" dirty="0" err="1"/>
              <a:t>clear</a:t>
            </a:r>
            <a:r>
              <a:rPr lang="de-DE" sz="2000" dirty="0"/>
              <a:t> </a:t>
            </a:r>
            <a:r>
              <a:rPr lang="de-DE" sz="2000" dirty="0" err="1"/>
              <a:t>influence</a:t>
            </a:r>
            <a:r>
              <a:rPr lang="de-DE" sz="2000" dirty="0"/>
              <a:t> on </a:t>
            </a:r>
            <a:r>
              <a:rPr lang="de-DE" sz="2000" dirty="0" err="1"/>
              <a:t>renewable</a:t>
            </a:r>
            <a:r>
              <a:rPr lang="de-DE" sz="2000" dirty="0"/>
              <a:t> </a:t>
            </a:r>
            <a:r>
              <a:rPr lang="de-DE" sz="2000" dirty="0" err="1"/>
              <a:t>electricity</a:t>
            </a:r>
            <a:r>
              <a:rPr lang="de-DE" sz="2000" dirty="0"/>
              <a:t> </a:t>
            </a:r>
            <a:r>
              <a:rPr lang="de-DE" sz="2000" dirty="0" err="1"/>
              <a:t>genarations</a:t>
            </a:r>
            <a:endParaRPr lang="de-DE" sz="2000" dirty="0"/>
          </a:p>
          <a:p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Higher wind </a:t>
            </a:r>
            <a:r>
              <a:rPr lang="de-DE" sz="2000" dirty="0" err="1"/>
              <a:t>speed</a:t>
            </a:r>
            <a:r>
              <a:rPr lang="de-DE" sz="2000" dirty="0"/>
              <a:t> = </a:t>
            </a:r>
            <a:r>
              <a:rPr lang="de-DE" sz="2000" dirty="0" err="1"/>
              <a:t>higher</a:t>
            </a:r>
            <a:r>
              <a:rPr lang="de-DE" sz="2000" dirty="0"/>
              <a:t> wind power </a:t>
            </a:r>
            <a:r>
              <a:rPr lang="de-DE" sz="2000" dirty="0" err="1"/>
              <a:t>generation</a:t>
            </a: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Higher </a:t>
            </a:r>
            <a:r>
              <a:rPr lang="de-DE" sz="2000" dirty="0" err="1"/>
              <a:t>temperatures</a:t>
            </a:r>
            <a:r>
              <a:rPr lang="de-DE" sz="2000" dirty="0"/>
              <a:t> / </a:t>
            </a:r>
            <a:r>
              <a:rPr lang="de-DE" sz="2000" dirty="0" err="1"/>
              <a:t>sunnier</a:t>
            </a:r>
            <a:r>
              <a:rPr lang="de-DE" sz="2000" dirty="0"/>
              <a:t> </a:t>
            </a:r>
            <a:r>
              <a:rPr lang="de-DE" sz="2000" dirty="0" err="1"/>
              <a:t>conditions</a:t>
            </a:r>
            <a:r>
              <a:rPr lang="de-DE" sz="2000" dirty="0"/>
              <a:t> = </a:t>
            </a:r>
            <a:r>
              <a:rPr lang="de-DE" sz="2000" dirty="0" err="1"/>
              <a:t>higher</a:t>
            </a:r>
            <a:r>
              <a:rPr lang="de-DE" sz="2000" dirty="0"/>
              <a:t> solar </a:t>
            </a:r>
            <a:r>
              <a:rPr lang="de-DE" sz="2000" dirty="0" err="1"/>
              <a:t>generation</a:t>
            </a: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Weather</a:t>
            </a:r>
            <a:r>
              <a:rPr lang="de-DE" sz="2000" dirty="0"/>
              <a:t> </a:t>
            </a:r>
            <a:r>
              <a:rPr lang="de-DE" sz="2000" dirty="0" err="1"/>
              <a:t>effects</a:t>
            </a:r>
            <a:r>
              <a:rPr lang="de-DE" sz="2000" dirty="0"/>
              <a:t> </a:t>
            </a:r>
            <a:r>
              <a:rPr lang="de-DE" sz="2000" dirty="0" err="1"/>
              <a:t>are</a:t>
            </a:r>
            <a:r>
              <a:rPr lang="de-DE" sz="2000" dirty="0"/>
              <a:t> </a:t>
            </a:r>
            <a:r>
              <a:rPr lang="de-DE" sz="2000" dirty="0" err="1"/>
              <a:t>stronger</a:t>
            </a:r>
            <a:r>
              <a:rPr lang="de-DE" sz="2000" dirty="0"/>
              <a:t> </a:t>
            </a:r>
            <a:r>
              <a:rPr lang="de-DE" sz="2000" dirty="0" err="1"/>
              <a:t>for</a:t>
            </a:r>
            <a:r>
              <a:rPr lang="de-DE" sz="2000" dirty="0"/>
              <a:t> </a:t>
            </a:r>
            <a:r>
              <a:rPr lang="de-DE" sz="2000" dirty="0" err="1"/>
              <a:t>generation</a:t>
            </a:r>
            <a:r>
              <a:rPr lang="de-DE" sz="2000" dirty="0"/>
              <a:t> </a:t>
            </a:r>
            <a:r>
              <a:rPr lang="de-DE" sz="2000" dirty="0" err="1"/>
              <a:t>than</a:t>
            </a:r>
            <a:r>
              <a:rPr lang="de-DE" sz="2000" dirty="0"/>
              <a:t> </a:t>
            </a:r>
            <a:r>
              <a:rPr lang="de-DE" sz="2000" dirty="0" err="1"/>
              <a:t>consumption</a:t>
            </a: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Clearest</a:t>
            </a:r>
            <a:r>
              <a:rPr lang="de-DE" sz="2000" dirty="0"/>
              <a:t> </a:t>
            </a:r>
            <a:r>
              <a:rPr lang="de-DE" sz="2000" dirty="0" err="1"/>
              <a:t>relationships</a:t>
            </a:r>
            <a:r>
              <a:rPr lang="de-DE" sz="2000" dirty="0"/>
              <a:t> </a:t>
            </a:r>
            <a:r>
              <a:rPr lang="de-DE" sz="2000" dirty="0" err="1"/>
              <a:t>appear</a:t>
            </a:r>
            <a:r>
              <a:rPr lang="de-DE" sz="2000" dirty="0"/>
              <a:t> </a:t>
            </a:r>
            <a:r>
              <a:rPr lang="de-DE" sz="2000" dirty="0" err="1"/>
              <a:t>for</a:t>
            </a:r>
            <a:r>
              <a:rPr lang="de-DE" sz="2000" dirty="0"/>
              <a:t> wind and solar power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This </a:t>
            </a:r>
            <a:r>
              <a:rPr lang="de-DE" sz="2000" dirty="0" err="1"/>
              <a:t>shows</a:t>
            </a:r>
            <a:r>
              <a:rPr lang="de-DE" sz="2000" dirty="0"/>
              <a:t> </a:t>
            </a:r>
            <a:r>
              <a:rPr lang="de-DE" sz="2000" dirty="0" err="1"/>
              <a:t>that</a:t>
            </a:r>
            <a:r>
              <a:rPr lang="de-DE" sz="2000" dirty="0"/>
              <a:t> </a:t>
            </a:r>
            <a:r>
              <a:rPr lang="de-DE" sz="2000" dirty="0" err="1"/>
              <a:t>renewable</a:t>
            </a:r>
            <a:r>
              <a:rPr lang="de-DE" sz="2000" dirty="0"/>
              <a:t> </a:t>
            </a:r>
            <a:r>
              <a:rPr lang="de-DE" sz="2000" dirty="0" err="1"/>
              <a:t>generation</a:t>
            </a:r>
            <a:r>
              <a:rPr lang="de-DE" sz="2000" dirty="0"/>
              <a:t> </a:t>
            </a:r>
            <a:r>
              <a:rPr lang="de-DE" sz="2000" dirty="0" err="1"/>
              <a:t>depends</a:t>
            </a:r>
            <a:r>
              <a:rPr lang="de-DE" sz="2000" dirty="0"/>
              <a:t> </a:t>
            </a:r>
            <a:r>
              <a:rPr lang="de-DE" sz="2000" dirty="0" err="1"/>
              <a:t>strongly</a:t>
            </a:r>
            <a:r>
              <a:rPr lang="de-DE" sz="2000" dirty="0"/>
              <a:t> on </a:t>
            </a:r>
            <a:r>
              <a:rPr lang="de-DE" sz="2000" dirty="0" err="1"/>
              <a:t>natural</a:t>
            </a:r>
            <a:r>
              <a:rPr lang="de-DE" sz="2000" dirty="0"/>
              <a:t> </a:t>
            </a:r>
            <a:r>
              <a:rPr lang="de-DE" sz="2000" dirty="0" err="1"/>
              <a:t>conditions</a:t>
            </a:r>
            <a:endParaRPr lang="de-DE" sz="2000" dirty="0"/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80997DEA-9034-03CE-27F3-6B019A7B68E5}"/>
              </a:ext>
            </a:extLst>
          </p:cNvPr>
          <p:cNvSpPr txBox="1">
            <a:spLocks/>
          </p:cNvSpPr>
          <p:nvPr/>
        </p:nvSpPr>
        <p:spPr>
          <a:xfrm>
            <a:off x="4883727" y="1416794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>
                <a:hlinkClick r:id="rId4" action="ppaction://hlinkfile"/>
              </a:rPr>
              <a:t>Website</a:t>
            </a:r>
            <a:endParaRPr lang="de-DE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B5BFE2D8-613F-56EF-8DD8-E283F8D98AA9}"/>
              </a:ext>
            </a:extLst>
          </p:cNvPr>
          <p:cNvSpPr txBox="1"/>
          <p:nvPr/>
        </p:nvSpPr>
        <p:spPr>
          <a:xfrm>
            <a:off x="213331" y="6787587"/>
            <a:ext cx="1193593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Clear </a:t>
            </a:r>
            <a:r>
              <a:rPr lang="de-DE" sz="2000" dirty="0" err="1"/>
              <a:t>differences</a:t>
            </a:r>
            <a:r>
              <a:rPr lang="de-DE" sz="2000" dirty="0"/>
              <a:t> </a:t>
            </a:r>
            <a:r>
              <a:rPr lang="de-DE" sz="2000" dirty="0" err="1"/>
              <a:t>accros</a:t>
            </a:r>
            <a:r>
              <a:rPr lang="de-DE" sz="2000" dirty="0"/>
              <a:t> </a:t>
            </a:r>
            <a:r>
              <a:rPr lang="de-DE" sz="2000" dirty="0" err="1"/>
              <a:t>the</a:t>
            </a:r>
            <a:r>
              <a:rPr lang="de-DE" sz="2000" dirty="0"/>
              <a:t> </a:t>
            </a:r>
            <a:r>
              <a:rPr lang="de-DE" sz="2000" dirty="0" err="1"/>
              <a:t>four</a:t>
            </a:r>
            <a:r>
              <a:rPr lang="de-DE" sz="2000" dirty="0"/>
              <a:t> TSO </a:t>
            </a:r>
            <a:r>
              <a:rPr lang="de-DE" sz="2000" dirty="0" err="1"/>
              <a:t>zones</a:t>
            </a:r>
            <a:endParaRPr lang="de-DE" sz="2000" dirty="0"/>
          </a:p>
          <a:p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Amprion and Tennet </a:t>
            </a:r>
            <a:r>
              <a:rPr lang="de-DE" sz="2000" dirty="0" err="1"/>
              <a:t>have</a:t>
            </a:r>
            <a:r>
              <a:rPr lang="de-DE" sz="2000" dirty="0"/>
              <a:t> </a:t>
            </a:r>
            <a:r>
              <a:rPr lang="de-DE" sz="2000" dirty="0" err="1"/>
              <a:t>higher</a:t>
            </a:r>
            <a:r>
              <a:rPr lang="de-DE" sz="2000" dirty="0"/>
              <a:t> </a:t>
            </a:r>
            <a:r>
              <a:rPr lang="de-DE" sz="2000" dirty="0" err="1"/>
              <a:t>average</a:t>
            </a:r>
            <a:r>
              <a:rPr lang="de-DE" sz="2000" dirty="0"/>
              <a:t> </a:t>
            </a:r>
            <a:r>
              <a:rPr lang="de-DE" sz="2000" dirty="0" err="1"/>
              <a:t>consumption</a:t>
            </a:r>
            <a:endParaRPr lang="de-DE" sz="2000" dirty="0"/>
          </a:p>
          <a:p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Regional </a:t>
            </a:r>
            <a:r>
              <a:rPr lang="de-DE" sz="2000" dirty="0" err="1"/>
              <a:t>pattern</a:t>
            </a:r>
            <a:r>
              <a:rPr lang="de-DE" sz="2000" dirty="0"/>
              <a:t> </a:t>
            </a:r>
            <a:r>
              <a:rPr lang="de-DE" sz="2000" dirty="0" err="1"/>
              <a:t>reflect</a:t>
            </a:r>
            <a:r>
              <a:rPr lang="de-DE" sz="2000" dirty="0"/>
              <a:t> </a:t>
            </a:r>
            <a:r>
              <a:rPr lang="de-DE" sz="2000" dirty="0" err="1"/>
              <a:t>industry</a:t>
            </a:r>
            <a:r>
              <a:rPr lang="de-DE" sz="2000" dirty="0"/>
              <a:t>, </a:t>
            </a:r>
            <a:r>
              <a:rPr lang="de-DE" sz="2000" dirty="0" err="1"/>
              <a:t>population</a:t>
            </a:r>
            <a:r>
              <a:rPr lang="de-DE" sz="2000" dirty="0"/>
              <a:t> and </a:t>
            </a:r>
            <a:r>
              <a:rPr lang="de-DE" sz="2000" dirty="0" err="1"/>
              <a:t>generation</a:t>
            </a:r>
            <a:r>
              <a:rPr lang="de-DE" sz="2000" dirty="0"/>
              <a:t> mix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Weather</a:t>
            </a:r>
            <a:r>
              <a:rPr lang="de-DE" sz="2000" dirty="0"/>
              <a:t> </a:t>
            </a:r>
            <a:r>
              <a:rPr lang="de-DE" sz="2000" dirty="0" err="1"/>
              <a:t>effects</a:t>
            </a:r>
            <a:r>
              <a:rPr lang="de-DE" sz="2000" dirty="0"/>
              <a:t> </a:t>
            </a:r>
            <a:r>
              <a:rPr lang="de-DE" sz="2000" dirty="0" err="1"/>
              <a:t>exist</a:t>
            </a:r>
            <a:r>
              <a:rPr lang="de-DE" sz="2000" dirty="0"/>
              <a:t> in all </a:t>
            </a:r>
            <a:r>
              <a:rPr lang="de-DE" sz="2000" dirty="0" err="1"/>
              <a:t>zones</a:t>
            </a:r>
            <a:r>
              <a:rPr lang="de-DE" sz="2000" dirty="0"/>
              <a:t> but </a:t>
            </a:r>
            <a:r>
              <a:rPr lang="de-DE" sz="2000" dirty="0" err="1"/>
              <a:t>with</a:t>
            </a:r>
            <a:r>
              <a:rPr lang="de-DE" sz="2000" dirty="0"/>
              <a:t> different </a:t>
            </a:r>
            <a:r>
              <a:rPr lang="de-DE" sz="2000" dirty="0" err="1"/>
              <a:t>intensities</a:t>
            </a:r>
            <a:endParaRPr lang="de-DE" sz="2000" dirty="0"/>
          </a:p>
        </p:txBody>
      </p:sp>
      <p:sp>
        <p:nvSpPr>
          <p:cNvPr id="17" name="Titel 1">
            <a:extLst>
              <a:ext uri="{FF2B5EF4-FFF2-40B4-BE49-F238E27FC236}">
                <a16:creationId xmlns:a16="http://schemas.microsoft.com/office/drawing/2014/main" id="{8EDE7FB6-FC4E-CF2F-7C9C-E3A1CA9B51DD}"/>
              </a:ext>
            </a:extLst>
          </p:cNvPr>
          <p:cNvSpPr txBox="1">
            <a:spLocks/>
          </p:cNvSpPr>
          <p:nvPr/>
        </p:nvSpPr>
        <p:spPr>
          <a:xfrm>
            <a:off x="-8393112" y="602688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sz="2400" dirty="0"/>
              <a:t>How do </a:t>
            </a:r>
            <a:r>
              <a:rPr lang="de-DE" sz="2400" dirty="0" err="1"/>
              <a:t>these</a:t>
            </a:r>
            <a:r>
              <a:rPr lang="de-DE" sz="2400" dirty="0"/>
              <a:t> </a:t>
            </a:r>
            <a:r>
              <a:rPr lang="de-DE" sz="2400" dirty="0" err="1"/>
              <a:t>effects</a:t>
            </a:r>
            <a:r>
              <a:rPr lang="de-DE" sz="2400" dirty="0"/>
              <a:t> </a:t>
            </a:r>
            <a:r>
              <a:rPr lang="de-DE" sz="2400" dirty="0" err="1"/>
              <a:t>differ</a:t>
            </a:r>
            <a:r>
              <a:rPr lang="de-DE" sz="2400" dirty="0"/>
              <a:t> </a:t>
            </a:r>
            <a:r>
              <a:rPr lang="de-DE" sz="2400" dirty="0" err="1"/>
              <a:t>across</a:t>
            </a:r>
            <a:r>
              <a:rPr lang="de-DE" sz="2400" dirty="0"/>
              <a:t> German TSO </a:t>
            </a:r>
            <a:r>
              <a:rPr lang="de-DE" sz="2400" dirty="0" err="1"/>
              <a:t>zones</a:t>
            </a:r>
            <a:r>
              <a:rPr lang="de-DE" sz="2400" dirty="0"/>
              <a:t>?</a:t>
            </a:r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74D7407A-80EF-8C0F-D0E8-F9EBB01E01CF}"/>
              </a:ext>
            </a:extLst>
          </p:cNvPr>
          <p:cNvSpPr txBox="1">
            <a:spLocks/>
          </p:cNvSpPr>
          <p:nvPr/>
        </p:nvSpPr>
        <p:spPr>
          <a:xfrm>
            <a:off x="-104503" y="-2407351"/>
            <a:ext cx="11634841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/>
              <a:t>Main </a:t>
            </a:r>
            <a:r>
              <a:rPr lang="de-DE" dirty="0" err="1"/>
              <a:t>Finding</a:t>
            </a:r>
            <a:r>
              <a:rPr lang="de-DE" dirty="0"/>
              <a:t> 3: Regional </a:t>
            </a:r>
            <a:r>
              <a:rPr lang="de-DE" dirty="0" err="1"/>
              <a:t>Differences</a:t>
            </a:r>
            <a:r>
              <a:rPr lang="de-DE" dirty="0"/>
              <a:t> </a:t>
            </a:r>
            <a:r>
              <a:rPr lang="de-DE" dirty="0" err="1"/>
              <a:t>across</a:t>
            </a:r>
            <a:endParaRPr lang="de-DE" dirty="0"/>
          </a:p>
          <a:p>
            <a:pPr algn="l"/>
            <a:r>
              <a:rPr lang="de-DE" dirty="0"/>
              <a:t>TSO </a:t>
            </a:r>
            <a:r>
              <a:rPr lang="de-DE" dirty="0" err="1"/>
              <a:t>Zones</a:t>
            </a:r>
            <a:endParaRPr lang="de-DE" dirty="0"/>
          </a:p>
        </p:txBody>
      </p:sp>
      <p:pic>
        <p:nvPicPr>
          <p:cNvPr id="19" name="Picture 2">
            <a:extLst>
              <a:ext uri="{FF2B5EF4-FFF2-40B4-BE49-F238E27FC236}">
                <a16:creationId xmlns:a16="http://schemas.microsoft.com/office/drawing/2014/main" id="{41EB8F64-FCD7-59C9-E6E9-155124C397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6618" y="6877512"/>
            <a:ext cx="2862048" cy="3872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feld 20">
            <a:extLst>
              <a:ext uri="{FF2B5EF4-FFF2-40B4-BE49-F238E27FC236}">
                <a16:creationId xmlns:a16="http://schemas.microsoft.com/office/drawing/2014/main" id="{7F8849EC-1C23-EDC1-1FB0-C576CC7D86BC}"/>
              </a:ext>
            </a:extLst>
          </p:cNvPr>
          <p:cNvSpPr txBox="1"/>
          <p:nvPr/>
        </p:nvSpPr>
        <p:spPr>
          <a:xfrm>
            <a:off x="-7704597" y="1756266"/>
            <a:ext cx="1193593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Data </a:t>
            </a:r>
            <a:r>
              <a:rPr lang="de-DE" sz="2000" dirty="0" err="1"/>
              <a:t>inconsistencies</a:t>
            </a:r>
            <a:r>
              <a:rPr lang="de-DE" sz="2000" dirty="0"/>
              <a:t> </a:t>
            </a:r>
            <a:r>
              <a:rPr lang="de-DE" sz="2000" dirty="0" err="1"/>
              <a:t>between</a:t>
            </a:r>
            <a:r>
              <a:rPr lang="de-DE" sz="2000" dirty="0"/>
              <a:t> </a:t>
            </a:r>
            <a:r>
              <a:rPr lang="de-DE" sz="2000" dirty="0" err="1"/>
              <a:t>sources</a:t>
            </a:r>
            <a:endParaRPr lang="de-DE" sz="2000" dirty="0"/>
          </a:p>
          <a:p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Unexpectedly</a:t>
            </a:r>
            <a:r>
              <a:rPr lang="de-DE" sz="2000" dirty="0"/>
              <a:t> high </a:t>
            </a:r>
            <a:r>
              <a:rPr lang="de-DE" sz="2000" dirty="0" err="1"/>
              <a:t>consumption</a:t>
            </a:r>
            <a:r>
              <a:rPr lang="de-DE" sz="2000" dirty="0"/>
              <a:t> </a:t>
            </a:r>
            <a:r>
              <a:rPr lang="de-DE" sz="2000" dirty="0" err="1"/>
              <a:t>values</a:t>
            </a:r>
            <a:r>
              <a:rPr lang="de-DE" sz="2000" dirty="0"/>
              <a:t> </a:t>
            </a:r>
            <a:r>
              <a:rPr lang="de-DE" sz="2000" dirty="0" err="1"/>
              <a:t>during</a:t>
            </a:r>
            <a:r>
              <a:rPr lang="de-DE" sz="2000" dirty="0"/>
              <a:t> </a:t>
            </a:r>
            <a:r>
              <a:rPr lang="de-DE" sz="2000" dirty="0" err="1"/>
              <a:t>data</a:t>
            </a:r>
            <a:r>
              <a:rPr lang="de-DE" sz="2000" dirty="0"/>
              <a:t> </a:t>
            </a:r>
            <a:r>
              <a:rPr lang="de-DE" sz="2000" dirty="0" err="1"/>
              <a:t>validation</a:t>
            </a: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429 rate </a:t>
            </a:r>
            <a:r>
              <a:rPr lang="de-DE" sz="2000" dirty="0" err="1"/>
              <a:t>limit</a:t>
            </a:r>
            <a:r>
              <a:rPr lang="de-DE" sz="2000" dirty="0"/>
              <a:t> </a:t>
            </a:r>
            <a:r>
              <a:rPr lang="de-DE" sz="2000" dirty="0" err="1"/>
              <a:t>during</a:t>
            </a:r>
            <a:r>
              <a:rPr lang="de-DE" sz="2000" dirty="0"/>
              <a:t> API </a:t>
            </a:r>
            <a:r>
              <a:rPr lang="de-DE" sz="2000" dirty="0" err="1"/>
              <a:t>data</a:t>
            </a:r>
            <a:r>
              <a:rPr lang="de-DE" sz="2000" dirty="0"/>
              <a:t> </a:t>
            </a:r>
            <a:r>
              <a:rPr lang="de-DE" sz="2000" dirty="0" err="1"/>
              <a:t>collection</a:t>
            </a:r>
            <a:r>
              <a:rPr lang="de-DE" sz="2000" dirty="0"/>
              <a:t> (</a:t>
            </a:r>
            <a:r>
              <a:rPr lang="de-DE" sz="2000" dirty="0" err="1"/>
              <a:t>to</a:t>
            </a:r>
            <a:r>
              <a:rPr lang="de-DE" sz="2000" dirty="0"/>
              <a:t> </a:t>
            </a:r>
            <a:r>
              <a:rPr lang="de-DE" sz="2000" dirty="0" err="1"/>
              <a:t>many</a:t>
            </a:r>
            <a:r>
              <a:rPr lang="de-DE" sz="2000" dirty="0"/>
              <a:t> </a:t>
            </a:r>
            <a:r>
              <a:rPr lang="de-DE" sz="2000" dirty="0" err="1"/>
              <a:t>requests</a:t>
            </a:r>
            <a:r>
              <a:rPr lang="de-DE" sz="20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Challenges in </a:t>
            </a:r>
            <a:r>
              <a:rPr lang="de-DE" sz="2000" dirty="0" err="1"/>
              <a:t>embedding</a:t>
            </a:r>
            <a:r>
              <a:rPr lang="de-DE" sz="2000" dirty="0"/>
              <a:t> an </a:t>
            </a:r>
            <a:r>
              <a:rPr lang="de-DE" sz="2000" dirty="0" err="1"/>
              <a:t>interactive</a:t>
            </a:r>
            <a:r>
              <a:rPr lang="de-DE" sz="2000" dirty="0"/>
              <a:t> </a:t>
            </a:r>
            <a:r>
              <a:rPr lang="de-DE" sz="2000" dirty="0" err="1"/>
              <a:t>graph</a:t>
            </a:r>
            <a:r>
              <a:rPr lang="de-DE" sz="2000" dirty="0"/>
              <a:t> in HTML</a:t>
            </a:r>
          </a:p>
        </p:txBody>
      </p:sp>
      <p:sp>
        <p:nvSpPr>
          <p:cNvPr id="22" name="Titel 1">
            <a:extLst>
              <a:ext uri="{FF2B5EF4-FFF2-40B4-BE49-F238E27FC236}">
                <a16:creationId xmlns:a16="http://schemas.microsoft.com/office/drawing/2014/main" id="{545ECEF7-A639-0BE5-7DB3-50AC9FBCA584}"/>
              </a:ext>
            </a:extLst>
          </p:cNvPr>
          <p:cNvSpPr txBox="1">
            <a:spLocks/>
          </p:cNvSpPr>
          <p:nvPr/>
        </p:nvSpPr>
        <p:spPr>
          <a:xfrm>
            <a:off x="149914" y="-2328095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/>
              <a:t>Major </a:t>
            </a:r>
            <a:r>
              <a:rPr lang="de-DE" dirty="0" err="1"/>
              <a:t>problems</a:t>
            </a:r>
            <a:r>
              <a:rPr lang="de-DE" dirty="0"/>
              <a:t> </a:t>
            </a:r>
            <a:r>
              <a:rPr lang="de-DE" dirty="0" err="1"/>
              <a:t>during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project</a:t>
            </a:r>
            <a:endParaRPr lang="de-DE" dirty="0"/>
          </a:p>
        </p:txBody>
      </p:sp>
      <p:pic>
        <p:nvPicPr>
          <p:cNvPr id="23" name="Picture 4" descr="Win XP Error Mavi Ekran Hatası - Google Play'de Uygulamalar">
            <a:extLst>
              <a:ext uri="{FF2B5EF4-FFF2-40B4-BE49-F238E27FC236}">
                <a16:creationId xmlns:a16="http://schemas.microsoft.com/office/drawing/2014/main" id="{347B8AA5-2AEB-BCA2-EE6F-089CF8153E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4147" y="6603390"/>
            <a:ext cx="2298239" cy="2298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80022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57F426-9AD2-2590-D110-4D7D45AB1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F9A027AB-61FE-8BFA-D90C-61E8B03D8B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E50A9B82-2A89-335D-3F83-BD287453C1C3}"/>
              </a:ext>
            </a:extLst>
          </p:cNvPr>
          <p:cNvSpPr txBox="1">
            <a:spLocks/>
          </p:cNvSpPr>
          <p:nvPr/>
        </p:nvSpPr>
        <p:spPr>
          <a:xfrm>
            <a:off x="-104503" y="-2360552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/>
              <a:t>Research Goal</a:t>
            </a:r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03C4349D-1F04-56A0-47E9-AA55C0ACFE9E}"/>
              </a:ext>
            </a:extLst>
          </p:cNvPr>
          <p:cNvSpPr txBox="1">
            <a:spLocks/>
          </p:cNvSpPr>
          <p:nvPr/>
        </p:nvSpPr>
        <p:spPr>
          <a:xfrm>
            <a:off x="-104503" y="-2413949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/>
              <a:t>Data Sources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5B5B7D65-B332-052F-5393-A69BCCB73993}"/>
              </a:ext>
            </a:extLst>
          </p:cNvPr>
          <p:cNvSpPr txBox="1">
            <a:spLocks/>
          </p:cNvSpPr>
          <p:nvPr/>
        </p:nvSpPr>
        <p:spPr>
          <a:xfrm>
            <a:off x="40051" y="-2295152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/>
              <a:t>Method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41009FB-B76E-071F-373C-3B8CD3F83C12}"/>
              </a:ext>
            </a:extLst>
          </p:cNvPr>
          <p:cNvSpPr txBox="1"/>
          <p:nvPr/>
        </p:nvSpPr>
        <p:spPr>
          <a:xfrm>
            <a:off x="-12153645" y="1797224"/>
            <a:ext cx="1193593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All </a:t>
            </a:r>
            <a:r>
              <a:rPr lang="de-DE" sz="2000" dirty="0" err="1"/>
              <a:t>datasets</a:t>
            </a:r>
            <a:r>
              <a:rPr lang="de-DE" sz="2000" dirty="0"/>
              <a:t> </a:t>
            </a:r>
            <a:r>
              <a:rPr lang="de-DE" sz="2000" dirty="0" err="1"/>
              <a:t>were</a:t>
            </a:r>
            <a:r>
              <a:rPr lang="de-DE" sz="2000" dirty="0"/>
              <a:t> </a:t>
            </a:r>
            <a:r>
              <a:rPr lang="de-DE" sz="2000" dirty="0" err="1"/>
              <a:t>converted</a:t>
            </a:r>
            <a:r>
              <a:rPr lang="de-DE" sz="2000" dirty="0"/>
              <a:t> </a:t>
            </a:r>
            <a:r>
              <a:rPr lang="de-DE" sz="2000" dirty="0" err="1"/>
              <a:t>to</a:t>
            </a:r>
            <a:r>
              <a:rPr lang="de-DE" sz="2000" dirty="0"/>
              <a:t> </a:t>
            </a:r>
            <a:r>
              <a:rPr lang="de-DE" sz="2000" dirty="0" err="1"/>
              <a:t>daily</a:t>
            </a:r>
            <a:r>
              <a:rPr lang="de-DE" sz="2000" dirty="0"/>
              <a:t> </a:t>
            </a:r>
            <a:r>
              <a:rPr lang="de-DE" sz="2000" dirty="0" err="1"/>
              <a:t>level</a:t>
            </a:r>
            <a:r>
              <a:rPr lang="de-DE" sz="2000" dirty="0"/>
              <a:t> and </a:t>
            </a:r>
            <a:r>
              <a:rPr lang="de-DE" sz="2000" dirty="0" err="1"/>
              <a:t>merged</a:t>
            </a:r>
            <a:r>
              <a:rPr lang="de-DE" sz="2000" dirty="0"/>
              <a:t> </a:t>
            </a:r>
            <a:r>
              <a:rPr lang="de-DE" sz="2000" dirty="0" err="1"/>
              <a:t>by</a:t>
            </a:r>
            <a:r>
              <a:rPr lang="de-DE" sz="2000" dirty="0"/>
              <a:t> date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For</a:t>
            </a:r>
            <a:r>
              <a:rPr lang="de-DE" sz="2000" dirty="0"/>
              <a:t> </a:t>
            </a:r>
            <a:r>
              <a:rPr lang="de-DE" sz="2000" dirty="0" err="1"/>
              <a:t>electricity</a:t>
            </a:r>
            <a:r>
              <a:rPr lang="de-DE" sz="2000" dirty="0"/>
              <a:t> </a:t>
            </a:r>
            <a:r>
              <a:rPr lang="de-DE" sz="2000" dirty="0" err="1"/>
              <a:t>consumption</a:t>
            </a:r>
            <a:r>
              <a:rPr lang="de-DE" sz="2000" dirty="0"/>
              <a:t>, </a:t>
            </a:r>
            <a:r>
              <a:rPr lang="de-DE" sz="2000" dirty="0" err="1"/>
              <a:t>we</a:t>
            </a:r>
            <a:r>
              <a:rPr lang="de-DE" sz="2000" dirty="0"/>
              <a:t> </a:t>
            </a:r>
            <a:r>
              <a:rPr lang="de-DE" sz="2000" dirty="0" err="1"/>
              <a:t>compared</a:t>
            </a:r>
            <a:r>
              <a:rPr lang="de-DE" sz="2000" dirty="0"/>
              <a:t> </a:t>
            </a:r>
            <a:r>
              <a:rPr lang="de-DE" sz="2000" dirty="0" err="1"/>
              <a:t>three</a:t>
            </a:r>
            <a:r>
              <a:rPr lang="de-DE" sz="2000" dirty="0"/>
              <a:t> </a:t>
            </a:r>
            <a:r>
              <a:rPr lang="de-DE" sz="2000" dirty="0" err="1"/>
              <a:t>day</a:t>
            </a:r>
            <a:r>
              <a:rPr lang="de-DE" sz="2000" dirty="0"/>
              <a:t> type: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000" dirty="0"/>
              <a:t>Regular Days, </a:t>
            </a:r>
            <a:r>
              <a:rPr lang="de-DE" sz="2000" dirty="0" err="1"/>
              <a:t>Sundays</a:t>
            </a:r>
            <a:r>
              <a:rPr lang="de-DE" sz="2000" dirty="0"/>
              <a:t> and Holidays</a:t>
            </a:r>
          </a:p>
          <a:p>
            <a:pPr lvl="1"/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For</a:t>
            </a:r>
            <a:r>
              <a:rPr lang="de-DE" sz="2000" dirty="0"/>
              <a:t> </a:t>
            </a:r>
            <a:r>
              <a:rPr lang="de-DE" sz="2000" dirty="0" err="1"/>
              <a:t>electricity</a:t>
            </a:r>
            <a:r>
              <a:rPr lang="de-DE" sz="2000" dirty="0"/>
              <a:t> </a:t>
            </a:r>
            <a:r>
              <a:rPr lang="de-DE" sz="2000" dirty="0" err="1"/>
              <a:t>generation</a:t>
            </a:r>
            <a:r>
              <a:rPr lang="de-DE" sz="2000" dirty="0"/>
              <a:t>, </a:t>
            </a:r>
            <a:r>
              <a:rPr lang="de-DE" sz="2000" dirty="0" err="1"/>
              <a:t>we</a:t>
            </a:r>
            <a:r>
              <a:rPr lang="de-DE" sz="2000" dirty="0"/>
              <a:t> </a:t>
            </a:r>
            <a:r>
              <a:rPr lang="de-DE" sz="2000" dirty="0" err="1"/>
              <a:t>examined</a:t>
            </a:r>
            <a:r>
              <a:rPr lang="de-DE" sz="2000" dirty="0"/>
              <a:t> </a:t>
            </a:r>
            <a:r>
              <a:rPr lang="de-DE" sz="2000" dirty="0" err="1"/>
              <a:t>correlations</a:t>
            </a:r>
            <a:r>
              <a:rPr lang="de-DE" sz="2000" dirty="0"/>
              <a:t> </a:t>
            </a:r>
            <a:r>
              <a:rPr lang="de-DE" sz="2000" dirty="0" err="1"/>
              <a:t>between</a:t>
            </a:r>
            <a:r>
              <a:rPr lang="de-DE" sz="2000" dirty="0"/>
              <a:t> </a:t>
            </a:r>
            <a:r>
              <a:rPr lang="de-DE" sz="2000" dirty="0" err="1"/>
              <a:t>weather</a:t>
            </a:r>
            <a:r>
              <a:rPr lang="de-DE" sz="2000" dirty="0"/>
              <a:t> variables and </a:t>
            </a:r>
            <a:r>
              <a:rPr lang="de-DE" sz="2000" dirty="0" err="1"/>
              <a:t>renewable</a:t>
            </a:r>
            <a:r>
              <a:rPr lang="de-DE" sz="2000" dirty="0"/>
              <a:t> </a:t>
            </a:r>
            <a:r>
              <a:rPr lang="de-DE" sz="2000" dirty="0" err="1"/>
              <a:t>generation</a:t>
            </a:r>
            <a:r>
              <a:rPr lang="de-DE" sz="2000" dirty="0"/>
              <a:t>, </a:t>
            </a:r>
            <a:r>
              <a:rPr lang="de-DE" sz="2000" dirty="0" err="1"/>
              <a:t>especially</a:t>
            </a:r>
            <a:r>
              <a:rPr lang="de-DE" sz="20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000" dirty="0"/>
              <a:t>wind </a:t>
            </a:r>
            <a:r>
              <a:rPr lang="de-DE" sz="2000" dirty="0" err="1"/>
              <a:t>speed</a:t>
            </a:r>
            <a:r>
              <a:rPr lang="de-DE" sz="2000" dirty="0"/>
              <a:t> – wind </a:t>
            </a:r>
            <a:r>
              <a:rPr lang="de-DE" sz="2000" dirty="0" err="1"/>
              <a:t>generation</a:t>
            </a:r>
            <a:r>
              <a:rPr lang="de-DE" sz="20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Temperature</a:t>
            </a:r>
            <a:r>
              <a:rPr lang="de-DE" sz="2000" dirty="0"/>
              <a:t> / </a:t>
            </a:r>
            <a:r>
              <a:rPr lang="de-DE" sz="2000" dirty="0" err="1"/>
              <a:t>seasonal</a:t>
            </a:r>
            <a:r>
              <a:rPr lang="de-DE" sz="2000" dirty="0"/>
              <a:t> </a:t>
            </a:r>
            <a:r>
              <a:rPr lang="de-DE" sz="2000" dirty="0" err="1"/>
              <a:t>conditions</a:t>
            </a:r>
            <a:r>
              <a:rPr lang="de-DE" sz="2000" dirty="0"/>
              <a:t> – solar </a:t>
            </a:r>
            <a:r>
              <a:rPr lang="de-DE" sz="2000" dirty="0" err="1"/>
              <a:t>generation</a:t>
            </a:r>
            <a:endParaRPr lang="de-DE" sz="2000" dirty="0"/>
          </a:p>
          <a:p>
            <a:pPr lvl="1"/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We</a:t>
            </a:r>
            <a:r>
              <a:rPr lang="de-DE" sz="2000" dirty="0"/>
              <a:t> also </a:t>
            </a:r>
            <a:r>
              <a:rPr lang="de-DE" sz="2000" dirty="0" err="1"/>
              <a:t>conducted</a:t>
            </a:r>
            <a:r>
              <a:rPr lang="de-DE" sz="2000" dirty="0"/>
              <a:t> a regional </a:t>
            </a:r>
            <a:r>
              <a:rPr lang="de-DE" sz="2000" dirty="0" err="1"/>
              <a:t>comparison</a:t>
            </a:r>
            <a:r>
              <a:rPr lang="de-DE" sz="2000" dirty="0"/>
              <a:t> </a:t>
            </a:r>
            <a:r>
              <a:rPr lang="de-DE" sz="2000" dirty="0" err="1"/>
              <a:t>across</a:t>
            </a:r>
            <a:r>
              <a:rPr lang="de-DE" sz="2000" dirty="0"/>
              <a:t> TSO </a:t>
            </a:r>
            <a:r>
              <a:rPr lang="de-DE" sz="2000" dirty="0" err="1"/>
              <a:t>zones</a:t>
            </a:r>
            <a:r>
              <a:rPr lang="de-DE" sz="20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000" dirty="0"/>
              <a:t>50Hertz, Amprion, TenneT and TransnetBW</a:t>
            </a:r>
          </a:p>
        </p:txBody>
      </p:sp>
      <p:pic>
        <p:nvPicPr>
          <p:cNvPr id="5123" name="Picture 3">
            <a:extLst>
              <a:ext uri="{FF2B5EF4-FFF2-40B4-BE49-F238E27FC236}">
                <a16:creationId xmlns:a16="http://schemas.microsoft.com/office/drawing/2014/main" id="{3F9DB89F-FB22-83DC-9E78-6D5460322F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73382" y="7243792"/>
            <a:ext cx="2809978" cy="2241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el 1">
            <a:extLst>
              <a:ext uri="{FF2B5EF4-FFF2-40B4-BE49-F238E27FC236}">
                <a16:creationId xmlns:a16="http://schemas.microsoft.com/office/drawing/2014/main" id="{981BB1C8-F914-DD08-3320-900C53840E7A}"/>
              </a:ext>
            </a:extLst>
          </p:cNvPr>
          <p:cNvSpPr txBox="1">
            <a:spLocks/>
          </p:cNvSpPr>
          <p:nvPr/>
        </p:nvSpPr>
        <p:spPr>
          <a:xfrm>
            <a:off x="40051" y="-2176355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/>
              <a:t>TSO </a:t>
            </a:r>
            <a:r>
              <a:rPr lang="de-DE" dirty="0" err="1"/>
              <a:t>Zones</a:t>
            </a:r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B40465A-7C04-BB39-BFEC-D734C1841095}"/>
              </a:ext>
            </a:extLst>
          </p:cNvPr>
          <p:cNvSpPr txBox="1">
            <a:spLocks/>
          </p:cNvSpPr>
          <p:nvPr/>
        </p:nvSpPr>
        <p:spPr>
          <a:xfrm>
            <a:off x="-185798" y="-2446649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/>
              <a:t>Main </a:t>
            </a:r>
            <a:r>
              <a:rPr lang="de-DE" dirty="0" err="1"/>
              <a:t>Finding</a:t>
            </a:r>
            <a:r>
              <a:rPr lang="de-DE" dirty="0"/>
              <a:t> 1: Holidays and </a:t>
            </a:r>
            <a:r>
              <a:rPr lang="de-DE" dirty="0" err="1"/>
              <a:t>Consumption</a:t>
            </a:r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A9A2016C-ADA0-8E67-2416-B58E1BDB75C2}"/>
              </a:ext>
            </a:extLst>
          </p:cNvPr>
          <p:cNvSpPr txBox="1"/>
          <p:nvPr/>
        </p:nvSpPr>
        <p:spPr>
          <a:xfrm>
            <a:off x="-9236880" y="3962735"/>
            <a:ext cx="1193593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Electricity</a:t>
            </a:r>
            <a:r>
              <a:rPr lang="de-DE" sz="2000" dirty="0"/>
              <a:t> </a:t>
            </a:r>
            <a:r>
              <a:rPr lang="de-DE" sz="2000" dirty="0" err="1"/>
              <a:t>consumption</a:t>
            </a:r>
            <a:r>
              <a:rPr lang="de-DE" sz="2000" dirty="0"/>
              <a:t> </a:t>
            </a:r>
            <a:r>
              <a:rPr lang="de-DE" sz="2000" dirty="0" err="1"/>
              <a:t>lowest</a:t>
            </a:r>
            <a:r>
              <a:rPr lang="de-DE" sz="2000" dirty="0"/>
              <a:t> on </a:t>
            </a:r>
            <a:r>
              <a:rPr lang="de-DE" sz="2000" dirty="0" err="1"/>
              <a:t>holiday-period</a:t>
            </a:r>
            <a:r>
              <a:rPr lang="de-DE" sz="2000" dirty="0"/>
              <a:t> </a:t>
            </a:r>
            <a:r>
              <a:rPr lang="de-DE" sz="2000" dirty="0" err="1"/>
              <a:t>days</a:t>
            </a: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Regular </a:t>
            </a:r>
            <a:r>
              <a:rPr lang="de-DE" sz="2000" dirty="0" err="1"/>
              <a:t>working</a:t>
            </a:r>
            <a:r>
              <a:rPr lang="de-DE" sz="2000" dirty="0"/>
              <a:t> </a:t>
            </a:r>
            <a:r>
              <a:rPr lang="de-DE" sz="2000" dirty="0" err="1"/>
              <a:t>days</a:t>
            </a:r>
            <a:r>
              <a:rPr lang="de-DE" sz="2000" dirty="0"/>
              <a:t> </a:t>
            </a:r>
            <a:r>
              <a:rPr lang="de-DE" sz="2000" dirty="0" err="1"/>
              <a:t>show</a:t>
            </a:r>
            <a:r>
              <a:rPr lang="de-DE" sz="2000" dirty="0"/>
              <a:t> </a:t>
            </a:r>
            <a:r>
              <a:rPr lang="de-DE" sz="2000" dirty="0" err="1"/>
              <a:t>higher</a:t>
            </a:r>
            <a:r>
              <a:rPr lang="de-DE" sz="2000" dirty="0"/>
              <a:t> </a:t>
            </a:r>
            <a:r>
              <a:rPr lang="de-DE" sz="2000" dirty="0" err="1"/>
              <a:t>average</a:t>
            </a:r>
            <a:r>
              <a:rPr lang="de-DE" sz="2000" dirty="0"/>
              <a:t> </a:t>
            </a:r>
            <a:r>
              <a:rPr lang="de-DE" sz="2000" dirty="0" err="1"/>
              <a:t>consumption</a:t>
            </a: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Sundays</a:t>
            </a:r>
            <a:r>
              <a:rPr lang="de-DE" sz="2000" dirty="0"/>
              <a:t> </a:t>
            </a:r>
            <a:r>
              <a:rPr lang="de-DE" sz="2000" dirty="0" err="1"/>
              <a:t>are</a:t>
            </a:r>
            <a:r>
              <a:rPr lang="de-DE" sz="2000" dirty="0"/>
              <a:t> also </a:t>
            </a:r>
            <a:r>
              <a:rPr lang="de-DE" sz="2000" dirty="0" err="1"/>
              <a:t>lower</a:t>
            </a:r>
            <a:r>
              <a:rPr lang="de-DE" sz="2000" dirty="0"/>
              <a:t> </a:t>
            </a:r>
            <a:r>
              <a:rPr lang="de-DE" sz="2000" dirty="0" err="1"/>
              <a:t>than</a:t>
            </a:r>
            <a:r>
              <a:rPr lang="de-DE" sz="2000" dirty="0"/>
              <a:t> </a:t>
            </a:r>
            <a:r>
              <a:rPr lang="de-DE" sz="2000" dirty="0" err="1"/>
              <a:t>regular</a:t>
            </a:r>
            <a:r>
              <a:rPr lang="de-DE" sz="2000" dirty="0"/>
              <a:t> </a:t>
            </a:r>
            <a:r>
              <a:rPr lang="de-DE" sz="2000" dirty="0" err="1"/>
              <a:t>days</a:t>
            </a:r>
            <a:r>
              <a:rPr lang="de-DE" sz="2000" dirty="0"/>
              <a:t>,                                                                                           but in </a:t>
            </a:r>
            <a:r>
              <a:rPr lang="de-DE" sz="2000" dirty="0" err="1"/>
              <a:t>our</a:t>
            </a:r>
            <a:r>
              <a:rPr lang="de-DE" sz="2000" dirty="0"/>
              <a:t> </a:t>
            </a:r>
            <a:r>
              <a:rPr lang="de-DE" sz="2000" dirty="0" err="1"/>
              <a:t>data</a:t>
            </a:r>
            <a:r>
              <a:rPr lang="de-DE" sz="2000" dirty="0"/>
              <a:t> </a:t>
            </a:r>
            <a:r>
              <a:rPr lang="de-DE" sz="2000" dirty="0" err="1"/>
              <a:t>the</a:t>
            </a:r>
            <a:r>
              <a:rPr lang="de-DE" sz="2000" dirty="0"/>
              <a:t> </a:t>
            </a:r>
            <a:r>
              <a:rPr lang="de-DE" sz="2000" dirty="0" err="1"/>
              <a:t>strongest</a:t>
            </a:r>
            <a:r>
              <a:rPr lang="de-DE" sz="2000" dirty="0"/>
              <a:t> </a:t>
            </a:r>
            <a:r>
              <a:rPr lang="de-DE" sz="2000" dirty="0" err="1"/>
              <a:t>reduction</a:t>
            </a:r>
            <a:r>
              <a:rPr lang="de-DE" sz="2000" dirty="0"/>
              <a:t> </a:t>
            </a:r>
            <a:r>
              <a:rPr lang="de-DE" sz="2000" dirty="0" err="1"/>
              <a:t>appears</a:t>
            </a:r>
            <a:r>
              <a:rPr lang="de-DE" sz="2000" dirty="0"/>
              <a:t> </a:t>
            </a:r>
            <a:r>
              <a:rPr lang="de-DE" sz="2000" dirty="0" err="1"/>
              <a:t>during</a:t>
            </a:r>
            <a:r>
              <a:rPr lang="de-DE" sz="2000" dirty="0"/>
              <a:t> </a:t>
            </a:r>
            <a:r>
              <a:rPr lang="de-DE" sz="2000" dirty="0" err="1"/>
              <a:t>holiday</a:t>
            </a:r>
            <a:r>
              <a:rPr lang="de-DE" sz="2000" dirty="0"/>
              <a:t> </a:t>
            </a:r>
            <a:r>
              <a:rPr lang="de-DE" sz="2000" dirty="0" err="1"/>
              <a:t>periods</a:t>
            </a: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This </a:t>
            </a:r>
            <a:r>
              <a:rPr lang="de-DE" sz="2000" dirty="0" err="1"/>
              <a:t>suggests</a:t>
            </a:r>
            <a:r>
              <a:rPr lang="de-DE" sz="2000" dirty="0"/>
              <a:t> </a:t>
            </a:r>
            <a:r>
              <a:rPr lang="de-DE" sz="2000" dirty="0" err="1"/>
              <a:t>that</a:t>
            </a:r>
            <a:r>
              <a:rPr lang="de-DE" sz="2000" dirty="0"/>
              <a:t> </a:t>
            </a:r>
            <a:r>
              <a:rPr lang="de-DE" sz="2000" dirty="0" err="1"/>
              <a:t>changes</a:t>
            </a:r>
            <a:r>
              <a:rPr lang="de-DE" sz="2000" dirty="0"/>
              <a:t> in </a:t>
            </a:r>
            <a:r>
              <a:rPr lang="de-DE" sz="2000" dirty="0" err="1"/>
              <a:t>routines</a:t>
            </a:r>
            <a:r>
              <a:rPr lang="de-DE" sz="2000" dirty="0"/>
              <a:t>, </a:t>
            </a:r>
            <a:r>
              <a:rPr lang="de-DE" sz="2000" dirty="0" err="1"/>
              <a:t>mobility</a:t>
            </a:r>
            <a:r>
              <a:rPr lang="de-DE" sz="2000" dirty="0"/>
              <a:t> and </a:t>
            </a:r>
            <a:r>
              <a:rPr lang="de-DE" sz="2000" dirty="0" err="1"/>
              <a:t>economic</a:t>
            </a:r>
            <a:r>
              <a:rPr lang="de-DE" sz="2000" dirty="0"/>
              <a:t>                                                       </a:t>
            </a:r>
            <a:r>
              <a:rPr lang="de-DE" sz="2000" dirty="0" err="1"/>
              <a:t>activity</a:t>
            </a:r>
            <a:r>
              <a:rPr lang="de-DE" sz="2000" dirty="0"/>
              <a:t> </a:t>
            </a:r>
            <a:r>
              <a:rPr lang="de-DE" sz="2000" dirty="0" err="1"/>
              <a:t>influence</a:t>
            </a:r>
            <a:r>
              <a:rPr lang="de-DE" sz="2000" dirty="0"/>
              <a:t> </a:t>
            </a:r>
            <a:r>
              <a:rPr lang="de-DE" sz="2000" dirty="0" err="1"/>
              <a:t>electricity</a:t>
            </a:r>
            <a:r>
              <a:rPr lang="de-DE" sz="2000" dirty="0"/>
              <a:t> </a:t>
            </a:r>
            <a:r>
              <a:rPr lang="de-DE" sz="2000" dirty="0" err="1"/>
              <a:t>demand</a:t>
            </a:r>
            <a:endParaRPr lang="de-DE" sz="2000" dirty="0"/>
          </a:p>
        </p:txBody>
      </p:sp>
      <p:pic>
        <p:nvPicPr>
          <p:cNvPr id="6148" name="Picture 4" descr="Boy Sleeping GIFs | Tenor">
            <a:extLst>
              <a:ext uri="{FF2B5EF4-FFF2-40B4-BE49-F238E27FC236}">
                <a16:creationId xmlns:a16="http://schemas.microsoft.com/office/drawing/2014/main" id="{D3443146-3545-EA76-25EE-9BF22DB3D9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5078" y="-1425814"/>
            <a:ext cx="1307017" cy="1307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el 1">
            <a:extLst>
              <a:ext uri="{FF2B5EF4-FFF2-40B4-BE49-F238E27FC236}">
                <a16:creationId xmlns:a16="http://schemas.microsoft.com/office/drawing/2014/main" id="{8578D485-BFF9-BD6B-AD83-E06090896E8E}"/>
              </a:ext>
            </a:extLst>
          </p:cNvPr>
          <p:cNvSpPr txBox="1">
            <a:spLocks/>
          </p:cNvSpPr>
          <p:nvPr/>
        </p:nvSpPr>
        <p:spPr>
          <a:xfrm>
            <a:off x="-7740719" y="-669686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/>
              <a:t>Main </a:t>
            </a:r>
            <a:r>
              <a:rPr lang="de-DE" dirty="0" err="1"/>
              <a:t>Finding</a:t>
            </a:r>
            <a:r>
              <a:rPr lang="de-DE" dirty="0"/>
              <a:t> 1: Holidays and </a:t>
            </a:r>
            <a:r>
              <a:rPr lang="de-DE" dirty="0" err="1"/>
              <a:t>Consumption</a:t>
            </a:r>
            <a:endParaRPr lang="de-DE" dirty="0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7D703CA2-5485-2883-F578-DD3782D38F58}"/>
              </a:ext>
            </a:extLst>
          </p:cNvPr>
          <p:cNvSpPr txBox="1">
            <a:spLocks/>
          </p:cNvSpPr>
          <p:nvPr/>
        </p:nvSpPr>
        <p:spPr>
          <a:xfrm>
            <a:off x="-7740719" y="2241755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sz="2400" dirty="0" err="1"/>
              <a:t>To</a:t>
            </a:r>
            <a:r>
              <a:rPr lang="de-DE" sz="2400" dirty="0"/>
              <a:t> </a:t>
            </a:r>
            <a:r>
              <a:rPr lang="de-DE" sz="2400" dirty="0" err="1"/>
              <a:t>what</a:t>
            </a:r>
            <a:r>
              <a:rPr lang="de-DE" sz="2400" dirty="0"/>
              <a:t> </a:t>
            </a:r>
            <a:r>
              <a:rPr lang="de-DE" sz="2400" dirty="0" err="1"/>
              <a:t>extent</a:t>
            </a:r>
            <a:r>
              <a:rPr lang="de-DE" sz="2400" dirty="0"/>
              <a:t> do </a:t>
            </a:r>
            <a:r>
              <a:rPr lang="de-DE" sz="2400" dirty="0" err="1"/>
              <a:t>holiday</a:t>
            </a:r>
            <a:r>
              <a:rPr lang="de-DE" sz="2400" dirty="0"/>
              <a:t> </a:t>
            </a:r>
            <a:r>
              <a:rPr lang="de-DE" sz="2400" dirty="0" err="1"/>
              <a:t>periods</a:t>
            </a:r>
            <a:r>
              <a:rPr lang="de-DE" sz="2400" dirty="0"/>
              <a:t> </a:t>
            </a:r>
            <a:r>
              <a:rPr lang="de-DE" sz="2400" dirty="0" err="1"/>
              <a:t>influence</a:t>
            </a:r>
            <a:r>
              <a:rPr lang="de-DE" sz="2400" dirty="0"/>
              <a:t> </a:t>
            </a:r>
            <a:r>
              <a:rPr lang="de-DE" sz="2400" dirty="0" err="1"/>
              <a:t>daily</a:t>
            </a:r>
            <a:r>
              <a:rPr lang="de-DE" sz="2400" dirty="0"/>
              <a:t> </a:t>
            </a:r>
            <a:r>
              <a:rPr lang="de-DE" sz="2400" dirty="0" err="1"/>
              <a:t>electricity</a:t>
            </a:r>
            <a:r>
              <a:rPr lang="de-DE" sz="2400" dirty="0"/>
              <a:t> </a:t>
            </a:r>
            <a:r>
              <a:rPr lang="de-DE" sz="2400" dirty="0" err="1"/>
              <a:t>consumption</a:t>
            </a:r>
            <a:r>
              <a:rPr lang="de-DE" sz="2400" dirty="0"/>
              <a:t> in </a:t>
            </a:r>
            <a:r>
              <a:rPr lang="de-DE" sz="2400" dirty="0" err="1"/>
              <a:t>germany</a:t>
            </a:r>
            <a:r>
              <a:rPr lang="de-DE" sz="2400" dirty="0"/>
              <a:t>?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7094BB8F-D719-8755-E939-BB643B0B9B42}"/>
              </a:ext>
            </a:extLst>
          </p:cNvPr>
          <p:cNvSpPr txBox="1">
            <a:spLocks/>
          </p:cNvSpPr>
          <p:nvPr/>
        </p:nvSpPr>
        <p:spPr>
          <a:xfrm>
            <a:off x="4675224" y="-2176356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/>
              <a:t>Website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53CD8446-AD0C-876E-B9A0-B73BDAFC39CC}"/>
              </a:ext>
            </a:extLst>
          </p:cNvPr>
          <p:cNvSpPr txBox="1">
            <a:spLocks/>
          </p:cNvSpPr>
          <p:nvPr/>
        </p:nvSpPr>
        <p:spPr>
          <a:xfrm>
            <a:off x="113211" y="-2274698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/>
              <a:t>Main </a:t>
            </a:r>
            <a:r>
              <a:rPr lang="de-DE" dirty="0" err="1"/>
              <a:t>Finding</a:t>
            </a:r>
            <a:r>
              <a:rPr lang="de-DE" dirty="0"/>
              <a:t> 2: </a:t>
            </a:r>
            <a:r>
              <a:rPr lang="de-DE" dirty="0" err="1"/>
              <a:t>Weather</a:t>
            </a:r>
            <a:endParaRPr lang="de-DE" dirty="0"/>
          </a:p>
          <a:p>
            <a:pPr algn="l"/>
            <a:r>
              <a:rPr lang="de-DE" dirty="0"/>
              <a:t>And Generation</a:t>
            </a:r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9A710C09-6513-4BBB-7D59-28B2F101A2FA}"/>
              </a:ext>
            </a:extLst>
          </p:cNvPr>
          <p:cNvSpPr txBox="1">
            <a:spLocks/>
          </p:cNvSpPr>
          <p:nvPr/>
        </p:nvSpPr>
        <p:spPr>
          <a:xfrm>
            <a:off x="-8336507" y="573404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sz="2400" dirty="0"/>
              <a:t>How </a:t>
            </a:r>
            <a:r>
              <a:rPr lang="de-DE" sz="2400" dirty="0" err="1"/>
              <a:t>strongly</a:t>
            </a:r>
            <a:r>
              <a:rPr lang="de-DE" sz="2400" dirty="0"/>
              <a:t> do </a:t>
            </a:r>
            <a:r>
              <a:rPr lang="de-DE" sz="2400" dirty="0" err="1"/>
              <a:t>weather</a:t>
            </a:r>
            <a:r>
              <a:rPr lang="de-DE" sz="2400" dirty="0"/>
              <a:t> </a:t>
            </a:r>
            <a:r>
              <a:rPr lang="de-DE" sz="2400" dirty="0" err="1"/>
              <a:t>conditions</a:t>
            </a:r>
            <a:r>
              <a:rPr lang="de-DE" sz="2400" dirty="0"/>
              <a:t> </a:t>
            </a:r>
            <a:r>
              <a:rPr lang="de-DE" sz="2400" dirty="0" err="1"/>
              <a:t>explain</a:t>
            </a:r>
            <a:r>
              <a:rPr lang="de-DE" sz="2400" dirty="0"/>
              <a:t> </a:t>
            </a:r>
            <a:r>
              <a:rPr lang="de-DE" sz="2400" dirty="0" err="1"/>
              <a:t>renewable</a:t>
            </a:r>
            <a:r>
              <a:rPr lang="de-DE" sz="2400" dirty="0"/>
              <a:t> </a:t>
            </a:r>
            <a:r>
              <a:rPr lang="de-DE" sz="2400" dirty="0" err="1"/>
              <a:t>electricity</a:t>
            </a:r>
            <a:r>
              <a:rPr lang="de-DE" sz="2400" dirty="0"/>
              <a:t> </a:t>
            </a:r>
            <a:r>
              <a:rPr lang="de-DE" sz="2400" dirty="0" err="1"/>
              <a:t>generation</a:t>
            </a:r>
            <a:r>
              <a:rPr lang="de-DE" sz="2400" dirty="0"/>
              <a:t> in Germany?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4F561334-8703-519F-D418-8358FF780D6D}"/>
              </a:ext>
            </a:extLst>
          </p:cNvPr>
          <p:cNvSpPr txBox="1"/>
          <p:nvPr/>
        </p:nvSpPr>
        <p:spPr>
          <a:xfrm>
            <a:off x="0" y="6807099"/>
            <a:ext cx="1193593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Weather</a:t>
            </a:r>
            <a:r>
              <a:rPr lang="de-DE" sz="2000" dirty="0"/>
              <a:t> </a:t>
            </a:r>
            <a:r>
              <a:rPr lang="de-DE" sz="2000" dirty="0" err="1"/>
              <a:t>has</a:t>
            </a:r>
            <a:r>
              <a:rPr lang="de-DE" sz="2000" dirty="0"/>
              <a:t> a </a:t>
            </a:r>
            <a:r>
              <a:rPr lang="de-DE" sz="2000" dirty="0" err="1"/>
              <a:t>clear</a:t>
            </a:r>
            <a:r>
              <a:rPr lang="de-DE" sz="2000" dirty="0"/>
              <a:t> </a:t>
            </a:r>
            <a:r>
              <a:rPr lang="de-DE" sz="2000" dirty="0" err="1"/>
              <a:t>influence</a:t>
            </a:r>
            <a:r>
              <a:rPr lang="de-DE" sz="2000" dirty="0"/>
              <a:t> on </a:t>
            </a:r>
            <a:r>
              <a:rPr lang="de-DE" sz="2000" dirty="0" err="1"/>
              <a:t>renewable</a:t>
            </a:r>
            <a:r>
              <a:rPr lang="de-DE" sz="2000" dirty="0"/>
              <a:t> </a:t>
            </a:r>
            <a:r>
              <a:rPr lang="de-DE" sz="2000" dirty="0" err="1"/>
              <a:t>electricity</a:t>
            </a:r>
            <a:r>
              <a:rPr lang="de-DE" sz="2000" dirty="0"/>
              <a:t> </a:t>
            </a:r>
            <a:r>
              <a:rPr lang="de-DE" sz="2000" dirty="0" err="1"/>
              <a:t>genarations</a:t>
            </a:r>
            <a:endParaRPr lang="de-DE" sz="2000" dirty="0"/>
          </a:p>
          <a:p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Higher wind </a:t>
            </a:r>
            <a:r>
              <a:rPr lang="de-DE" sz="2000" dirty="0" err="1"/>
              <a:t>speed</a:t>
            </a:r>
            <a:r>
              <a:rPr lang="de-DE" sz="2000" dirty="0"/>
              <a:t> = </a:t>
            </a:r>
            <a:r>
              <a:rPr lang="de-DE" sz="2000" dirty="0" err="1"/>
              <a:t>higher</a:t>
            </a:r>
            <a:r>
              <a:rPr lang="de-DE" sz="2000" dirty="0"/>
              <a:t> wind power </a:t>
            </a:r>
            <a:r>
              <a:rPr lang="de-DE" sz="2000" dirty="0" err="1"/>
              <a:t>generation</a:t>
            </a: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Higher </a:t>
            </a:r>
            <a:r>
              <a:rPr lang="de-DE" sz="2000" dirty="0" err="1"/>
              <a:t>temperatures</a:t>
            </a:r>
            <a:r>
              <a:rPr lang="de-DE" sz="2000" dirty="0"/>
              <a:t> / </a:t>
            </a:r>
            <a:r>
              <a:rPr lang="de-DE" sz="2000" dirty="0" err="1"/>
              <a:t>sunnier</a:t>
            </a:r>
            <a:r>
              <a:rPr lang="de-DE" sz="2000" dirty="0"/>
              <a:t> </a:t>
            </a:r>
            <a:r>
              <a:rPr lang="de-DE" sz="2000" dirty="0" err="1"/>
              <a:t>conditions</a:t>
            </a:r>
            <a:r>
              <a:rPr lang="de-DE" sz="2000" dirty="0"/>
              <a:t> = </a:t>
            </a:r>
            <a:r>
              <a:rPr lang="de-DE" sz="2000" dirty="0" err="1"/>
              <a:t>higher</a:t>
            </a:r>
            <a:r>
              <a:rPr lang="de-DE" sz="2000" dirty="0"/>
              <a:t> solar </a:t>
            </a:r>
            <a:r>
              <a:rPr lang="de-DE" sz="2000" dirty="0" err="1"/>
              <a:t>generation</a:t>
            </a: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Weather</a:t>
            </a:r>
            <a:r>
              <a:rPr lang="de-DE" sz="2000" dirty="0"/>
              <a:t> </a:t>
            </a:r>
            <a:r>
              <a:rPr lang="de-DE" sz="2000" dirty="0" err="1"/>
              <a:t>effects</a:t>
            </a:r>
            <a:r>
              <a:rPr lang="de-DE" sz="2000" dirty="0"/>
              <a:t> </a:t>
            </a:r>
            <a:r>
              <a:rPr lang="de-DE" sz="2000" dirty="0" err="1"/>
              <a:t>are</a:t>
            </a:r>
            <a:r>
              <a:rPr lang="de-DE" sz="2000" dirty="0"/>
              <a:t> </a:t>
            </a:r>
            <a:r>
              <a:rPr lang="de-DE" sz="2000" dirty="0" err="1"/>
              <a:t>stronger</a:t>
            </a:r>
            <a:r>
              <a:rPr lang="de-DE" sz="2000" dirty="0"/>
              <a:t> </a:t>
            </a:r>
            <a:r>
              <a:rPr lang="de-DE" sz="2000" dirty="0" err="1"/>
              <a:t>for</a:t>
            </a:r>
            <a:r>
              <a:rPr lang="de-DE" sz="2000" dirty="0"/>
              <a:t> </a:t>
            </a:r>
            <a:r>
              <a:rPr lang="de-DE" sz="2000" dirty="0" err="1"/>
              <a:t>generation</a:t>
            </a:r>
            <a:r>
              <a:rPr lang="de-DE" sz="2000" dirty="0"/>
              <a:t> </a:t>
            </a:r>
            <a:r>
              <a:rPr lang="de-DE" sz="2000" dirty="0" err="1"/>
              <a:t>than</a:t>
            </a:r>
            <a:r>
              <a:rPr lang="de-DE" sz="2000" dirty="0"/>
              <a:t> </a:t>
            </a:r>
            <a:r>
              <a:rPr lang="de-DE" sz="2000" dirty="0" err="1"/>
              <a:t>consumption</a:t>
            </a: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Clearest</a:t>
            </a:r>
            <a:r>
              <a:rPr lang="de-DE" sz="2000" dirty="0"/>
              <a:t> </a:t>
            </a:r>
            <a:r>
              <a:rPr lang="de-DE" sz="2000" dirty="0" err="1"/>
              <a:t>relationships</a:t>
            </a:r>
            <a:r>
              <a:rPr lang="de-DE" sz="2000" dirty="0"/>
              <a:t> </a:t>
            </a:r>
            <a:r>
              <a:rPr lang="de-DE" sz="2000" dirty="0" err="1"/>
              <a:t>appear</a:t>
            </a:r>
            <a:r>
              <a:rPr lang="de-DE" sz="2000" dirty="0"/>
              <a:t> </a:t>
            </a:r>
            <a:r>
              <a:rPr lang="de-DE" sz="2000" dirty="0" err="1"/>
              <a:t>for</a:t>
            </a:r>
            <a:r>
              <a:rPr lang="de-DE" sz="2000" dirty="0"/>
              <a:t> wind and solar power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This </a:t>
            </a:r>
            <a:r>
              <a:rPr lang="de-DE" sz="2000" dirty="0" err="1"/>
              <a:t>shows</a:t>
            </a:r>
            <a:r>
              <a:rPr lang="de-DE" sz="2000" dirty="0"/>
              <a:t> </a:t>
            </a:r>
            <a:r>
              <a:rPr lang="de-DE" sz="2000" dirty="0" err="1"/>
              <a:t>that</a:t>
            </a:r>
            <a:r>
              <a:rPr lang="de-DE" sz="2000" dirty="0"/>
              <a:t> </a:t>
            </a:r>
            <a:r>
              <a:rPr lang="de-DE" sz="2000" dirty="0" err="1"/>
              <a:t>renewable</a:t>
            </a:r>
            <a:r>
              <a:rPr lang="de-DE" sz="2000" dirty="0"/>
              <a:t> </a:t>
            </a:r>
            <a:r>
              <a:rPr lang="de-DE" sz="2000" dirty="0" err="1"/>
              <a:t>generation</a:t>
            </a:r>
            <a:r>
              <a:rPr lang="de-DE" sz="2000" dirty="0"/>
              <a:t> </a:t>
            </a:r>
            <a:r>
              <a:rPr lang="de-DE" sz="2000" dirty="0" err="1"/>
              <a:t>depends</a:t>
            </a:r>
            <a:r>
              <a:rPr lang="de-DE" sz="2000" dirty="0"/>
              <a:t> </a:t>
            </a:r>
            <a:r>
              <a:rPr lang="de-DE" sz="2000" dirty="0" err="1"/>
              <a:t>strongly</a:t>
            </a:r>
            <a:r>
              <a:rPr lang="de-DE" sz="2000" dirty="0"/>
              <a:t> on </a:t>
            </a:r>
            <a:r>
              <a:rPr lang="de-DE" sz="2000" dirty="0" err="1"/>
              <a:t>natural</a:t>
            </a:r>
            <a:r>
              <a:rPr lang="de-DE" sz="2000" dirty="0"/>
              <a:t> </a:t>
            </a:r>
            <a:r>
              <a:rPr lang="de-DE" sz="2000" dirty="0" err="1"/>
              <a:t>conditions</a:t>
            </a:r>
            <a:endParaRPr lang="de-DE" sz="2000" dirty="0"/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B1F68142-5C8F-F746-9D0F-24047581410B}"/>
              </a:ext>
            </a:extLst>
          </p:cNvPr>
          <p:cNvSpPr txBox="1">
            <a:spLocks/>
          </p:cNvSpPr>
          <p:nvPr/>
        </p:nvSpPr>
        <p:spPr>
          <a:xfrm>
            <a:off x="-2493879" y="1243090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>
                <a:hlinkClick r:id="rId4" action="ppaction://hlinkfile"/>
              </a:rPr>
              <a:t>Website</a:t>
            </a:r>
            <a:endParaRPr lang="de-DE" dirty="0"/>
          </a:p>
        </p:txBody>
      </p:sp>
      <p:sp>
        <p:nvSpPr>
          <p:cNvPr id="16" name="Titel 1">
            <a:extLst>
              <a:ext uri="{FF2B5EF4-FFF2-40B4-BE49-F238E27FC236}">
                <a16:creationId xmlns:a16="http://schemas.microsoft.com/office/drawing/2014/main" id="{2322C0F3-2987-C301-1F9B-C941E1FA3F14}"/>
              </a:ext>
            </a:extLst>
          </p:cNvPr>
          <p:cNvSpPr txBox="1">
            <a:spLocks/>
          </p:cNvSpPr>
          <p:nvPr/>
        </p:nvSpPr>
        <p:spPr>
          <a:xfrm>
            <a:off x="113211" y="-788483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/>
              <a:t>Major </a:t>
            </a:r>
            <a:r>
              <a:rPr lang="de-DE" dirty="0" err="1"/>
              <a:t>problems</a:t>
            </a:r>
            <a:r>
              <a:rPr lang="de-DE" dirty="0"/>
              <a:t> </a:t>
            </a:r>
            <a:r>
              <a:rPr lang="de-DE" dirty="0" err="1"/>
              <a:t>during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project</a:t>
            </a:r>
            <a:endParaRPr lang="de-DE" dirty="0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D0E71D03-E558-9FDB-2EF1-7F0BA9DF99D8}"/>
              </a:ext>
            </a:extLst>
          </p:cNvPr>
          <p:cNvSpPr txBox="1"/>
          <p:nvPr/>
        </p:nvSpPr>
        <p:spPr>
          <a:xfrm>
            <a:off x="113211" y="1982551"/>
            <a:ext cx="1193593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Data </a:t>
            </a:r>
            <a:r>
              <a:rPr lang="de-DE" sz="2000" dirty="0" err="1"/>
              <a:t>inconsistencies</a:t>
            </a:r>
            <a:r>
              <a:rPr lang="de-DE" sz="2000" dirty="0"/>
              <a:t> </a:t>
            </a:r>
            <a:r>
              <a:rPr lang="de-DE" sz="2000" dirty="0" err="1"/>
              <a:t>between</a:t>
            </a:r>
            <a:r>
              <a:rPr lang="de-DE" sz="2000" dirty="0"/>
              <a:t> </a:t>
            </a:r>
            <a:r>
              <a:rPr lang="de-DE" sz="2000" dirty="0" err="1"/>
              <a:t>sources</a:t>
            </a:r>
            <a:endParaRPr lang="de-DE" sz="2000" dirty="0"/>
          </a:p>
          <a:p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Unexpectedly</a:t>
            </a:r>
            <a:r>
              <a:rPr lang="de-DE" sz="2000" dirty="0"/>
              <a:t> high </a:t>
            </a:r>
            <a:r>
              <a:rPr lang="de-DE" sz="2000" dirty="0" err="1"/>
              <a:t>consumption</a:t>
            </a:r>
            <a:r>
              <a:rPr lang="de-DE" sz="2000" dirty="0"/>
              <a:t> </a:t>
            </a:r>
            <a:r>
              <a:rPr lang="de-DE" sz="2000" dirty="0" err="1"/>
              <a:t>values</a:t>
            </a:r>
            <a:r>
              <a:rPr lang="de-DE" sz="2000" dirty="0"/>
              <a:t> </a:t>
            </a:r>
            <a:r>
              <a:rPr lang="de-DE" sz="2000" dirty="0" err="1"/>
              <a:t>during</a:t>
            </a:r>
            <a:r>
              <a:rPr lang="de-DE" sz="2000" dirty="0"/>
              <a:t> </a:t>
            </a:r>
            <a:r>
              <a:rPr lang="de-DE" sz="2000" dirty="0" err="1"/>
              <a:t>data</a:t>
            </a:r>
            <a:r>
              <a:rPr lang="de-DE" sz="2000" dirty="0"/>
              <a:t> </a:t>
            </a:r>
            <a:r>
              <a:rPr lang="de-DE" sz="2000" dirty="0" err="1"/>
              <a:t>validation</a:t>
            </a: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429 rate </a:t>
            </a:r>
            <a:r>
              <a:rPr lang="de-DE" sz="2000" dirty="0" err="1"/>
              <a:t>limit</a:t>
            </a:r>
            <a:r>
              <a:rPr lang="de-DE" sz="2000" dirty="0"/>
              <a:t> </a:t>
            </a:r>
            <a:r>
              <a:rPr lang="de-DE" sz="2000" dirty="0" err="1"/>
              <a:t>during</a:t>
            </a:r>
            <a:r>
              <a:rPr lang="de-DE" sz="2000" dirty="0"/>
              <a:t> API </a:t>
            </a:r>
            <a:r>
              <a:rPr lang="de-DE" sz="2000" dirty="0" err="1"/>
              <a:t>data</a:t>
            </a:r>
            <a:r>
              <a:rPr lang="de-DE" sz="2000" dirty="0"/>
              <a:t> </a:t>
            </a:r>
            <a:r>
              <a:rPr lang="de-DE" sz="2000" dirty="0" err="1"/>
              <a:t>collection</a:t>
            </a:r>
            <a:r>
              <a:rPr lang="de-DE" sz="2000" dirty="0"/>
              <a:t> (</a:t>
            </a:r>
            <a:r>
              <a:rPr lang="de-DE" sz="2000" dirty="0" err="1"/>
              <a:t>to</a:t>
            </a:r>
            <a:r>
              <a:rPr lang="de-DE" sz="2000" dirty="0"/>
              <a:t> </a:t>
            </a:r>
            <a:r>
              <a:rPr lang="de-DE" sz="2000" dirty="0" err="1"/>
              <a:t>many</a:t>
            </a:r>
            <a:r>
              <a:rPr lang="de-DE" sz="2000" dirty="0"/>
              <a:t> </a:t>
            </a:r>
            <a:r>
              <a:rPr lang="de-DE" sz="2000" dirty="0" err="1"/>
              <a:t>requests</a:t>
            </a:r>
            <a:r>
              <a:rPr lang="de-DE" sz="20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Challenges in </a:t>
            </a:r>
            <a:r>
              <a:rPr lang="de-DE" sz="2000" dirty="0" err="1"/>
              <a:t>embedding</a:t>
            </a:r>
            <a:r>
              <a:rPr lang="de-DE" sz="2000" dirty="0"/>
              <a:t> an </a:t>
            </a:r>
            <a:r>
              <a:rPr lang="de-DE" sz="2000" dirty="0" err="1"/>
              <a:t>interactive</a:t>
            </a:r>
            <a:r>
              <a:rPr lang="de-DE" sz="2000" dirty="0"/>
              <a:t> </a:t>
            </a:r>
            <a:r>
              <a:rPr lang="de-DE" sz="2000" dirty="0" err="1"/>
              <a:t>graph</a:t>
            </a:r>
            <a:r>
              <a:rPr lang="de-DE" sz="2000" dirty="0"/>
              <a:t> in HTML</a:t>
            </a:r>
          </a:p>
        </p:txBody>
      </p:sp>
      <p:pic>
        <p:nvPicPr>
          <p:cNvPr id="4100" name="Picture 4" descr="Win XP Error Mavi Ekran Hatası - Google Play'de Uygulamalar">
            <a:extLst>
              <a:ext uri="{FF2B5EF4-FFF2-40B4-BE49-F238E27FC236}">
                <a16:creationId xmlns:a16="http://schemas.microsoft.com/office/drawing/2014/main" id="{7545AC7B-EA2D-74DD-8EE2-06F63C24C6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6759" y="4310811"/>
            <a:ext cx="2298239" cy="2298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>
            <a:extLst>
              <a:ext uri="{FF2B5EF4-FFF2-40B4-BE49-F238E27FC236}">
                <a16:creationId xmlns:a16="http://schemas.microsoft.com/office/drawing/2014/main" id="{AEE8B7C2-BF2D-FC65-05E5-4F1DFB899D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05211" y="4004262"/>
            <a:ext cx="22860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88676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E70913-37C4-5043-A166-971062063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C314438C-0D68-B621-8568-34D29CD5EF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6243E982-1789-48FC-F40D-645C73A1162E}"/>
              </a:ext>
            </a:extLst>
          </p:cNvPr>
          <p:cNvSpPr txBox="1">
            <a:spLocks/>
          </p:cNvSpPr>
          <p:nvPr/>
        </p:nvSpPr>
        <p:spPr>
          <a:xfrm>
            <a:off x="-104503" y="-2360552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/>
              <a:t>Research Goal</a:t>
            </a:r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8B1D5466-08EB-CFEA-1B6B-4206E1788639}"/>
              </a:ext>
            </a:extLst>
          </p:cNvPr>
          <p:cNvSpPr txBox="1">
            <a:spLocks/>
          </p:cNvSpPr>
          <p:nvPr/>
        </p:nvSpPr>
        <p:spPr>
          <a:xfrm>
            <a:off x="-104503" y="-2413949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/>
              <a:t>Data Sources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EFF1E0D4-DC39-EC0B-1F5E-5C817D38C091}"/>
              </a:ext>
            </a:extLst>
          </p:cNvPr>
          <p:cNvSpPr txBox="1">
            <a:spLocks/>
          </p:cNvSpPr>
          <p:nvPr/>
        </p:nvSpPr>
        <p:spPr>
          <a:xfrm>
            <a:off x="40051" y="-2295152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/>
              <a:t>Method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9BD41F96-4D9B-24C5-17E4-3CCE30B8485D}"/>
              </a:ext>
            </a:extLst>
          </p:cNvPr>
          <p:cNvSpPr txBox="1"/>
          <p:nvPr/>
        </p:nvSpPr>
        <p:spPr>
          <a:xfrm>
            <a:off x="-12153645" y="1797224"/>
            <a:ext cx="1193593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All </a:t>
            </a:r>
            <a:r>
              <a:rPr lang="de-DE" sz="2000" dirty="0" err="1"/>
              <a:t>datasets</a:t>
            </a:r>
            <a:r>
              <a:rPr lang="de-DE" sz="2000" dirty="0"/>
              <a:t> </a:t>
            </a:r>
            <a:r>
              <a:rPr lang="de-DE" sz="2000" dirty="0" err="1"/>
              <a:t>were</a:t>
            </a:r>
            <a:r>
              <a:rPr lang="de-DE" sz="2000" dirty="0"/>
              <a:t> </a:t>
            </a:r>
            <a:r>
              <a:rPr lang="de-DE" sz="2000" dirty="0" err="1"/>
              <a:t>converted</a:t>
            </a:r>
            <a:r>
              <a:rPr lang="de-DE" sz="2000" dirty="0"/>
              <a:t> </a:t>
            </a:r>
            <a:r>
              <a:rPr lang="de-DE" sz="2000" dirty="0" err="1"/>
              <a:t>to</a:t>
            </a:r>
            <a:r>
              <a:rPr lang="de-DE" sz="2000" dirty="0"/>
              <a:t> </a:t>
            </a:r>
            <a:r>
              <a:rPr lang="de-DE" sz="2000" dirty="0" err="1"/>
              <a:t>daily</a:t>
            </a:r>
            <a:r>
              <a:rPr lang="de-DE" sz="2000" dirty="0"/>
              <a:t> </a:t>
            </a:r>
            <a:r>
              <a:rPr lang="de-DE" sz="2000" dirty="0" err="1"/>
              <a:t>level</a:t>
            </a:r>
            <a:r>
              <a:rPr lang="de-DE" sz="2000" dirty="0"/>
              <a:t> and </a:t>
            </a:r>
            <a:r>
              <a:rPr lang="de-DE" sz="2000" dirty="0" err="1"/>
              <a:t>merged</a:t>
            </a:r>
            <a:r>
              <a:rPr lang="de-DE" sz="2000" dirty="0"/>
              <a:t> </a:t>
            </a:r>
            <a:r>
              <a:rPr lang="de-DE" sz="2000" dirty="0" err="1"/>
              <a:t>by</a:t>
            </a:r>
            <a:r>
              <a:rPr lang="de-DE" sz="2000" dirty="0"/>
              <a:t> date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For</a:t>
            </a:r>
            <a:r>
              <a:rPr lang="de-DE" sz="2000" dirty="0"/>
              <a:t> </a:t>
            </a:r>
            <a:r>
              <a:rPr lang="de-DE" sz="2000" dirty="0" err="1"/>
              <a:t>electricity</a:t>
            </a:r>
            <a:r>
              <a:rPr lang="de-DE" sz="2000" dirty="0"/>
              <a:t> </a:t>
            </a:r>
            <a:r>
              <a:rPr lang="de-DE" sz="2000" dirty="0" err="1"/>
              <a:t>consumption</a:t>
            </a:r>
            <a:r>
              <a:rPr lang="de-DE" sz="2000" dirty="0"/>
              <a:t>, </a:t>
            </a:r>
            <a:r>
              <a:rPr lang="de-DE" sz="2000" dirty="0" err="1"/>
              <a:t>we</a:t>
            </a:r>
            <a:r>
              <a:rPr lang="de-DE" sz="2000" dirty="0"/>
              <a:t> </a:t>
            </a:r>
            <a:r>
              <a:rPr lang="de-DE" sz="2000" dirty="0" err="1"/>
              <a:t>compared</a:t>
            </a:r>
            <a:r>
              <a:rPr lang="de-DE" sz="2000" dirty="0"/>
              <a:t> </a:t>
            </a:r>
            <a:r>
              <a:rPr lang="de-DE" sz="2000" dirty="0" err="1"/>
              <a:t>three</a:t>
            </a:r>
            <a:r>
              <a:rPr lang="de-DE" sz="2000" dirty="0"/>
              <a:t> </a:t>
            </a:r>
            <a:r>
              <a:rPr lang="de-DE" sz="2000" dirty="0" err="1"/>
              <a:t>day</a:t>
            </a:r>
            <a:r>
              <a:rPr lang="de-DE" sz="2000" dirty="0"/>
              <a:t> type: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000" dirty="0"/>
              <a:t>Regular Days, </a:t>
            </a:r>
            <a:r>
              <a:rPr lang="de-DE" sz="2000" dirty="0" err="1"/>
              <a:t>Sundays</a:t>
            </a:r>
            <a:r>
              <a:rPr lang="de-DE" sz="2000" dirty="0"/>
              <a:t> and Holidays</a:t>
            </a:r>
          </a:p>
          <a:p>
            <a:pPr lvl="1"/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For</a:t>
            </a:r>
            <a:r>
              <a:rPr lang="de-DE" sz="2000" dirty="0"/>
              <a:t> </a:t>
            </a:r>
            <a:r>
              <a:rPr lang="de-DE" sz="2000" dirty="0" err="1"/>
              <a:t>electricity</a:t>
            </a:r>
            <a:r>
              <a:rPr lang="de-DE" sz="2000" dirty="0"/>
              <a:t> </a:t>
            </a:r>
            <a:r>
              <a:rPr lang="de-DE" sz="2000" dirty="0" err="1"/>
              <a:t>generation</a:t>
            </a:r>
            <a:r>
              <a:rPr lang="de-DE" sz="2000" dirty="0"/>
              <a:t>, </a:t>
            </a:r>
            <a:r>
              <a:rPr lang="de-DE" sz="2000" dirty="0" err="1"/>
              <a:t>we</a:t>
            </a:r>
            <a:r>
              <a:rPr lang="de-DE" sz="2000" dirty="0"/>
              <a:t> </a:t>
            </a:r>
            <a:r>
              <a:rPr lang="de-DE" sz="2000" dirty="0" err="1"/>
              <a:t>examined</a:t>
            </a:r>
            <a:r>
              <a:rPr lang="de-DE" sz="2000" dirty="0"/>
              <a:t> </a:t>
            </a:r>
            <a:r>
              <a:rPr lang="de-DE" sz="2000" dirty="0" err="1"/>
              <a:t>correlations</a:t>
            </a:r>
            <a:r>
              <a:rPr lang="de-DE" sz="2000" dirty="0"/>
              <a:t> </a:t>
            </a:r>
            <a:r>
              <a:rPr lang="de-DE" sz="2000" dirty="0" err="1"/>
              <a:t>between</a:t>
            </a:r>
            <a:r>
              <a:rPr lang="de-DE" sz="2000" dirty="0"/>
              <a:t> </a:t>
            </a:r>
            <a:r>
              <a:rPr lang="de-DE" sz="2000" dirty="0" err="1"/>
              <a:t>weather</a:t>
            </a:r>
            <a:r>
              <a:rPr lang="de-DE" sz="2000" dirty="0"/>
              <a:t> variables and </a:t>
            </a:r>
            <a:r>
              <a:rPr lang="de-DE" sz="2000" dirty="0" err="1"/>
              <a:t>renewable</a:t>
            </a:r>
            <a:r>
              <a:rPr lang="de-DE" sz="2000" dirty="0"/>
              <a:t> </a:t>
            </a:r>
            <a:r>
              <a:rPr lang="de-DE" sz="2000" dirty="0" err="1"/>
              <a:t>generation</a:t>
            </a:r>
            <a:r>
              <a:rPr lang="de-DE" sz="2000" dirty="0"/>
              <a:t>, </a:t>
            </a:r>
            <a:r>
              <a:rPr lang="de-DE" sz="2000" dirty="0" err="1"/>
              <a:t>especially</a:t>
            </a:r>
            <a:r>
              <a:rPr lang="de-DE" sz="20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000" dirty="0"/>
              <a:t>wind </a:t>
            </a:r>
            <a:r>
              <a:rPr lang="de-DE" sz="2000" dirty="0" err="1"/>
              <a:t>speed</a:t>
            </a:r>
            <a:r>
              <a:rPr lang="de-DE" sz="2000" dirty="0"/>
              <a:t> – wind </a:t>
            </a:r>
            <a:r>
              <a:rPr lang="de-DE" sz="2000" dirty="0" err="1"/>
              <a:t>generation</a:t>
            </a:r>
            <a:r>
              <a:rPr lang="de-DE" sz="20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Temperature</a:t>
            </a:r>
            <a:r>
              <a:rPr lang="de-DE" sz="2000" dirty="0"/>
              <a:t> / </a:t>
            </a:r>
            <a:r>
              <a:rPr lang="de-DE" sz="2000" dirty="0" err="1"/>
              <a:t>seasonal</a:t>
            </a:r>
            <a:r>
              <a:rPr lang="de-DE" sz="2000" dirty="0"/>
              <a:t> </a:t>
            </a:r>
            <a:r>
              <a:rPr lang="de-DE" sz="2000" dirty="0" err="1"/>
              <a:t>conditions</a:t>
            </a:r>
            <a:r>
              <a:rPr lang="de-DE" sz="2000" dirty="0"/>
              <a:t> – solar </a:t>
            </a:r>
            <a:r>
              <a:rPr lang="de-DE" sz="2000" dirty="0" err="1"/>
              <a:t>generation</a:t>
            </a:r>
            <a:endParaRPr lang="de-DE" sz="2000" dirty="0"/>
          </a:p>
          <a:p>
            <a:pPr lvl="1"/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We</a:t>
            </a:r>
            <a:r>
              <a:rPr lang="de-DE" sz="2000" dirty="0"/>
              <a:t> also </a:t>
            </a:r>
            <a:r>
              <a:rPr lang="de-DE" sz="2000" dirty="0" err="1"/>
              <a:t>conducted</a:t>
            </a:r>
            <a:r>
              <a:rPr lang="de-DE" sz="2000" dirty="0"/>
              <a:t> a regional </a:t>
            </a:r>
            <a:r>
              <a:rPr lang="de-DE" sz="2000" dirty="0" err="1"/>
              <a:t>comparison</a:t>
            </a:r>
            <a:r>
              <a:rPr lang="de-DE" sz="2000" dirty="0"/>
              <a:t> </a:t>
            </a:r>
            <a:r>
              <a:rPr lang="de-DE" sz="2000" dirty="0" err="1"/>
              <a:t>across</a:t>
            </a:r>
            <a:r>
              <a:rPr lang="de-DE" sz="2000" dirty="0"/>
              <a:t> TSO </a:t>
            </a:r>
            <a:r>
              <a:rPr lang="de-DE" sz="2000" dirty="0" err="1"/>
              <a:t>zones</a:t>
            </a:r>
            <a:r>
              <a:rPr lang="de-DE" sz="20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000" dirty="0"/>
              <a:t>50Hertz, Amprion, TenneT and TransnetBW</a:t>
            </a:r>
          </a:p>
        </p:txBody>
      </p:sp>
      <p:pic>
        <p:nvPicPr>
          <p:cNvPr id="5123" name="Picture 3">
            <a:extLst>
              <a:ext uri="{FF2B5EF4-FFF2-40B4-BE49-F238E27FC236}">
                <a16:creationId xmlns:a16="http://schemas.microsoft.com/office/drawing/2014/main" id="{51B61230-33E8-871D-3E15-F9C616B4DE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73382" y="7243792"/>
            <a:ext cx="2809978" cy="2241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el 1">
            <a:extLst>
              <a:ext uri="{FF2B5EF4-FFF2-40B4-BE49-F238E27FC236}">
                <a16:creationId xmlns:a16="http://schemas.microsoft.com/office/drawing/2014/main" id="{B2ABB5F1-226C-4FF5-E864-63F7337413BC}"/>
              </a:ext>
            </a:extLst>
          </p:cNvPr>
          <p:cNvSpPr txBox="1">
            <a:spLocks/>
          </p:cNvSpPr>
          <p:nvPr/>
        </p:nvSpPr>
        <p:spPr>
          <a:xfrm>
            <a:off x="40051" y="-2176355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/>
              <a:t>TSO </a:t>
            </a:r>
            <a:r>
              <a:rPr lang="de-DE" dirty="0" err="1"/>
              <a:t>Zones</a:t>
            </a:r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E496D64-CCF5-6EB0-2F32-26D85BB342B1}"/>
              </a:ext>
            </a:extLst>
          </p:cNvPr>
          <p:cNvSpPr txBox="1">
            <a:spLocks/>
          </p:cNvSpPr>
          <p:nvPr/>
        </p:nvSpPr>
        <p:spPr>
          <a:xfrm>
            <a:off x="-185798" y="-2446649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/>
              <a:t>Main </a:t>
            </a:r>
            <a:r>
              <a:rPr lang="de-DE" dirty="0" err="1"/>
              <a:t>Finding</a:t>
            </a:r>
            <a:r>
              <a:rPr lang="de-DE" dirty="0"/>
              <a:t> 1: Holidays and </a:t>
            </a:r>
            <a:r>
              <a:rPr lang="de-DE" dirty="0" err="1"/>
              <a:t>Consumption</a:t>
            </a:r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54015DE8-F201-96A9-7D32-ED29CC806D67}"/>
              </a:ext>
            </a:extLst>
          </p:cNvPr>
          <p:cNvSpPr txBox="1"/>
          <p:nvPr/>
        </p:nvSpPr>
        <p:spPr>
          <a:xfrm>
            <a:off x="-9236880" y="3962735"/>
            <a:ext cx="1193593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Electricity</a:t>
            </a:r>
            <a:r>
              <a:rPr lang="de-DE" sz="2000" dirty="0"/>
              <a:t> </a:t>
            </a:r>
            <a:r>
              <a:rPr lang="de-DE" sz="2000" dirty="0" err="1"/>
              <a:t>consumption</a:t>
            </a:r>
            <a:r>
              <a:rPr lang="de-DE" sz="2000" dirty="0"/>
              <a:t> </a:t>
            </a:r>
            <a:r>
              <a:rPr lang="de-DE" sz="2000" dirty="0" err="1"/>
              <a:t>lowest</a:t>
            </a:r>
            <a:r>
              <a:rPr lang="de-DE" sz="2000" dirty="0"/>
              <a:t> on </a:t>
            </a:r>
            <a:r>
              <a:rPr lang="de-DE" sz="2000" dirty="0" err="1"/>
              <a:t>holiday-period</a:t>
            </a:r>
            <a:r>
              <a:rPr lang="de-DE" sz="2000" dirty="0"/>
              <a:t> </a:t>
            </a:r>
            <a:r>
              <a:rPr lang="de-DE" sz="2000" dirty="0" err="1"/>
              <a:t>days</a:t>
            </a: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Regular </a:t>
            </a:r>
            <a:r>
              <a:rPr lang="de-DE" sz="2000" dirty="0" err="1"/>
              <a:t>working</a:t>
            </a:r>
            <a:r>
              <a:rPr lang="de-DE" sz="2000" dirty="0"/>
              <a:t> </a:t>
            </a:r>
            <a:r>
              <a:rPr lang="de-DE" sz="2000" dirty="0" err="1"/>
              <a:t>days</a:t>
            </a:r>
            <a:r>
              <a:rPr lang="de-DE" sz="2000" dirty="0"/>
              <a:t> </a:t>
            </a:r>
            <a:r>
              <a:rPr lang="de-DE" sz="2000" dirty="0" err="1"/>
              <a:t>show</a:t>
            </a:r>
            <a:r>
              <a:rPr lang="de-DE" sz="2000" dirty="0"/>
              <a:t> </a:t>
            </a:r>
            <a:r>
              <a:rPr lang="de-DE" sz="2000" dirty="0" err="1"/>
              <a:t>higher</a:t>
            </a:r>
            <a:r>
              <a:rPr lang="de-DE" sz="2000" dirty="0"/>
              <a:t> </a:t>
            </a:r>
            <a:r>
              <a:rPr lang="de-DE" sz="2000" dirty="0" err="1"/>
              <a:t>average</a:t>
            </a:r>
            <a:r>
              <a:rPr lang="de-DE" sz="2000" dirty="0"/>
              <a:t> </a:t>
            </a:r>
            <a:r>
              <a:rPr lang="de-DE" sz="2000" dirty="0" err="1"/>
              <a:t>consumption</a:t>
            </a: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Sundays</a:t>
            </a:r>
            <a:r>
              <a:rPr lang="de-DE" sz="2000" dirty="0"/>
              <a:t> </a:t>
            </a:r>
            <a:r>
              <a:rPr lang="de-DE" sz="2000" dirty="0" err="1"/>
              <a:t>are</a:t>
            </a:r>
            <a:r>
              <a:rPr lang="de-DE" sz="2000" dirty="0"/>
              <a:t> also </a:t>
            </a:r>
            <a:r>
              <a:rPr lang="de-DE" sz="2000" dirty="0" err="1"/>
              <a:t>lower</a:t>
            </a:r>
            <a:r>
              <a:rPr lang="de-DE" sz="2000" dirty="0"/>
              <a:t> </a:t>
            </a:r>
            <a:r>
              <a:rPr lang="de-DE" sz="2000" dirty="0" err="1"/>
              <a:t>than</a:t>
            </a:r>
            <a:r>
              <a:rPr lang="de-DE" sz="2000" dirty="0"/>
              <a:t> </a:t>
            </a:r>
            <a:r>
              <a:rPr lang="de-DE" sz="2000" dirty="0" err="1"/>
              <a:t>regular</a:t>
            </a:r>
            <a:r>
              <a:rPr lang="de-DE" sz="2000" dirty="0"/>
              <a:t> </a:t>
            </a:r>
            <a:r>
              <a:rPr lang="de-DE" sz="2000" dirty="0" err="1"/>
              <a:t>days</a:t>
            </a:r>
            <a:r>
              <a:rPr lang="de-DE" sz="2000" dirty="0"/>
              <a:t>,                                                                                           but in </a:t>
            </a:r>
            <a:r>
              <a:rPr lang="de-DE" sz="2000" dirty="0" err="1"/>
              <a:t>our</a:t>
            </a:r>
            <a:r>
              <a:rPr lang="de-DE" sz="2000" dirty="0"/>
              <a:t> </a:t>
            </a:r>
            <a:r>
              <a:rPr lang="de-DE" sz="2000" dirty="0" err="1"/>
              <a:t>data</a:t>
            </a:r>
            <a:r>
              <a:rPr lang="de-DE" sz="2000" dirty="0"/>
              <a:t> </a:t>
            </a:r>
            <a:r>
              <a:rPr lang="de-DE" sz="2000" dirty="0" err="1"/>
              <a:t>the</a:t>
            </a:r>
            <a:r>
              <a:rPr lang="de-DE" sz="2000" dirty="0"/>
              <a:t> </a:t>
            </a:r>
            <a:r>
              <a:rPr lang="de-DE" sz="2000" dirty="0" err="1"/>
              <a:t>strongest</a:t>
            </a:r>
            <a:r>
              <a:rPr lang="de-DE" sz="2000" dirty="0"/>
              <a:t> </a:t>
            </a:r>
            <a:r>
              <a:rPr lang="de-DE" sz="2000" dirty="0" err="1"/>
              <a:t>reduction</a:t>
            </a:r>
            <a:r>
              <a:rPr lang="de-DE" sz="2000" dirty="0"/>
              <a:t> </a:t>
            </a:r>
            <a:r>
              <a:rPr lang="de-DE" sz="2000" dirty="0" err="1"/>
              <a:t>appears</a:t>
            </a:r>
            <a:r>
              <a:rPr lang="de-DE" sz="2000" dirty="0"/>
              <a:t> </a:t>
            </a:r>
            <a:r>
              <a:rPr lang="de-DE" sz="2000" dirty="0" err="1"/>
              <a:t>during</a:t>
            </a:r>
            <a:r>
              <a:rPr lang="de-DE" sz="2000" dirty="0"/>
              <a:t> </a:t>
            </a:r>
            <a:r>
              <a:rPr lang="de-DE" sz="2000" dirty="0" err="1"/>
              <a:t>holiday</a:t>
            </a:r>
            <a:r>
              <a:rPr lang="de-DE" sz="2000" dirty="0"/>
              <a:t> </a:t>
            </a:r>
            <a:r>
              <a:rPr lang="de-DE" sz="2000" dirty="0" err="1"/>
              <a:t>periods</a:t>
            </a: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This </a:t>
            </a:r>
            <a:r>
              <a:rPr lang="de-DE" sz="2000" dirty="0" err="1"/>
              <a:t>suggests</a:t>
            </a:r>
            <a:r>
              <a:rPr lang="de-DE" sz="2000" dirty="0"/>
              <a:t> </a:t>
            </a:r>
            <a:r>
              <a:rPr lang="de-DE" sz="2000" dirty="0" err="1"/>
              <a:t>that</a:t>
            </a:r>
            <a:r>
              <a:rPr lang="de-DE" sz="2000" dirty="0"/>
              <a:t> </a:t>
            </a:r>
            <a:r>
              <a:rPr lang="de-DE" sz="2000" dirty="0" err="1"/>
              <a:t>changes</a:t>
            </a:r>
            <a:r>
              <a:rPr lang="de-DE" sz="2000" dirty="0"/>
              <a:t> in </a:t>
            </a:r>
            <a:r>
              <a:rPr lang="de-DE" sz="2000" dirty="0" err="1"/>
              <a:t>routines</a:t>
            </a:r>
            <a:r>
              <a:rPr lang="de-DE" sz="2000" dirty="0"/>
              <a:t>, </a:t>
            </a:r>
            <a:r>
              <a:rPr lang="de-DE" sz="2000" dirty="0" err="1"/>
              <a:t>mobility</a:t>
            </a:r>
            <a:r>
              <a:rPr lang="de-DE" sz="2000" dirty="0"/>
              <a:t> and </a:t>
            </a:r>
            <a:r>
              <a:rPr lang="de-DE" sz="2000" dirty="0" err="1"/>
              <a:t>economic</a:t>
            </a:r>
            <a:r>
              <a:rPr lang="de-DE" sz="2000" dirty="0"/>
              <a:t>                                                       </a:t>
            </a:r>
            <a:r>
              <a:rPr lang="de-DE" sz="2000" dirty="0" err="1"/>
              <a:t>activity</a:t>
            </a:r>
            <a:r>
              <a:rPr lang="de-DE" sz="2000" dirty="0"/>
              <a:t> </a:t>
            </a:r>
            <a:r>
              <a:rPr lang="de-DE" sz="2000" dirty="0" err="1"/>
              <a:t>influence</a:t>
            </a:r>
            <a:r>
              <a:rPr lang="de-DE" sz="2000" dirty="0"/>
              <a:t> </a:t>
            </a:r>
            <a:r>
              <a:rPr lang="de-DE" sz="2000" dirty="0" err="1"/>
              <a:t>electricity</a:t>
            </a:r>
            <a:r>
              <a:rPr lang="de-DE" sz="2000" dirty="0"/>
              <a:t> </a:t>
            </a:r>
            <a:r>
              <a:rPr lang="de-DE" sz="2000" dirty="0" err="1"/>
              <a:t>demand</a:t>
            </a:r>
            <a:endParaRPr lang="de-DE" sz="2000" dirty="0"/>
          </a:p>
        </p:txBody>
      </p:sp>
      <p:pic>
        <p:nvPicPr>
          <p:cNvPr id="6148" name="Picture 4" descr="Boy Sleeping GIFs | Tenor">
            <a:extLst>
              <a:ext uri="{FF2B5EF4-FFF2-40B4-BE49-F238E27FC236}">
                <a16:creationId xmlns:a16="http://schemas.microsoft.com/office/drawing/2014/main" id="{F94578FF-5EDC-1C48-8E80-1D1E12C653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5078" y="-1425814"/>
            <a:ext cx="1307017" cy="1307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el 1">
            <a:extLst>
              <a:ext uri="{FF2B5EF4-FFF2-40B4-BE49-F238E27FC236}">
                <a16:creationId xmlns:a16="http://schemas.microsoft.com/office/drawing/2014/main" id="{48DD8A13-E673-FEA1-B0CF-F932783355D2}"/>
              </a:ext>
            </a:extLst>
          </p:cNvPr>
          <p:cNvSpPr txBox="1">
            <a:spLocks/>
          </p:cNvSpPr>
          <p:nvPr/>
        </p:nvSpPr>
        <p:spPr>
          <a:xfrm>
            <a:off x="-7740719" y="-669686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/>
              <a:t>Main </a:t>
            </a:r>
            <a:r>
              <a:rPr lang="de-DE" dirty="0" err="1"/>
              <a:t>Finding</a:t>
            </a:r>
            <a:r>
              <a:rPr lang="de-DE" dirty="0"/>
              <a:t> 1: Holidays and </a:t>
            </a:r>
            <a:r>
              <a:rPr lang="de-DE" dirty="0" err="1"/>
              <a:t>Consumption</a:t>
            </a:r>
            <a:endParaRPr lang="de-DE" dirty="0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D6711C49-9561-CFFC-0450-6E3602FF65FB}"/>
              </a:ext>
            </a:extLst>
          </p:cNvPr>
          <p:cNvSpPr txBox="1">
            <a:spLocks/>
          </p:cNvSpPr>
          <p:nvPr/>
        </p:nvSpPr>
        <p:spPr>
          <a:xfrm>
            <a:off x="-7740719" y="2241755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sz="2400" dirty="0" err="1"/>
              <a:t>To</a:t>
            </a:r>
            <a:r>
              <a:rPr lang="de-DE" sz="2400" dirty="0"/>
              <a:t> </a:t>
            </a:r>
            <a:r>
              <a:rPr lang="de-DE" sz="2400" dirty="0" err="1"/>
              <a:t>what</a:t>
            </a:r>
            <a:r>
              <a:rPr lang="de-DE" sz="2400" dirty="0"/>
              <a:t> </a:t>
            </a:r>
            <a:r>
              <a:rPr lang="de-DE" sz="2400" dirty="0" err="1"/>
              <a:t>extent</a:t>
            </a:r>
            <a:r>
              <a:rPr lang="de-DE" sz="2400" dirty="0"/>
              <a:t> do </a:t>
            </a:r>
            <a:r>
              <a:rPr lang="de-DE" sz="2400" dirty="0" err="1"/>
              <a:t>holiday</a:t>
            </a:r>
            <a:r>
              <a:rPr lang="de-DE" sz="2400" dirty="0"/>
              <a:t> </a:t>
            </a:r>
            <a:r>
              <a:rPr lang="de-DE" sz="2400" dirty="0" err="1"/>
              <a:t>periods</a:t>
            </a:r>
            <a:r>
              <a:rPr lang="de-DE" sz="2400" dirty="0"/>
              <a:t> </a:t>
            </a:r>
            <a:r>
              <a:rPr lang="de-DE" sz="2400" dirty="0" err="1"/>
              <a:t>influence</a:t>
            </a:r>
            <a:r>
              <a:rPr lang="de-DE" sz="2400" dirty="0"/>
              <a:t> </a:t>
            </a:r>
            <a:r>
              <a:rPr lang="de-DE" sz="2400" dirty="0" err="1"/>
              <a:t>daily</a:t>
            </a:r>
            <a:r>
              <a:rPr lang="de-DE" sz="2400" dirty="0"/>
              <a:t> </a:t>
            </a:r>
            <a:r>
              <a:rPr lang="de-DE" sz="2400" dirty="0" err="1"/>
              <a:t>electricity</a:t>
            </a:r>
            <a:r>
              <a:rPr lang="de-DE" sz="2400" dirty="0"/>
              <a:t> </a:t>
            </a:r>
            <a:r>
              <a:rPr lang="de-DE" sz="2400" dirty="0" err="1"/>
              <a:t>consumption</a:t>
            </a:r>
            <a:r>
              <a:rPr lang="de-DE" sz="2400" dirty="0"/>
              <a:t> in </a:t>
            </a:r>
            <a:r>
              <a:rPr lang="de-DE" sz="2400" dirty="0" err="1"/>
              <a:t>germany</a:t>
            </a:r>
            <a:r>
              <a:rPr lang="de-DE" sz="2400" dirty="0"/>
              <a:t>?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B60FE0A5-F98D-E2A9-FAC9-8CEF31201519}"/>
              </a:ext>
            </a:extLst>
          </p:cNvPr>
          <p:cNvSpPr txBox="1">
            <a:spLocks/>
          </p:cNvSpPr>
          <p:nvPr/>
        </p:nvSpPr>
        <p:spPr>
          <a:xfrm>
            <a:off x="4675224" y="-2176356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/>
              <a:t>Website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302A7487-1B68-AC1D-B22F-A810F7D5A0A7}"/>
              </a:ext>
            </a:extLst>
          </p:cNvPr>
          <p:cNvSpPr txBox="1">
            <a:spLocks/>
          </p:cNvSpPr>
          <p:nvPr/>
        </p:nvSpPr>
        <p:spPr>
          <a:xfrm>
            <a:off x="113211" y="-2274698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/>
              <a:t>Main </a:t>
            </a:r>
            <a:r>
              <a:rPr lang="de-DE" dirty="0" err="1"/>
              <a:t>Finding</a:t>
            </a:r>
            <a:r>
              <a:rPr lang="de-DE" dirty="0"/>
              <a:t> 2: </a:t>
            </a:r>
            <a:r>
              <a:rPr lang="de-DE" dirty="0" err="1"/>
              <a:t>Weather</a:t>
            </a:r>
            <a:endParaRPr lang="de-DE" dirty="0"/>
          </a:p>
          <a:p>
            <a:pPr algn="l"/>
            <a:r>
              <a:rPr lang="de-DE" dirty="0"/>
              <a:t>And Generation</a:t>
            </a:r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1A849F9B-03F9-941F-DDCF-B27A19CE15FC}"/>
              </a:ext>
            </a:extLst>
          </p:cNvPr>
          <p:cNvSpPr txBox="1">
            <a:spLocks/>
          </p:cNvSpPr>
          <p:nvPr/>
        </p:nvSpPr>
        <p:spPr>
          <a:xfrm>
            <a:off x="-8336507" y="573404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sz="2400" dirty="0"/>
              <a:t>How </a:t>
            </a:r>
            <a:r>
              <a:rPr lang="de-DE" sz="2400" dirty="0" err="1"/>
              <a:t>strongly</a:t>
            </a:r>
            <a:r>
              <a:rPr lang="de-DE" sz="2400" dirty="0"/>
              <a:t> do </a:t>
            </a:r>
            <a:r>
              <a:rPr lang="de-DE" sz="2400" dirty="0" err="1"/>
              <a:t>weather</a:t>
            </a:r>
            <a:r>
              <a:rPr lang="de-DE" sz="2400" dirty="0"/>
              <a:t> </a:t>
            </a:r>
            <a:r>
              <a:rPr lang="de-DE" sz="2400" dirty="0" err="1"/>
              <a:t>conditions</a:t>
            </a:r>
            <a:r>
              <a:rPr lang="de-DE" sz="2400" dirty="0"/>
              <a:t> </a:t>
            </a:r>
            <a:r>
              <a:rPr lang="de-DE" sz="2400" dirty="0" err="1"/>
              <a:t>explain</a:t>
            </a:r>
            <a:r>
              <a:rPr lang="de-DE" sz="2400" dirty="0"/>
              <a:t> </a:t>
            </a:r>
            <a:r>
              <a:rPr lang="de-DE" sz="2400" dirty="0" err="1"/>
              <a:t>renewable</a:t>
            </a:r>
            <a:r>
              <a:rPr lang="de-DE" sz="2400" dirty="0"/>
              <a:t> </a:t>
            </a:r>
            <a:r>
              <a:rPr lang="de-DE" sz="2400" dirty="0" err="1"/>
              <a:t>electricity</a:t>
            </a:r>
            <a:r>
              <a:rPr lang="de-DE" sz="2400" dirty="0"/>
              <a:t> </a:t>
            </a:r>
            <a:r>
              <a:rPr lang="de-DE" sz="2400" dirty="0" err="1"/>
              <a:t>generation</a:t>
            </a:r>
            <a:r>
              <a:rPr lang="de-DE" sz="2400" dirty="0"/>
              <a:t> in Germany?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4654EAE9-193B-7041-7419-09FF044452CB}"/>
              </a:ext>
            </a:extLst>
          </p:cNvPr>
          <p:cNvSpPr txBox="1"/>
          <p:nvPr/>
        </p:nvSpPr>
        <p:spPr>
          <a:xfrm>
            <a:off x="0" y="6807099"/>
            <a:ext cx="1193593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Weather</a:t>
            </a:r>
            <a:r>
              <a:rPr lang="de-DE" sz="2000" dirty="0"/>
              <a:t> </a:t>
            </a:r>
            <a:r>
              <a:rPr lang="de-DE" sz="2000" dirty="0" err="1"/>
              <a:t>has</a:t>
            </a:r>
            <a:r>
              <a:rPr lang="de-DE" sz="2000" dirty="0"/>
              <a:t> a </a:t>
            </a:r>
            <a:r>
              <a:rPr lang="de-DE" sz="2000" dirty="0" err="1"/>
              <a:t>clear</a:t>
            </a:r>
            <a:r>
              <a:rPr lang="de-DE" sz="2000" dirty="0"/>
              <a:t> </a:t>
            </a:r>
            <a:r>
              <a:rPr lang="de-DE" sz="2000" dirty="0" err="1"/>
              <a:t>influence</a:t>
            </a:r>
            <a:r>
              <a:rPr lang="de-DE" sz="2000" dirty="0"/>
              <a:t> on </a:t>
            </a:r>
            <a:r>
              <a:rPr lang="de-DE" sz="2000" dirty="0" err="1"/>
              <a:t>renewable</a:t>
            </a:r>
            <a:r>
              <a:rPr lang="de-DE" sz="2000" dirty="0"/>
              <a:t> </a:t>
            </a:r>
            <a:r>
              <a:rPr lang="de-DE" sz="2000" dirty="0" err="1"/>
              <a:t>electricity</a:t>
            </a:r>
            <a:r>
              <a:rPr lang="de-DE" sz="2000" dirty="0"/>
              <a:t> </a:t>
            </a:r>
            <a:r>
              <a:rPr lang="de-DE" sz="2000" dirty="0" err="1"/>
              <a:t>genarations</a:t>
            </a:r>
            <a:endParaRPr lang="de-DE" sz="2000" dirty="0"/>
          </a:p>
          <a:p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Higher wind </a:t>
            </a:r>
            <a:r>
              <a:rPr lang="de-DE" sz="2000" dirty="0" err="1"/>
              <a:t>speed</a:t>
            </a:r>
            <a:r>
              <a:rPr lang="de-DE" sz="2000" dirty="0"/>
              <a:t> = </a:t>
            </a:r>
            <a:r>
              <a:rPr lang="de-DE" sz="2000" dirty="0" err="1"/>
              <a:t>higher</a:t>
            </a:r>
            <a:r>
              <a:rPr lang="de-DE" sz="2000" dirty="0"/>
              <a:t> wind power </a:t>
            </a:r>
            <a:r>
              <a:rPr lang="de-DE" sz="2000" dirty="0" err="1"/>
              <a:t>generation</a:t>
            </a: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Higher </a:t>
            </a:r>
            <a:r>
              <a:rPr lang="de-DE" sz="2000" dirty="0" err="1"/>
              <a:t>temperatures</a:t>
            </a:r>
            <a:r>
              <a:rPr lang="de-DE" sz="2000" dirty="0"/>
              <a:t> / </a:t>
            </a:r>
            <a:r>
              <a:rPr lang="de-DE" sz="2000" dirty="0" err="1"/>
              <a:t>sunnier</a:t>
            </a:r>
            <a:r>
              <a:rPr lang="de-DE" sz="2000" dirty="0"/>
              <a:t> </a:t>
            </a:r>
            <a:r>
              <a:rPr lang="de-DE" sz="2000" dirty="0" err="1"/>
              <a:t>conditions</a:t>
            </a:r>
            <a:r>
              <a:rPr lang="de-DE" sz="2000" dirty="0"/>
              <a:t> = </a:t>
            </a:r>
            <a:r>
              <a:rPr lang="de-DE" sz="2000" dirty="0" err="1"/>
              <a:t>higher</a:t>
            </a:r>
            <a:r>
              <a:rPr lang="de-DE" sz="2000" dirty="0"/>
              <a:t> solar </a:t>
            </a:r>
            <a:r>
              <a:rPr lang="de-DE" sz="2000" dirty="0" err="1"/>
              <a:t>generation</a:t>
            </a: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Weather</a:t>
            </a:r>
            <a:r>
              <a:rPr lang="de-DE" sz="2000" dirty="0"/>
              <a:t> </a:t>
            </a:r>
            <a:r>
              <a:rPr lang="de-DE" sz="2000" dirty="0" err="1"/>
              <a:t>effects</a:t>
            </a:r>
            <a:r>
              <a:rPr lang="de-DE" sz="2000" dirty="0"/>
              <a:t> </a:t>
            </a:r>
            <a:r>
              <a:rPr lang="de-DE" sz="2000" dirty="0" err="1"/>
              <a:t>are</a:t>
            </a:r>
            <a:r>
              <a:rPr lang="de-DE" sz="2000" dirty="0"/>
              <a:t> </a:t>
            </a:r>
            <a:r>
              <a:rPr lang="de-DE" sz="2000" dirty="0" err="1"/>
              <a:t>stronger</a:t>
            </a:r>
            <a:r>
              <a:rPr lang="de-DE" sz="2000" dirty="0"/>
              <a:t> </a:t>
            </a:r>
            <a:r>
              <a:rPr lang="de-DE" sz="2000" dirty="0" err="1"/>
              <a:t>for</a:t>
            </a:r>
            <a:r>
              <a:rPr lang="de-DE" sz="2000" dirty="0"/>
              <a:t> </a:t>
            </a:r>
            <a:r>
              <a:rPr lang="de-DE" sz="2000" dirty="0" err="1"/>
              <a:t>generation</a:t>
            </a:r>
            <a:r>
              <a:rPr lang="de-DE" sz="2000" dirty="0"/>
              <a:t> </a:t>
            </a:r>
            <a:r>
              <a:rPr lang="de-DE" sz="2000" dirty="0" err="1"/>
              <a:t>than</a:t>
            </a:r>
            <a:r>
              <a:rPr lang="de-DE" sz="2000" dirty="0"/>
              <a:t> </a:t>
            </a:r>
            <a:r>
              <a:rPr lang="de-DE" sz="2000" dirty="0" err="1"/>
              <a:t>consumption</a:t>
            </a: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Clearest</a:t>
            </a:r>
            <a:r>
              <a:rPr lang="de-DE" sz="2000" dirty="0"/>
              <a:t> </a:t>
            </a:r>
            <a:r>
              <a:rPr lang="de-DE" sz="2000" dirty="0" err="1"/>
              <a:t>relationships</a:t>
            </a:r>
            <a:r>
              <a:rPr lang="de-DE" sz="2000" dirty="0"/>
              <a:t> </a:t>
            </a:r>
            <a:r>
              <a:rPr lang="de-DE" sz="2000" dirty="0" err="1"/>
              <a:t>appear</a:t>
            </a:r>
            <a:r>
              <a:rPr lang="de-DE" sz="2000" dirty="0"/>
              <a:t> </a:t>
            </a:r>
            <a:r>
              <a:rPr lang="de-DE" sz="2000" dirty="0" err="1"/>
              <a:t>for</a:t>
            </a:r>
            <a:r>
              <a:rPr lang="de-DE" sz="2000" dirty="0"/>
              <a:t> wind and solar power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This </a:t>
            </a:r>
            <a:r>
              <a:rPr lang="de-DE" sz="2000" dirty="0" err="1"/>
              <a:t>shows</a:t>
            </a:r>
            <a:r>
              <a:rPr lang="de-DE" sz="2000" dirty="0"/>
              <a:t> </a:t>
            </a:r>
            <a:r>
              <a:rPr lang="de-DE" sz="2000" dirty="0" err="1"/>
              <a:t>that</a:t>
            </a:r>
            <a:r>
              <a:rPr lang="de-DE" sz="2000" dirty="0"/>
              <a:t> </a:t>
            </a:r>
            <a:r>
              <a:rPr lang="de-DE" sz="2000" dirty="0" err="1"/>
              <a:t>renewable</a:t>
            </a:r>
            <a:r>
              <a:rPr lang="de-DE" sz="2000" dirty="0"/>
              <a:t> </a:t>
            </a:r>
            <a:r>
              <a:rPr lang="de-DE" sz="2000" dirty="0" err="1"/>
              <a:t>generation</a:t>
            </a:r>
            <a:r>
              <a:rPr lang="de-DE" sz="2000" dirty="0"/>
              <a:t> </a:t>
            </a:r>
            <a:r>
              <a:rPr lang="de-DE" sz="2000" dirty="0" err="1"/>
              <a:t>depends</a:t>
            </a:r>
            <a:r>
              <a:rPr lang="de-DE" sz="2000" dirty="0"/>
              <a:t> </a:t>
            </a:r>
            <a:r>
              <a:rPr lang="de-DE" sz="2000" dirty="0" err="1"/>
              <a:t>strongly</a:t>
            </a:r>
            <a:r>
              <a:rPr lang="de-DE" sz="2000" dirty="0"/>
              <a:t> on </a:t>
            </a:r>
            <a:r>
              <a:rPr lang="de-DE" sz="2000" dirty="0" err="1"/>
              <a:t>natural</a:t>
            </a:r>
            <a:r>
              <a:rPr lang="de-DE" sz="2000" dirty="0"/>
              <a:t> </a:t>
            </a:r>
            <a:r>
              <a:rPr lang="de-DE" sz="2000" dirty="0" err="1"/>
              <a:t>conditions</a:t>
            </a:r>
            <a:endParaRPr lang="de-DE" sz="2000" dirty="0"/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8D99E49B-785D-F7B3-0B4E-011BEBCEC319}"/>
              </a:ext>
            </a:extLst>
          </p:cNvPr>
          <p:cNvSpPr txBox="1">
            <a:spLocks/>
          </p:cNvSpPr>
          <p:nvPr/>
        </p:nvSpPr>
        <p:spPr>
          <a:xfrm>
            <a:off x="-2493879" y="1243090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>
                <a:hlinkClick r:id="rId4" action="ppaction://hlinkfile"/>
              </a:rPr>
              <a:t>Website</a:t>
            </a:r>
            <a:endParaRPr lang="de-DE" dirty="0"/>
          </a:p>
        </p:txBody>
      </p:sp>
      <p:sp>
        <p:nvSpPr>
          <p:cNvPr id="16" name="Titel 1">
            <a:extLst>
              <a:ext uri="{FF2B5EF4-FFF2-40B4-BE49-F238E27FC236}">
                <a16:creationId xmlns:a16="http://schemas.microsoft.com/office/drawing/2014/main" id="{55C38AAB-B0E7-D546-E772-66C4ABCC930E}"/>
              </a:ext>
            </a:extLst>
          </p:cNvPr>
          <p:cNvSpPr txBox="1">
            <a:spLocks/>
          </p:cNvSpPr>
          <p:nvPr/>
        </p:nvSpPr>
        <p:spPr>
          <a:xfrm>
            <a:off x="40051" y="-2417510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/>
              <a:t>Major </a:t>
            </a:r>
            <a:r>
              <a:rPr lang="de-DE" dirty="0" err="1"/>
              <a:t>problems</a:t>
            </a:r>
            <a:r>
              <a:rPr lang="de-DE" dirty="0"/>
              <a:t> </a:t>
            </a:r>
            <a:r>
              <a:rPr lang="de-DE" dirty="0" err="1"/>
              <a:t>during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project</a:t>
            </a:r>
            <a:endParaRPr lang="de-DE" dirty="0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D721645E-4CBF-57F6-6498-2B70F691A959}"/>
              </a:ext>
            </a:extLst>
          </p:cNvPr>
          <p:cNvSpPr txBox="1"/>
          <p:nvPr/>
        </p:nvSpPr>
        <p:spPr>
          <a:xfrm>
            <a:off x="-8005582" y="1812614"/>
            <a:ext cx="1193593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Data </a:t>
            </a:r>
            <a:r>
              <a:rPr lang="de-DE" sz="2000" dirty="0" err="1"/>
              <a:t>inconsistencies</a:t>
            </a:r>
            <a:r>
              <a:rPr lang="de-DE" sz="2000" dirty="0"/>
              <a:t> </a:t>
            </a:r>
            <a:r>
              <a:rPr lang="de-DE" sz="2000" dirty="0" err="1"/>
              <a:t>between</a:t>
            </a:r>
            <a:r>
              <a:rPr lang="de-DE" sz="2000" dirty="0"/>
              <a:t> </a:t>
            </a:r>
            <a:r>
              <a:rPr lang="de-DE" sz="2000" dirty="0" err="1"/>
              <a:t>sources</a:t>
            </a:r>
            <a:endParaRPr lang="de-DE" sz="2000" dirty="0"/>
          </a:p>
          <a:p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/>
              <a:t>Unexpectedly</a:t>
            </a:r>
            <a:r>
              <a:rPr lang="de-DE" sz="2000" dirty="0"/>
              <a:t> high </a:t>
            </a:r>
            <a:r>
              <a:rPr lang="de-DE" sz="2000" dirty="0" err="1"/>
              <a:t>consumption</a:t>
            </a:r>
            <a:r>
              <a:rPr lang="de-DE" sz="2000" dirty="0"/>
              <a:t> </a:t>
            </a:r>
            <a:r>
              <a:rPr lang="de-DE" sz="2000" dirty="0" err="1"/>
              <a:t>values</a:t>
            </a:r>
            <a:r>
              <a:rPr lang="de-DE" sz="2000" dirty="0"/>
              <a:t> </a:t>
            </a:r>
            <a:r>
              <a:rPr lang="de-DE" sz="2000" dirty="0" err="1"/>
              <a:t>during</a:t>
            </a:r>
            <a:r>
              <a:rPr lang="de-DE" sz="2000" dirty="0"/>
              <a:t> </a:t>
            </a:r>
            <a:r>
              <a:rPr lang="de-DE" sz="2000" dirty="0" err="1"/>
              <a:t>data</a:t>
            </a:r>
            <a:r>
              <a:rPr lang="de-DE" sz="2000" dirty="0"/>
              <a:t> </a:t>
            </a:r>
            <a:r>
              <a:rPr lang="de-DE" sz="2000" dirty="0" err="1"/>
              <a:t>validation</a:t>
            </a: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429 rate </a:t>
            </a:r>
            <a:r>
              <a:rPr lang="de-DE" sz="2000" dirty="0" err="1"/>
              <a:t>limit</a:t>
            </a:r>
            <a:r>
              <a:rPr lang="de-DE" sz="2000" dirty="0"/>
              <a:t> </a:t>
            </a:r>
            <a:r>
              <a:rPr lang="de-DE" sz="2000" dirty="0" err="1"/>
              <a:t>during</a:t>
            </a:r>
            <a:r>
              <a:rPr lang="de-DE" sz="2000" dirty="0"/>
              <a:t> API </a:t>
            </a:r>
            <a:r>
              <a:rPr lang="de-DE" sz="2000" dirty="0" err="1"/>
              <a:t>data</a:t>
            </a:r>
            <a:r>
              <a:rPr lang="de-DE" sz="2000" dirty="0"/>
              <a:t> </a:t>
            </a:r>
            <a:r>
              <a:rPr lang="de-DE" sz="2000" dirty="0" err="1"/>
              <a:t>collection</a:t>
            </a:r>
            <a:r>
              <a:rPr lang="de-DE" sz="2000" dirty="0"/>
              <a:t> (</a:t>
            </a:r>
            <a:r>
              <a:rPr lang="de-DE" sz="2000" dirty="0" err="1"/>
              <a:t>to</a:t>
            </a:r>
            <a:r>
              <a:rPr lang="de-DE" sz="2000" dirty="0"/>
              <a:t> </a:t>
            </a:r>
            <a:r>
              <a:rPr lang="de-DE" sz="2000" dirty="0" err="1"/>
              <a:t>many</a:t>
            </a:r>
            <a:r>
              <a:rPr lang="de-DE" sz="2000" dirty="0"/>
              <a:t> </a:t>
            </a:r>
            <a:r>
              <a:rPr lang="de-DE" sz="2000" dirty="0" err="1"/>
              <a:t>requests</a:t>
            </a:r>
            <a:r>
              <a:rPr lang="de-DE" sz="20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Challenges in </a:t>
            </a:r>
            <a:r>
              <a:rPr lang="de-DE" sz="2000" dirty="0" err="1"/>
              <a:t>embedding</a:t>
            </a:r>
            <a:r>
              <a:rPr lang="de-DE" sz="2000" dirty="0"/>
              <a:t> an </a:t>
            </a:r>
            <a:r>
              <a:rPr lang="de-DE" sz="2000" dirty="0" err="1"/>
              <a:t>interactive</a:t>
            </a:r>
            <a:r>
              <a:rPr lang="de-DE" sz="2000" dirty="0"/>
              <a:t> </a:t>
            </a:r>
            <a:r>
              <a:rPr lang="de-DE" sz="2000" dirty="0" err="1"/>
              <a:t>graph</a:t>
            </a:r>
            <a:r>
              <a:rPr lang="de-DE" sz="2000" dirty="0"/>
              <a:t> in HTML</a:t>
            </a:r>
          </a:p>
        </p:txBody>
      </p:sp>
      <p:pic>
        <p:nvPicPr>
          <p:cNvPr id="4100" name="Picture 4" descr="Win XP Error Mavi Ekran Hatası - Google Play'de Uygulamalar">
            <a:extLst>
              <a:ext uri="{FF2B5EF4-FFF2-40B4-BE49-F238E27FC236}">
                <a16:creationId xmlns:a16="http://schemas.microsoft.com/office/drawing/2014/main" id="{EDE61336-B7B6-3E74-D49E-00E0358659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2676" y="6622903"/>
            <a:ext cx="2298239" cy="2298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itel 1">
            <a:extLst>
              <a:ext uri="{FF2B5EF4-FFF2-40B4-BE49-F238E27FC236}">
                <a16:creationId xmlns:a16="http://schemas.microsoft.com/office/drawing/2014/main" id="{853B323C-DF14-0C56-E5ED-69942B2E4BDE}"/>
              </a:ext>
            </a:extLst>
          </p:cNvPr>
          <p:cNvSpPr txBox="1">
            <a:spLocks/>
          </p:cNvSpPr>
          <p:nvPr/>
        </p:nvSpPr>
        <p:spPr>
          <a:xfrm>
            <a:off x="149914" y="-1384457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/>
              <a:t>END</a:t>
            </a:r>
          </a:p>
        </p:txBody>
      </p:sp>
      <p:sp>
        <p:nvSpPr>
          <p:cNvPr id="20" name="Titel 1">
            <a:extLst>
              <a:ext uri="{FF2B5EF4-FFF2-40B4-BE49-F238E27FC236}">
                <a16:creationId xmlns:a16="http://schemas.microsoft.com/office/drawing/2014/main" id="{4AED69A0-6411-3982-626C-15863D4CFFA8}"/>
              </a:ext>
            </a:extLst>
          </p:cNvPr>
          <p:cNvSpPr txBox="1">
            <a:spLocks/>
          </p:cNvSpPr>
          <p:nvPr/>
        </p:nvSpPr>
        <p:spPr>
          <a:xfrm>
            <a:off x="4264910" y="1649129"/>
            <a:ext cx="8449718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dirty="0"/>
              <a:t>Questions?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9EBB6F63-84BC-9A80-1D35-ECB89499EF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5458" y="3890201"/>
            <a:ext cx="22860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6890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4BB8DF3-AF00-4730-BBCA-6178B4027581}">
  <we:reference id="wa104380862" version="3.0.0.0" store="de-DE" storeType="OMEX"/>
  <we:alternateReferences>
    <we:reference id="WA104380862" version="3.0.0.0" store="WA104380862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2878</Words>
  <Application>Microsoft Office PowerPoint</Application>
  <PresentationFormat>Breitbild</PresentationFormat>
  <Paragraphs>517</Paragraphs>
  <Slides>14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17" baseType="lpstr">
      <vt:lpstr>Arial</vt:lpstr>
      <vt:lpstr>Neue Haas Grotesk Text Pro</vt:lpstr>
      <vt:lpstr>VanillaVTI</vt:lpstr>
      <vt:lpstr>Data Science Project</vt:lpstr>
      <vt:lpstr>Data Science Project</vt:lpstr>
      <vt:lpstr>Data Science Project</vt:lpstr>
      <vt:lpstr>Data Science Project</vt:lpstr>
      <vt:lpstr>Data Science Project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marcel kawski</dc:creator>
  <cp:lastModifiedBy>marcel kawski</cp:lastModifiedBy>
  <cp:revision>2</cp:revision>
  <dcterms:created xsi:type="dcterms:W3CDTF">2026-03-13T19:02:38Z</dcterms:created>
  <dcterms:modified xsi:type="dcterms:W3CDTF">2026-03-16T18:51:11Z</dcterms:modified>
</cp:coreProperties>
</file>